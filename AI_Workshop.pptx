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[13:00 – 1 นาที]</a:t>
            </a:r>
          </a:p>
          <a:p>
            <a:r>
              <a:t>สวัสดีค่ะทุกคน ยินดีต้อนรับสู่ Workshop "AI ผู้ช่วยส่วนตัว" ค่ะ ชื่อนุ้ยนะคะ วันนี้เรามีเวลาด้วยกัน 90 นาที (13:00–14:30 น.)</a:t>
            </a:r>
          </a:p>
          <a:p>
            <a:r>
              <a:t>- 30 นาทีแรก: รู้จัก AI 4 ตัวที่คนใช้กันเยอะ ว่าแต่ละตัวเหมาะกับอะไร</a:t>
            </a:r>
          </a:p>
          <a:p>
            <a:r>
              <a:t>- 60 นาทีหลัง: ลงมือสร้าง "Agent" หรือผู้ช่วย AI ส่วนตัวของแต่ละคนจริงๆ</a:t>
            </a:r>
          </a:p>
          <a:p>
            <a:r>
              <a:t>ระหว่างนี้ขอให้ทุกคนเปิดโน้ตบุ๊กหรือมือถือ ต่อ Wi-Fi ไว้ก่อนนะคะ (บอกชื่อ/รหัส Wi-Fi ของร้าน)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[13:01 – 2 นาที]</a:t>
            </a:r>
          </a:p>
          <a:p>
            <a:r>
              <a:t>แนะนำตัวสั้นๆ:</a:t>
            </a:r>
          </a:p>
          <a:p>
            <a:r>
              <a:t>- Pawinee Amonnuntarat (นุ้ย) ทำงานด้าน IT และ IT Consulting มากว่า 20 ปี — เคย implement แพลตฟอร์มบล็อกเชนให้บริษัทฟินเทค และโครงการ IT ขนาดใหญ่ที่ธนาคารชั้นนำของไทย</a:t>
            </a:r>
          </a:p>
          <a:p>
            <a:r>
              <a:t>- จบวิศวกรรมสารสนเทศ สจล. และ MBA จุฬาฯ</a:t>
            </a:r>
          </a:p>
          <a:p>
            <a:r>
              <a:t>- ใช้ AI จริงทั้งในงาน (Microsoft Copilot, Cursor) และชีวิตส่วนตัว (ChatGPT, Claude, Gemini, Grok Bot)</a:t>
            </a:r>
          </a:p>
          <a:p>
            <a:r>
              <a:t>- เล่าเรื่องจริง 1 เรื่องที่ AI ช่วยชีวิตประจำวันได้ เช่น วางแผนทริป จัดเมนูอาหาร สรุปเอกสาร</a:t>
            </a:r>
          </a:p>
          <a:p>
            <a:r>
              <a:t>- เน้นว่าวันนี้ไม่ต้องมีพื้นฐานเทคนิค ใครเคยใช้แค่ Copilot ที่ออฟฟิศก็ตามทันแน่นอน</a:t>
            </a:r>
          </a:p>
          <a:p>
            <a:r>
              <a:t>- ถามห้องสั้นๆ: "ใครเคยใช้ ChatGPT ยกมือหน่อยค่ะ / Gemini / Claude / Grok?" เพื่อดูพื้นฐานผู้ฟัง</a:t>
            </a:r>
          </a:p>
          <a:p>
            <a:r>
              <a:t>ปิดด้วยเป้าหมาย: กลับบ้านพร้อมผู้ช่วย AI 1 ตัวที่ใช้ได้จริง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[13:03 – 1 นาที]</a:t>
            </a:r>
          </a:p>
          <a:p>
            <a:r>
              <a:t>ภาพรวมวันนี้มี 2 ส่วนหลัก</a:t>
            </a:r>
          </a:p>
          <a:p>
            <a:r>
              <a:t>- Part 1 (30 นาทีรวมช่วงต้อนรับ): รู้จักเครื่องมือ เลือกใช้ให้ถูกงาน เขียน prompt ให้ได้ผล และใช้อย่างปลอดภัย</a:t>
            </a:r>
          </a:p>
          <a:p>
            <a:r>
              <a:t>- Part 2 (60 นาที): ลงมือสร้าง Agent ส่วนตัวบน Grok Bot — ผู้จัดเตรียม Core Prompt ไว้ให้ ทุกคนแค่เติมช่องว่างให้เป็นของตัวเอง (ใครไม่มีแพ็กเกจ Grok Bot ใช้ ChatGPT Projects ฟรี เป็นแผนสำรอง)</a:t>
            </a:r>
          </a:p>
          <a:p>
            <a:r>
              <a:t>- ช่วงเวลาเท่าเดิม แต่ hands-on แบ่งเป็น 4 ช่วง: เติม prompt / สร้าง Bot / เชื่อมแอปหรือตั้ง routine / ทดสอบ</a:t>
            </a:r>
          </a:p>
          <a:p>
            <a:r>
              <a:t>- 14:15–14:30: ทดสอบ แชร์ และ Q&amp;A สั้นๆ (~5 นาที) แล้วจบตรงเวลา 14:30 — ไม่มีช่วง buffer หลังจากนี้ คำถามที่เหลือให้ติดต่อทางช่องทางในสไลด์สุดท้าย</a:t>
            </a:r>
          </a:p>
          <a:p>
            <a:r>
              <a:t>บอกผู้ฟังว่า ถ้าติดตรงไหนระหว่าง hands-on ยกมือได้เลย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[13:04 – 1 นาที · ส่งข้อความนี้ให้ผู้จัดแจ้งผู้เข้าร่วมล่วงหน้า 3–5 วัน]</a:t>
            </a:r>
          </a:p>
          <a:p>
            <a:r>
              <a:t>วันนี้ใช้ 2 แพลตฟอร์มหลัก: Grok Bot (สร้าง Agent ใน Part 2) และ ChatGPT (ตัวอย่างใน Part 1 + แผนสำรองฟรี) — Claude และ Gemini เป็นทางเลือก ใครมีอยู่แล้วลองเทียบได้ ไม่ต้องติดตั้งก็ตามทัน</a:t>
            </a:r>
          </a:p>
          <a:p>
            <a:r>
              <a:t>1) ต่อ Wi-Fi ร้าน</a:t>
            </a:r>
          </a:p>
          <a:p>
            <a:r>
              <a:t>2) Grok Bot: ติดตั้งจาก x.ai/bot (macOS / Windows / Linux) หรือแอปมือถือ iOS (App Store) / Android (Google Play) — docs ระบุ iOS 18+ และ Android 9+ แต่การตั้ง routine แบบแก้ไข/ทดสอบต้องใช้แอปเดสก์ท็อป จึงแนะนำโน้ตบุ๊ก</a:t>
            </a:r>
          </a:p>
          <a:p>
            <a:r>
              <a:t>   - Sign in ด้วยบัญชี Cursor ผ่านเบราว์เซอร์ (ปุ่ม Sign in บนเดสก์ท็อป / Log In or Sign Up บนมือถือ)</a:t>
            </a:r>
          </a:p>
          <a:p>
            <a:r>
              <a:t>   - ต้องมีสิทธิ์ใช้งาน: Cursor Pro, Pro+, Ultra หรือ Teams — หรือเชื่อม SuperGrok / SuperGrok Plus / SuperGrok Heavy / X Premium+ แบบบุคคล (SuperGrok Lite, Team, Enterprise ใช้ไม่ได้) — ระวัง: การเชื่อม SuperGrok กับบัญชี Cursor ยกเลิก/ย้ายไม่ได้</a:t>
            </a:r>
          </a:p>
          <a:p>
            <a:r>
              <a:t>   - ทำขั้นตอนแนะนำครั้งแรกให้จบ (แอปจะตั้งค่าคอมพิวเตอร์บนคลาวด์ในเบื้องหลัง แล้วเปิดหน้า Meet a future teammate)</a:t>
            </a:r>
          </a:p>
          <a:p>
            <a:r>
              <a:t>3) ChatGPT: Sign in ที่ chatgpt.com (บัญชีฟรีพอ) · แอปเดสก์ท็อป/มือถือที่ chatgpt.com/download — ใครไม่มีแพ็กเกจ Grok Bot ให้ทำตามแผนสำรอง ChatGPT Projects</a:t>
            </a:r>
          </a:p>
          <a:p>
            <a:r>
              <a:t>4) ทางเลือก: Claude — claude.ai (แอป: claude.ai/download ซึ่ง redirect ไป claude.com/download) · Gemini — gemini.google.com (มือถือ: แอป Gemini ใน App Store / Google Play)</a:t>
            </a:r>
          </a:p>
          <a:p>
            <a:r>
              <a:t>ย้ำ: ทำให้เสร็จก่อนวันงาน และใช้บัญชีส่วนตัว ไม่ใช่บัญชีบริษัท</a:t>
            </a:r>
          </a:p>
          <a:p>
            <a:r>
              <a:t>หมายเหตุ: หน้า Plans and billing ของ Cursor ระบุว่ามี Free trial แบบเครดิตใช้งาน (มีกรอบ 7 วัน งานใหญ่อาจใช้เครดิตหมดในครั้งเดียว) — ควรเช็กอีกครั้งว่าบัญชีใหม่ในไทยได้สิทธิ์ไหม ถ้าได้ ให้เริ่ม trial ใกล้วันงาน ไม่ใช่ล่วงหน้าเกิน 7 วัน</a:t>
            </a:r>
          </a:p>
          <a:p>
            <a:r>
              <a:t>ราคาแพ็กเกจเป็นบาท — ควรเช็กอีกครั้ง</a:t>
            </a:r>
          </a:p>
          <a:p>
            <a:r>
              <a:t>ลิงก์ตรวจแล้ว 3 ต.ค. 2026: x.ai/bot, chatgpt.com, chatgpt.com/download, claude.ai/download, gemini.google.com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[13:05 – 4 นาที]</a:t>
            </a:r>
          </a:p>
          <a:p>
            <a:r>
              <a:t>อธิบายแบบไม่ใช้ศัพท์เทคนิค</a:t>
            </a:r>
          </a:p>
          <a:p>
            <a:r>
              <a:t>- AI ย่อมาจาก Artificial Intelligence หรือ “ปัญญาประดิษฐ์” คือโปรแกรมคอมพิวเตอร์ที่เรียนรู้จากข้อมูลจำนวนมหาศาล เพื่อทำงานที่ปกติต้องใช้ความคิดแบบคน เช่น เข้าใจภาษา ตอบคำถาม เขียน สรุปเอกสาร จดจำภาพ และช่วยวางแผน</a:t>
            </a:r>
          </a:p>
          <a:p>
            <a:r>
              <a:t>- ChatGPT, Claude, Gemini และ Grok Bot ที่เราจะใช้วันนี้ เป็น AI กลุ่ม Large Language Model (LLM) หรือ “โมเดลภาษา” — ฝึกจากข้อความมหาศาล เหมือนคนที่อ่านหนังสือทั้งห้องสมุด จนเดาได้ว่าคำตอบแบบไหนเหมาะกับคำถามนี้</a:t>
            </a:r>
          </a:p>
          <a:p>
            <a:r>
              <a:t>- เราสั่งงานด้วยภาษาพูดได้เลย ภาษาไทยก็ได้</a:t>
            </a:r>
          </a:p>
          <a:p>
            <a:r>
              <a:t>- ข้อควรรู้: มันไม่ได้ “รู้” หรือ “เข้าใจ” จริงแบบคน — ตอบผิดได้แบบมั่นใจมาก (เรียกว่า hallucination) โดยเฉพาะตัวเลข ชื่อ วันที่ เรื่องสุขภาพ การเงิน กฎหมาย ต้องตรวจซ้ำทุกครั้ง</a:t>
            </a:r>
          </a:p>
          <a:p>
            <a:r>
              <a:t>ปิดด้วยอุปมา: AI = เด็กฝึกงานเก่งมากแต่ยังไม่รู้จักเรา → ถ้าเราสอน/บอกบริบทดี ผลงานจะดีขึ้นมาก นี่คือสิ่งที่เราจะทำใน Part 2</a:t>
            </a:r>
          </a:p>
          <a:p>
            <a:r>
              <a:t>ถามผู้ฟัง: เคยเจอ AI ตอบมั่วไหมคะ? (รับ 1 เรื่องสั้นๆ — ถ้าเวลาไม่พอ ข้ามได้ เพื่อให้ยังอยู่ใน 4 นาที)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[13:09 – 3.5 นาที]</a:t>
            </a:r>
          </a:p>
          <a:p>
            <a:r>
              <a:t>ChatGPT จาก OpenAI — ตัวที่คนรู้จักกว้างที่สุด เหมือน "มีดพับสวิส" ทำได้เกือบทุกอย่าง</a:t>
            </a:r>
          </a:p>
          <a:p>
            <a:r>
              <a:t>- จุดเด่น: ใช้งานทั่วไป เขียน/สรุป/แปล คุยด้วยเสียง ถ่ายรูปถาม สร้างภาพ วิเคราะห์ไฟล์</a:t>
            </a:r>
          </a:p>
          <a:p>
            <a:r>
              <a:t>- เน้นฟีเจอร์ Projects: เก็บคำสั่งประจำ + ไฟล์ + แชต ไว้ในที่เดียว — ใช้ได้ในแพ็กเกจฟรี — เป็นแผนสำรองใน Part 2 สำหรับคนที่ไม่มีแพ็กเกจ Grok Bot</a:t>
            </a:r>
          </a:p>
          <a:p>
            <a:r>
              <a:t>- อ่านตัวอย่าง prompt 1 อัน แล้วชี้ว่ามี "บริบท" ครบ: กี่คน งบเท่าไร ข้อจำกัดอะไร</a:t>
            </a:r>
          </a:p>
          <a:p>
            <a:r>
              <a:t>- แพ็กเกจ: Free / Go / Plus / Pro (ราคาเป็นบาทให้เช็กหน้า chatgpt.com/pricing ก่อนวันงาน — ควรเช็กอีกครั้ง)</a:t>
            </a:r>
          </a:p>
          <a:p>
            <a:r>
              <a:t>- ข้อมูลสำคัญ: ตอนนี้ "สร้าง Custom GPT ใหม่" ไม่ได้แล้วบนบัญชีส่วนตัว (Free/Go/Plus/Pro) ตาม OpenAI Help Center — ใช้ GPT ของคนอื่นได้ แต่สร้างเองต้องเป็น Business/Enterprise/Edu</a:t>
            </a:r>
          </a:p>
          <a:p>
            <a:r>
              <a:t>(ถ้ามีเวลา demo สด: พิมพ์ prompt แรกให้ดู)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[13:12 – 3.5 นาที]</a:t>
            </a:r>
          </a:p>
          <a:p>
            <a:r>
              <a:t>Claude จาก Anthropic — หลายคนชอบใช้เขียนงาน เพราะภาษาออกมาเป็นธรรมชาติ</a:t>
            </a:r>
          </a:p>
          <a:p>
            <a:r>
              <a:t>- จุดเด่น: งานเขียน เกลาภาษา อ่านเอกสารยาวๆ เช่น สัญญา รายงาน แล้วสรุปให้</a:t>
            </a:r>
          </a:p>
          <a:p>
            <a:r>
              <a:t>- มี Projects เหมือนกัน และใช้ได้ในแพ็กเกจฟรี (สูงสุด 5 Projects ตาม Claude Help Center)</a:t>
            </a:r>
          </a:p>
          <a:p>
            <a:r>
              <a:t>- ข้อจำกัดของฟรี: มีลิมิตการใช้งานต่อช่วงเวลา ถ้าใช้หนักอาจต้องรอ</a:t>
            </a:r>
          </a:p>
          <a:p>
            <a:r>
              <a:t>- ราคา (จากหน้า claude.ai): Pro US$17/เดือนถ้าจ่ายรายปี หรือ $20 รายเดือน, Max เริ่ม $100/เดือน — ราคาไทย/ภาษี ควรเช็กอีกครั้ง</a:t>
            </a:r>
          </a:p>
          <a:p>
            <a:r>
              <a:t>ตัวอย่างชีวิตจริง: ก่อนเซ็นสัญญาเช่า ให้ Claude สรุปข้อควรระวัง (แต่เรื่องกฎหมายสำคัญ ยังควรถามผู้เชี่ยวชาญ)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[13:16 – 3.5 นาที]</a:t>
            </a:r>
          </a:p>
          <a:p>
            <a:r>
              <a:t>Gemini จาก Google — เหมาะมากสำหรับคนที่ชีวิตอยู่ในโลก Google อยู่แล้ว ใครใช้ Android หรือ Gmail ก็มีบัญชีพร้อมใช้</a:t>
            </a:r>
          </a:p>
          <a:p>
            <a:r>
              <a:t>- จุดเด่น: เชื่อมกับบริการ Google, ค้นข้อมูลล่าสุด, Gemini Live คุยด้วยเสียง/กล้อง</a:t>
            </a:r>
          </a:p>
          <a:p>
            <a:r>
              <a:t>- อัปเดตสำคัญ (Google ประกาศ 30 ก.ย. 2026): "Skills" มาแทน "Gems" — สร้างได้ฟรีโดยไม่ต้องสมัครแพ็กเกจ แต่ต้องอายุ 18+ และเปิด Keep Activity</a:t>
            </a:r>
          </a:p>
          <a:p>
            <a:r>
              <a:t>- Gems ของบัญชีส่วนตัวจะเริ่มถูกปิดและย้ายเป็น Skills อัตโนมัติในเดือน พ.ย. (TechCrunch รายงานวันที่ 17 พ.ย. 2026 — ควรเช็กอีกครั้งใกล้วันงาน) เพราะช่วงนี้กำลังเปลี่ยนระบบ Gemini จึงเป็นแผนสำรองลำดับถัดไปใน Part 2</a:t>
            </a:r>
          </a:p>
          <a:p>
            <a:r>
              <a:t>- แพ็กเกจจ่ายเงิน: Google AI Plus / Pro / Ultra (ราคาบาท ควรเช็กอีกครั้ง)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[13:19 – 3.5 นาที · สไลด์นี้ปูทางสู่ Part 2]</a:t>
            </a:r>
          </a:p>
          <a:p>
            <a:r>
              <a:t>Grok จาก xAI — แยกให้ผู้ฟังเห็น 2 อย่าง</a:t>
            </a:r>
          </a:p>
          <a:p>
            <a:r>
              <a:t>1) Grok (grok.com และแอป iOS/Android) = แชตบอท ลองใช้ฟรี เด่นเรื่องข้อมูลสดจากเว็บและ X, สร้างภาพ/วิดีโอด้วย Grok Imagine</a:t>
            </a:r>
          </a:p>
          <a:p>
            <a:r>
              <a:t>2) Grok Bot = แอป "เพื่อนร่วมทีม AI" ที่นุ้ยใช้เอง และเป็นแพลตฟอร์มหลักของ Part 2</a:t>
            </a:r>
          </a:p>
          <a:p>
            <a:r>
              <a:t>   - แต่ละ Bot มีชื่อ งาน และ Description ของตัวเอง จำความชอบและสรุปงานได้ข้ามบทสนทนา</a:t>
            </a:r>
          </a:p>
          <a:p>
            <a:r>
              <a:t>   - ทำงานบนคอมพิวเตอร์คลาวด์ (เบราว์เซอร์ ไฟล์ terminal) งานไม่หยุดแม้ปิดแอป/โน้ตบุ๊ก</a:t>
            </a:r>
          </a:p>
          <a:p>
            <a:r>
              <a:t>   - เชื่อมแอปผ่าน connector จาก Marketplace และตั้ง routine ให้ทำงานตามเวลาได้</a:t>
            </a:r>
          </a:p>
          <a:p>
            <a:r>
              <a:t>   - งานสำคัญ เช่น ส่งอีเมล ซื้อของ จะหยุดรอให้เราอนุมัติ</a:t>
            </a:r>
          </a:p>
          <a:p>
            <a:r>
              <a:t>- ใช้ได้บน macOS, Windows, Linux และแอป iOS / Android (ตาม docs.x.ai/grok-bot ต.ค. 2026)</a:t>
            </a:r>
          </a:p>
          <a:p>
            <a:r>
              <a:t>- ไม่ฟรี: รวมอยู่ใน Cursor Pro / Pro+ / Ultra / Teams หรือเชื่อม SuperGrok / SuperGrok Plus / SuperGrok Heavy / X Premium+ แบบบุคคล (หน้า Plans and billing ของ Cursor)</a:t>
            </a:r>
          </a:p>
          <a:p>
            <a:r>
              <a:t>- มี free trial แบบเครดิตใช้งาน + กรอบ 7 วัน — สิทธิ์ในไทยและราคาเป็นบาท ควรเช็กอีกครั้ง</a:t>
            </a:r>
          </a:p>
          <a:p>
            <a:r>
              <a:t>- ลิมิตของ Grok แชตฟรี ควรเช็กอีกครั้ง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[13:23 – 3 นาที]</a:t>
            </a:r>
          </a:p>
          <a:p>
            <a:r>
              <a:t>สรุปง่ายๆ ให้ผู้ฟังจำ:</a:t>
            </a:r>
          </a:p>
          <a:p>
            <a:r>
              <a:t>- อยากได้ตัวเดียวใช้ทุกอย่าง → ChatGPT</a:t>
            </a:r>
          </a:p>
          <a:p>
            <a:r>
              <a:t>- งานเขียน/อ่านเอกสารยาว → Claude</a:t>
            </a:r>
          </a:p>
          <a:p>
            <a:r>
              <a:t>- ชีวิตอยู่ใน Google อยู่แล้ว → Gemini</a:t>
            </a:r>
          </a:p>
          <a:p>
            <a:r>
              <a:t>- อยากได้ข่าวสด หรืออยากให้ AI "ลงมือทำงาน" แทน → Grok / Grok Bot</a:t>
            </a:r>
          </a:p>
          <a:p>
            <a:r>
              <a:t>คอลัมน์ขวาสุดคือสิ่งที่เราจะทำใน Part 2: ทุกตัวมีทางสร้างผู้ช่วยส่วนตัว — วันนี้เราสร้างบน Grok Bot (★) เพราะเป็น Agent ที่ลงมือทำงาน จำได้ เชื่อมแอป และตั้งเวลาได้ ส่วนคนที่ไม่มีแพ็กเกจใช้ ChatGPT Projects (ฟรี) เป็นแผนสำรอง</a:t>
            </a:r>
          </a:p>
          <a:p>
            <a:r>
              <a:t>แพ็กเกจ Grok Bot เต็มรายการ: Cursor Pro / Pro+ / Ultra / Teams หรือเชื่อม SuperGrok / Plus / Heavy / X Premium+ (ในตารางย่อไว้)</a:t>
            </a:r>
          </a:p>
          <a:p>
            <a:r>
              <a:t>เน้น: ตัวอื่นเริ่มฟรีได้ ลองให้คุ้นก่อน แล้วค่อยจ่ายเฉพาะตัวที่ใช้บ่อยที่สุด</a:t>
            </a:r>
          </a:p>
          <a:p>
            <a:r>
              <a:t>(ควรเช็กอีกครั้ง: ราคาและลิมิตแพ็กเกจฟรีของทุกเจ้า ใกล้วันงาน)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[13:26 – 3 นาที]</a:t>
            </a:r>
          </a:p>
          <a:p>
            <a:r>
              <a:t>สูตรง่ายที่สุด R-C-T-F</a:t>
            </a:r>
          </a:p>
          <a:p>
            <a:r>
              <a:t>- Role: ให้ AI สวมบทบาท เช่น นักโภชนาการ ไกด์ทัวร์ โค้ชการเงิน</a:t>
            </a:r>
          </a:p>
          <a:p>
            <a:r>
              <a:t>- Context: บอกว่าเราเป็นใคร มีข้อจำกัดอะไร (ยิ่งชัดยิ่งดี)</a:t>
            </a:r>
          </a:p>
          <a:p>
            <a:r>
              <a:t>- Task: งานที่อยากได้ ชัดเจน วัดผลได้</a:t>
            </a:r>
          </a:p>
          <a:p>
            <a:r>
              <a:t>- Format: รูปแบบคำตอบ ตาราง bullet ความยาว ภาษา</a:t>
            </a:r>
          </a:p>
          <a:p>
            <a:r>
              <a:t>เทคนิคเสริม: บอกว่า "ถ้าข้อมูลไม่พอ ให้ถามฉันก่อน" และบอกสิ่งที่ห้ามทำ</a:t>
            </a:r>
          </a:p>
          <a:p>
            <a:r>
              <a:t>ชี้ตัวอย่างก่อน/หลัง: ประโยคเดียวกัน แต่ใส่บริบทแล้วผลลัพธ์ต่างกันมาก</a:t>
            </a:r>
          </a:p>
          <a:p>
            <a:r>
              <a:t>เชื่อมไป Part 2: Core Prompt ที่ผู้จัดเตรียมไว้ ก็คือสูตรนี้แบบละเอียด ที่ "บันทึกไว้ใช้ซ้ำ" นั่นเอง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[13:29 – 1–2 นาที (ถ้าเกินเวลาเล็กน้อย ให้ตัดตัวอย่างใน Part 1)]</a:t>
            </a:r>
          </a:p>
          <a:p>
            <a:r>
              <a:t>- ห้ามใส่ข้อมูลระบุตัวตนและข้อมูลการเงินทุกชนิด รวมถึงข้อมูลบริษัท — Copilot ที่ออฟฟิศมีการตั้งค่าความปลอดภัยแบบองค์กร แต่บัญชีส่วนตัวไม่ใช่</a:t>
            </a:r>
          </a:p>
          <a:p>
            <a:r>
              <a:t>- เข้า Settings ของแต่ละแอป ดูตัวเลือกเรื่องการใช้ข้อมูลเพื่อพัฒนาโมเดล (ชื่อเมนูแต่ละเจ้าไม่เหมือนกัน — ควรเช็กอีกครั้งก่อนวันงาน)</a:t>
            </a:r>
          </a:p>
          <a:p>
            <a:r>
              <a:t>- AI ผิดได้ เรื่องเงิน สุขภาพ กฎหมาย ต้องตรวจซ้ำเสมอ</a:t>
            </a:r>
          </a:p>
          <a:p>
            <a:r>
              <a:t>- Agent ที่ทำงานแทนได้ ต้องตั้งให้ขออนุมัติก่อนทำสิ่งที่ย้อนกลับไม่ได้</a:t>
            </a:r>
          </a:p>
          <a:p>
            <a:r>
              <a:t>- Gemini Skills กำหนดให้เปิด Keep Activity (ตาม Gemini Apps Help)</a:t>
            </a:r>
          </a:p>
          <a:p>
            <a:r>
              <a:t>กฎจำง่าย: ถ้าไม่กล้าโพสต์ลงกลุ่มไลน์ครอบครัว ก็อย่าพิมพ์ใส่ AI</a:t>
            </a:r>
          </a:p>
          <a:p>
            <a:r>
              <a:t>→ เปลี่ยนเข้าสู่ Part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[13:30 – 30 วินาที]</a:t>
            </a:r>
          </a:p>
          <a:p>
            <a:r>
              <a:t>"ทฤษฎีพอแล้ว ต่อไปคือส่วนที่สนุกที่สุด — สร้างผู้ช่วยของตัวเอง"</a:t>
            </a:r>
          </a:p>
          <a:p>
            <a:r>
              <a:t>แจ้งโครง 60 นาที: 20 นาทีแรกดู demo และทำความเข้าใจ Core Prompt, 25 นาทีลงมือ, 15 นาทีทดสอบและแชร์</a:t>
            </a:r>
          </a:p>
          <a:p>
            <a:r>
              <a:t>ขอให้ทุกคนเปิดแอป Grok Bot ค้างไว้ (ใครไม่มีแพ็กเกจ เปิด chatgpt.com)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[13:30 – 3 นาที]</a:t>
            </a:r>
          </a:p>
          <a:p>
            <a:r>
              <a:t>Agent มี 3 ส่วน และใน Grok Bot แต่ละส่วนอยู่ตรงนี้ (อ้างอิง docs.x.ai/grok-bot):</a:t>
            </a:r>
          </a:p>
          <a:p>
            <a:r>
              <a:t>1) Instructions → "Description" ของ Bot — docs แนะนำให้ใส่กฎที่ต้องจริงเสมอไว้ใน Description ส่วนงานเฉพาะครั้งพิมพ์ในแชต</a:t>
            </a:r>
          </a:p>
          <a:p>
            <a:r>
              <a:t>2) Knowledge → Memory: Bot จำความชอบที่คงที่ ข้อมูลสำคัญ และสรุปงานก่อนหน้าได้ (แต่เรื่องสำคัญ ให้ Bot เช็กแหล่งข้อมูลจริงอีกครั้ง) + แนบไฟล์ได้</a:t>
            </a:r>
          </a:p>
          <a:p>
            <a:r>
              <a:t>3) Tools → Connectors (ติดตั้งเป็น plugin จาก Marketplace), เบราว์เซอร์บนคอมพิวเตอร์คลาวด์ของ Bot, Skills (ขั้นตอนที่บันทึกไว้ใช้ซ้ำ) และ Routines (ตั้งเวลาให้ Bot ทำงานเอง ทำงานต่อได้แม้ปิดโน้ตบุ๊ก)</a:t>
            </a:r>
          </a:p>
          <a:p>
            <a:r>
              <a:t>ไล่ระดับ: แชตธรรมดา → ผู้ช่วยที่ตั้งค่าเอง (ChatGPT Projects = แผนสำรองวันนี้) → Agent ที่ลงมือทำงาน (Grok Bot = สิ่งที่เราสร้างวันนี้)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[13:33 – 2 นาที]</a:t>
            </a:r>
          </a:p>
          <a:p>
            <a:r>
              <a:t>ทำไมวันนี้ใช้ Grok Bot เป็นหลัก (นุ้ยใช้เองทุกวัน — เล่าตัวอย่างจริงสั้นๆ 1 เรื่อง):</a:t>
            </a:r>
          </a:p>
          <a:p>
            <a:r>
              <a:t>1) เป็น Agent ตัวจริง: แต่ละ Bot ทำงานบนคอมพิวเตอร์คลาวด์ที่มีเบราว์เซอร์และไฟล์ ใช้เว็บและแอปได้แบบคน งานยังเดินต่อแม้ปิดแอปหรือปิดโน้ตบุ๊ก (docs.x.ai/grok-bot)</a:t>
            </a:r>
          </a:p>
          <a:p>
            <a:r>
              <a:t>2) จำได้: Bot เก็บความชอบ ข้อมูลสำคัญ และสรุปงานที่ผ่านมาข้ามบทสนทนา</a:t>
            </a:r>
          </a:p>
          <a:p>
            <a:r>
              <a:t>3) เชื่อมแอป: ติดตั้ง connector เป็น plugin จาก Marketplace — connector ที่มีจริง เช่น Gmail / Google Calendar / Notion ควรเช็กอีกครั้งใน Marketplace ก่อนวันงาน</a:t>
            </a:r>
          </a:p>
          <a:p>
            <a:r>
              <a:t>4) Routines: สั่งด้วยภาษาธรรมดาว่า "ทุกวัน 7:00 ทำ..." แล้ว Bot สร้าง routine และบอกรอบถัดไป</a:t>
            </a:r>
          </a:p>
          <a:p>
            <a:r>
              <a:t>เงื่อนไข: ต้องมี Cursor Pro / Pro+ / Ultra / Teams หรือเชื่อม SuperGrok (บุคคล) / X Premium+ — ไม่ฟรี (มี free trial แบบเครดิต — ควรเช็กอีกครั้ง)</a:t>
            </a:r>
          </a:p>
          <a:p>
            <a:r>
              <a:t>แผนสำรอง:</a:t>
            </a:r>
          </a:p>
          <a:p>
            <a:r>
              <a:t>- ไม่มีแพ็กเกจ → ChatGPT Projects (ฟรี) ใช้ Core Prompt เดียวกัน</a:t>
            </a:r>
          </a:p>
          <a:p>
            <a:r>
              <a:t>- ทุกอย่างล่ม → วาง Core Prompt เป็นข้อความแรกในแชตไหนก็ได้</a:t>
            </a:r>
          </a:p>
          <a:p>
            <a:r>
              <a:t>ย้ำ: Core Prompt เดียวกันใช้ได้ทุกแพลตฟอร์ม ใครใช้แผนสำรองก็ไม่ตกหล่น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[13:35 – 6 นาที · DEMO สดบนจอ ด้วยบัญชีของนุ้ย (สไลด์ถัดไปคือแทร็ก ChatGPT ฟรี 1 นาที)]</a:t>
            </a:r>
          </a:p>
          <a:p>
            <a:r>
              <a:t>ขั้นตอนตาม docs.x.ai/grok-bot (Get started, Create and manage Bots, Skills and routines, Use the computer and apps):</a:t>
            </a:r>
          </a:p>
          <a:p>
            <a:r>
              <a:t>1) ติดตั้งจาก x.ai/bot → Sign in (ยืนยันตัวตนบัญชี Cursor ในเบราว์เซอร์แล้วกลับเข้าแอป) — ถ้าใช้ SuperGrok ให้เชื่อมเมื่อแอปถาม (มือถือ: Link Grok Account แล้ว Finished Linking? Refresh My Status / เดสก์ท็อป: Settings → Usage &amp; Billing)</a:t>
            </a:r>
          </a:p>
          <a:p>
            <a:r>
              <a:t>   ผู้ใช้ใหม่จะเจอหน้า Meet a future teammate — เลือก Create your own ได้เลย</a:t>
            </a:r>
          </a:p>
          <a:p>
            <a:r>
              <a:t>2) สร้าง Bot: New ในแถบซ้าย หรือ Cmd/Ctrl+N → Create new Bot (หรือพิมพ์ชื่อแล้วเลือก Create "ชื่อ" Bot) — แอปจะสร้าง Bot ชื่อ New Bot ให้ก่อน / มือถือ: + → New Bot</a:t>
            </a:r>
          </a:p>
          <a:p>
            <a:r>
              <a:t>3) Edit Profile (หรือ View conversation details → Bot settings) → ตั้ง Name, Label (ไม่บังคับ), Description แล้ววาง Core Prompt ใน Description</a:t>
            </a:r>
          </a:p>
          <a:p>
            <a:r>
              <a:t>   (ปุ่มยืนยันการบันทึกในหน้าโปรไฟล์ไม่ได้ระบุใน docs — ควรเช็กอีกครั้ง)</a:t>
            </a:r>
          </a:p>
          <a:p>
            <a:r>
              <a:t>4) สั่งงานแรก: พิมพ์ หรือกด Start voice input (Cmd/Ctrl+D) — docs แนะนำให้ "ระบุความชอบที่ใช้ระยะยาวให้ชัด" และอัปเดต Description เมื่อเจอกฎถาวรใหม่ (ไม่มีหน้าตั้งค่า Memory แยกใน docs — ควรเช็กอีกครั้ง)</a:t>
            </a:r>
          </a:p>
          <a:p>
            <a:r>
              <a:t>5) เชื่อมแอป: Marketplace → Add → ยืนยันตัวตนในเบราว์เซอร์ → พิมพ์ @ ในแชตเพื่อแนบ connector · connector ติดตั้งระดับบัญชี ทุก Bot ใช้ได้</a:t>
            </a:r>
          </a:p>
          <a:p>
            <a:r>
              <a:t>   รายชื่อ connector ที่มี (Gmail / Google Calendar / Notion) — ควรเช็กอีกครั้งใน Marketplace</a:t>
            </a:r>
          </a:p>
          <a:p>
            <a:r>
              <a:t>6) Routine: สั่งเป็นภาษาธรรมดา ระบุเวลา + timezone + ผลลัพธ์ + ข้อห้าม → Bot สร้าง routine และแสดงรอบถัดไป → ใช้ Test run (ระวัง: test run ทำงานจริง)</a:t>
            </a:r>
          </a:p>
          <a:p>
            <a:r>
              <a:t>   ดู/หยุด routine: View conversation details → Routines · การแก้ไขและทดสอบ routine ต้องใช้แอปเดสก์ท็อป</a:t>
            </a:r>
          </a:p>
          <a:p>
            <a:r>
              <a:t>   ตั้ง Timezone ที่ Settings → Bot → Timezone ให้เป็นเวลาไทยก่อน</a:t>
            </a:r>
          </a:p>
          <a:p>
            <a:r>
              <a:t>ทางลัดสำหรับผู้จัด (ถ้าต้องการ): สร้าง Bot ต้นแบบแล้ว Share menu → Create template → Copy link ให้ผู้เข้าร่วมกด Add to Grok Bot — ลิงก์เปิดเผย Description ทั้งหมด ห้ามใส่ข้อมูลส่วนตัว (ควรเช็กอีกครั้งว่าผู้จัดจะใช้วิธีนี้หรือไม่)</a:t>
            </a:r>
          </a:p>
          <a:p>
            <a:r>
              <a:t>แผนสำรองถ้าเน็ตช้า: เตรียมภาพหน้าจอทุกขั้นไว้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[13:41 – 1 นาที · แทร็กคู่ขนานสำหรับคนที่ไม่มีแพ็กเกจ Grok Bot — ช่วง Hands-on ให้เลือกทำแทร็กใดแทร็กหนึ่ง]</a:t>
            </a:r>
          </a:p>
          <a:p>
            <a:r>
              <a:t>พูดสั้นๆ: "ใครไม่มีแพ็กเกจ Grok Bot ไม่ต้องกังวล ทำแบบเดียวกันบน ChatGPT ฟรีได้ ใช้ Core Prompt ตัวเดียวกัน"</a:t>
            </a:r>
          </a:p>
          <a:p>
            <a:r>
              <a:t>ขั้นตอน (OpenAI Help Center – Projects in ChatGPT, ตรวจ 3 ต.ค. 2026):</a:t>
            </a:r>
          </a:p>
          <a:p>
            <a:r>
              <a:t>1) chatgpt.com หรือแอป → Sign in (บัญชี Free ใช้ Projects ได้ — หน้า Pricing ระบุ Projects: Free = Yes)</a:t>
            </a:r>
          </a:p>
          <a:p>
            <a:r>
              <a:t>2) New project ในแถบซ้าย → ตั้งชื่อ แล้วเลือกไอคอนและสี</a:t>
            </a:r>
          </a:p>
          <a:p>
            <a:r>
              <a:t>3) เมนู ••• → Project settings → ใส่ instructions — วาง Core Prompt ที่เติมแล้ว · project instructions ใช้เฉพาะในโปรเจกต์นั้น และมีผลเหนือ custom instructions ทั่วไป</a:t>
            </a:r>
          </a:p>
          <a:p>
            <a:r>
              <a:t>   ใน Project settings ยังเลือก Memory ได้: Default memory หรือ Project-only memory (แล้วกด Save; อาจใช้เวลาสักพักกว่าจะมีผล)</a:t>
            </a:r>
          </a:p>
          <a:p>
            <a:r>
              <a:t>4) Add files: PDF, สเปรดชีต, เอกสาร, รูป หรือวางข้อความ — Free ได้ 5 ไฟล์ต่อโปรเจกต์ (Go/Plus 25) · ห้ามอัปโหลดข้อมูลส่วนตัว/การเงิน</a:t>
            </a:r>
          </a:p>
          <a:p>
            <a:r>
              <a:t>5) เริ่มแชต “ในโปรเจกต์” แล้วทดสอบ 3 แบบ (ปกติ / กำกวม / นอกขอบเขต) — โปรเจกต์จำแชตและไฟล์ในโปรเจกต์ได้</a:t>
            </a:r>
          </a:p>
          <a:p>
            <a:r>
              <a:t>6) (เลือกได้) Settings → Personalization → เปิด Enable customization → ช่อง Custom Instructions (Free/Go ได้ 1,500 ตัวอักษร) — มีผลกับทุกแชต · Memory อยู่ที่ Settings → Personalization → Memory (Free = “Limited” ตามหน้า Pricing) · บนมือถือเมนูชื่อ Customize ChatGPT</a:t>
            </a:r>
          </a:p>
          <a:p>
            <a:r>
              <a:t>ข้อจำกัดที่ต้องพูดตรงๆ:</a:t>
            </a:r>
          </a:p>
          <a:p>
            <a:r>
              <a:t>- ไม่มีคอมพิวเตอร์คลาวด์ที่ลงมือทำงานแทน และไม่มี Marketplace connectors แบบ Grok Bot (หน้า Pricing: “Apps connecting to internal tools” Free = No)</a:t>
            </a:r>
          </a:p>
          <a:p>
            <a:r>
              <a:t>- Custom GPT: สร้าง/เผยแพร่ใหม่ไม่ได้บนบัญชีส่วนตัว (Free, Go, Plus, Pro) — OpenAI กำลังจะเลิกใช้ GPTs และแนะนำให้ย้ายไปใช้ Plugins (GPTs FAQ)</a:t>
            </a:r>
          </a:p>
          <a:p>
            <a:r>
              <a:t>- ตั้งเวลา: ข้อมูลขัดกัน ⚠️ — Help Center “Scheduled tasks in ChatGPT” (อัปเดต ~2 ต.ค. 2026) ระบุว่า Free ใช้ได้: งานที่ active สูงสุด 3 งาน, ครั้งเดียวหรือซ้ำไม่เกินวันละครั้ง, ช่วงเวลาแบบยืดหยุ่น (เช้า/บ่าย/กลางคืน) ระบุเวลาเป๊ะไม่ได้ · แต่ตารางในหน้า chatgpt.com/pricing ยังเขียนว่า Scheduled tasks: Free = No → ควรเช็กอีกครั้งในบัญชี Free จริงก่อนวันงาน และบอกผู้เข้าร่วมว่า “ถ้ามีเมนู Scheduled ก็ลองได้”</a:t>
            </a:r>
          </a:p>
          <a:p>
            <a:r>
              <a:t>  หมายเหตุ: task ที่สร้างในโปรเจกต์จะเข้าถึงไฟล์ของโปรเจกต์ไม่ได้</a:t>
            </a:r>
          </a:p>
          <a:p>
            <a:r>
              <a:t>ชื่อปุ่มบนแอปมือถือ/เดสก์ท็อปอาจต่างจากเว็บเล็กน้อย — ควรเช็กอีกครั้งตอนซ้อม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[13:42 – 4 นาที]</a:t>
            </a:r>
          </a:p>
          <a:p>
            <a:r>
              <a:t>โครง Core Prompt — ผู้จัดเตรียมฉบับเต็มไว้ (แจกเป็นลิงก์/QR — เติมก่อนวันงาน) ทุกคนแค่เติมช่องสีม่วง แล้ววางใน "Description" ของ Bot ใหม่</a:t>
            </a:r>
          </a:p>
          <a:p>
            <a:r>
              <a:t>ทำไมต้องวางใน Description: docs ของ Grok Bot แนะนำให้ใส่กฎที่ต้องเป็นจริงเสมอไว้ใน Description และใช้แชตสำหรับงานเฉพาะครั้ง เช่น Description = "ห้ามส่งข้อความภายนอกโดยไม่ขออนุมัติ" / ข้อความ = "ร่างเมนูสัปดาห์นี้"</a:t>
            </a:r>
          </a:p>
          <a:p>
            <a:r>
              <a:t>ไล่ช่อง:</a:t>
            </a:r>
          </a:p>
          <a:p>
            <a:r>
              <a:t>- [บทบาท] [หัวข้อ] — Bot หนึ่งตัว ทำงานหลักหนึ่งเรื่อง (docs: Bot ที่โฟกัสสะสมบริบทได้ดีกว่า Bot ที่ทำทุกอย่าง)</a:t>
            </a:r>
          </a:p>
          <a:p>
            <a:r>
              <a:t>- [เป้าหมาย] — ผลลัพธ์และกรอบเวลา</a:t>
            </a:r>
          </a:p>
          <a:p>
            <a:r>
              <a:t>- [ข้อมูลเกี่ยวกับฉัน] — ส่วนที่ Bot ต้องจำ (ไม่ใส่ข้อมูลระบุตัวตน/การเงิน)</a:t>
            </a:r>
          </a:p>
          <a:p>
            <a:r>
              <a:t>- [รูปแบบคำตอบ]</a:t>
            </a:r>
          </a:p>
          <a:p>
            <a:r>
              <a:t>- [ข้อห้าม] + ขออนุมัติก่อนส่ง/ซื้อ/ลบ — สำคัญมากเพราะ Grok Bot ลงมือทำงานได้จริง (ตั้งกฎ Ask first เพิ่มได้ที่ Settings → General → Auto-review)</a:t>
            </a:r>
          </a:p>
          <a:p>
            <a:r>
              <a:t>ความยาวสูงสุดของช่อง Description — ควรเช็กอีกครั้ง (ถ้าวางไม่หมด ให้ใส่ส่วนที่เหลือเป็นข้อความแรกในแชต)</a:t>
            </a:r>
          </a:p>
          <a:p>
            <a:r>
              <a:t>ใครใช้แผนสำรอง: วาง Core Prompt เดียวกันใน Project instructions ของ ChatGPT หรือเป็นข้อความแรกของแชต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[13:46 – 2 นาที]</a:t>
            </a:r>
          </a:p>
          <a:p>
            <a:r>
              <a:t>ยกตัวอย่าง 4 แบบที่ใช้ได้ทันที ให้ผู้ฟังเลือก 1 อย่างที่ "จะใช้จริงสัปดาห์หน้า"</a:t>
            </a:r>
          </a:p>
          <a:p>
            <a:r>
              <a:t>- Meal &amp; Health Planner — จัดเมนู รายการซื้อของ (ไม่ใช่คำแนะนำทางการแพทย์)</a:t>
            </a:r>
          </a:p>
          <a:p>
            <a:r>
              <a:t>- Travel Planner — วางแผนทริป เทียบตัวเลือก</a:t>
            </a:r>
          </a:p>
          <a:p>
            <a:r>
              <a:t>- Personal Finance Tracker — สรุปรายจ่าย วางแผนออม (ห้ามใส่เลขบัญชี/บัตร)</a:t>
            </a:r>
          </a:p>
          <a:p>
            <a:r>
              <a:t>- Learning Coach — ฝึกภาษา ทักษะใหม่ มีแบบทดสอบ</a:t>
            </a:r>
          </a:p>
          <a:p>
            <a:r>
              <a:t>ใครมีไอเดียอื่น เช่น ผู้ช่วยเลี้ยงลูก ผู้ช่วยหางาน ผู้ช่วยดูแลพ่อแม่ ก็ทำได้เหมือนกัน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[13:48 – 2 นาที]</a:t>
            </a:r>
          </a:p>
          <a:p>
            <a:r>
              <a:t>ซ้าย: หน้าตาโปรไฟล์ Bot — Name, Label (ไม่บังคับ), Description ที่วาง Core Prompt ที่เติมแล้ว</a:t>
            </a:r>
          </a:p>
          <a:p>
            <a:r>
              <a:t>ชี้ว่า "แพ้กุ้ง" อยู่ทั้งในข้อมูลเกี่ยวกับฉันและข้อห้าม — ของสำคัญให้ย้ำ 2 ที่ และ "ห้ามสั่งซื้อของเอง" เพราะ Grok Bot ใช้เว็บได้จริง</a:t>
            </a:r>
          </a:p>
          <a:p>
            <a:r>
              <a:t>ขวา: Routine — docs ของ Grok Bot แนะนำให้สั่งเป็นข้อความ ระบุ เวลา + timezone + แหล่งข้อมูล + ผลลัพธ์ + ข้อห้าม + ทำอย่างไรเมื่อไม่มีข้อมูล แล้ว Bot จะสร้าง routine และแสดงรอบถัดไป จากนั้นกด Test run (test run ทำงานจริง)</a:t>
            </a:r>
          </a:p>
          <a:p>
            <a:r>
              <a:t>ต่อยอด (ถ้ามี connector ปฏิทิน — รายชื่อ connector ควรเช็กอีกครั้ง): "วันที่มีประชุมหลัง 18:00 ให้เสนอเมนู 15 นาที"</a:t>
            </a:r>
          </a:p>
          <a:p>
            <a:r>
              <a:t>หมายเหตุ: ตั้ง Settings → Bot → Timezone เป็นเวลาไทยก่อน · ดู/หยุด routine ได้ที่ View conversation details → Routines</a:t>
            </a:r>
          </a:p>
          <a:p>
            <a:r>
              <a:t>คำเตือนการใช้งาน: routine กินโควตาการใช้งานรายสัปดาห์ — ไม่ควรตั้งถี่เกินจำเป็น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[13:50 – 25 นาที · เปิด timer บนจอ]</a:t>
            </a:r>
          </a:p>
          <a:p>
            <a:r>
              <a:t>4 ช่วง:</a:t>
            </a:r>
          </a:p>
          <a:p>
            <a:r>
              <a:t>0–5 นาที: เลือก use case แล้วเติม Core Prompt (พิมพ์ใน Notes ก่อนก็ได้)</a:t>
            </a:r>
          </a:p>
          <a:p>
            <a:r>
              <a:t>5–12 นาที: สร้าง Bot (New → Create new Bot / มือถือ + → New Bot) → Edit Profile → ตั้งชื่อ → วาง Core Prompt ใน Description</a:t>
            </a:r>
          </a:p>
          <a:p>
            <a:r>
              <a:t>12–20 นาที: เลือกทำ 1 อย่าง</a:t>
            </a:r>
          </a:p>
          <a:p>
            <a:r>
              <a:t>  ก) เชื่อมแอป: Marketplace → Add → ยืนยันในเบราว์เซอร์ → ในแชตพิมพ์ @ เพื่อแนบ connector (connector ที่มีจริง — ควรเช็กอีกครั้ง) — เตือนว่าเชื่อมเฉพาะบัญชีที่สบายใจ และ connector ใช้ได้กับทุก Bot ในบัญชี</a:t>
            </a:r>
          </a:p>
          <a:p>
            <a:r>
              <a:t>  ข) ตั้ง routine: บอก Bot เป็นภาษาธรรมดา ระบุเวลา (เวลาไทย) ผลลัพธ์ และข้อห้าม → Bot แสดงรอบถัดไป (การแก้/ทดสอบ routine ต้องใช้แอปเดสก์ท็อป)</a:t>
            </a:r>
          </a:p>
          <a:p>
            <a:r>
              <a:t>20–25 นาที: ทดสอบ 3 คำถาม + Test run ถ้าตั้ง routine (test run ทำงานจริง ใช้ข้อมูลที่ปลอดภัย)</a:t>
            </a:r>
          </a:p>
          <a:p>
            <a:r>
              <a:t>คนที่ไม่มีแพ็กเกจ: แทร็ก ChatGPT ฟรี (สไลด์ 17) — 5–12 นาที: New project → ••• → Project settings → วาง Core Prompt ใน Instructions · 12–20 นาที: Add files (Free ≤ 5 ไฟล์) หรือ Settings → Personalization → Custom Instructions (ถ้าบัญชีมีเมนู Scheduled จะลองตั้งงานวันละครั้งก็ได้ — ควรเช็กอีกครั้ง)</a:t>
            </a:r>
          </a:p>
          <a:p>
            <a:r>
              <a:t>ระหว่างนี้: เดินดูทุกโต๊ะ ช่วยคนที่ Sign in ไม่ได้ก่อน / เตือนเวลาที่ 12 และ 20 นาที / เก็บตัวอย่างดีๆ 2–3 คนไว้แชร์</a:t>
            </a:r>
          </a:p>
          <a:p>
            <a:r>
              <a:t>ปัญหาที่พบบ่อย (ควรเช็กอีกครั้งจากการซ้อมจริง): หา Edit Profile ไม่เจอ (ลอง View conversation details → Bot settings), Bot ขอให้ takeover เพื่อล็อกอินเว็บ (เปิด Agent Computer แล้วกรอกเอง ห้ามวางรหัสผ่านในแชต), เวลา routine ผิดเพราะยังไม่ได้ตั้ง Timezone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[ใช้อ้างอิงระหว่าง hands-on — พูด ~30 วินาที]</a:t>
            </a:r>
          </a:p>
          <a:p>
            <a:r>
              <a:t>1) ChatGPT Projects (แผนสำรองหลัก ฟรี): ตาม OpenAI Help Center — New project ในแถบซ้าย → ••• → Project settings → ใส่ instructions · Free อัปโหลดได้ 5 ไฟล์ต่อโปรเจกต์ · instructions ใช้เฉพาะในโปรเจกต์ · เมนูบนแอปมือถือ ควรเช็กอีกครั้ง</a:t>
            </a:r>
          </a:p>
          <a:p>
            <a:r>
              <a:t>   หมายเหตุ: Custom GPT สร้างใหม่ไม่ได้บนบัญชีส่วนตัว (Free/Go/Plus/Pro — GPTs FAQ, ตรวจ 3 ต.ค. 2026) จึงใช้ Projects แทน · รายละเอียดแทร็ก ChatGPT ฟรีอยู่ในสไลด์ 17</a:t>
            </a:r>
          </a:p>
          <a:p>
            <a:r>
              <a:t>2) Gemini Skills: Settings → Skills → Create manually (ตาม Gemini Apps Help) · อายุ 18+ · บัญชี Google ส่วนตัว · เปิด Keep Activity · ตอนนี้สร้างแบบ manual บนแอปมือถือยังบันทึกไม่ได้ — ทำบนเว็บ หรือสั่งในแชตว่า "Create a skill based on these instructions: ..." · Gems ของบัญชีส่วนตัวจะถูกย้ายเป็น Skills ช่วง พ.ย. 2026 (TechCrunch ระบุ 17 พ.ย. — ควรเช็กอีกครั้ง)</a:t>
            </a:r>
          </a:p>
          <a:p>
            <a:r>
              <a:t>   Claude Projects: ฟรีสูงสุด 5 Projects (Claude Help Center) · ชื่อเมนู ควรเช็กอีกครั้ง</a:t>
            </a:r>
          </a:p>
          <a:p>
            <a:r>
              <a:t>3) แชตธรรมดา: วาง Core Prompt เป็นข้อความแรก ใช้ได้ทุกตัว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[14:15 – 10 นาที (เหลือ 5 นาทีสุดท้ายสำหรับ Q&amp;A สั้นๆ + ปิดงาน)]</a:t>
            </a:r>
          </a:p>
          <a:p>
            <a:r>
              <a:t>- 3 นาที: ทดสอบ 3 แบบ ปกติ / กำกวม / นอกขอบเขต</a:t>
            </a:r>
          </a:p>
          <a:p>
            <a:r>
              <a:t>- 4 นาที: Peer test — สลับเครื่องกับเพื่อนข้างๆ ให้เพื่อนลองถาม เพราะคนอื่นจะถามในมุมที่เราคิดไม่ถึง</a:t>
            </a:r>
          </a:p>
          <a:p>
            <a:r>
              <a:t>- 3 นาที: อาสาสมัคร 1–2 คนแชร์ว่าสร้างผู้ช่วยอะไร และแก้อะไรแล้วดีขึ้น</a:t>
            </a:r>
          </a:p>
          <a:p>
            <a:r>
              <a:t>หลักการ: แก้ทีละจุด แล้วทดสอบซ้ำ (เหมือนปรับสูตรอาหาร)</a:t>
            </a:r>
          </a:p>
          <a:p>
            <a:r>
              <a:t>สำหรับ Grok Bot: กฎถาวรให้แก้ใน Description (Edit Profile หรือ View conversation details → Bot settings), ความชอบใหม่บอก Bot ให้จำ, routine ให้กด Test run หลังแก้ทุกครั้ง (docs.x.ai) · ขั้นตอนที่ใช้ได้ดีแล้ว ขอให้ Bot "บันทึกเป็น skill" ได้</a:t>
            </a:r>
          </a:p>
          <a:p>
            <a:r>
              <a:t>ตารางขวาคือ "สูตรแก้" ที่ใช้ได้บ่อยที่สุด</a:t>
            </a:r>
          </a:p>
          <a:p>
            <a:r>
              <a:t>การบ้าน: ใช้ผู้ช่วยตัวนี้จริง 7 วัน แล้วปรับ instructions ทุกครั้งที่ไม่ตรงใจ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[14:25 – ~4 นาที · ต้องจบ 14:30]</a:t>
            </a:r>
          </a:p>
          <a:p>
            <a:r>
              <a:t>เปิดถาม-ตอบสั้นๆ รับ 2–3 คำถาม ถ้ายังไม่มีคนถาม ให้เลือกตอบจากคำถามที่พบบ่อย:</a:t>
            </a:r>
          </a:p>
          <a:p>
            <a:r>
              <a:t>- "ควรจ่ายเงินตัวไหนดี?" → ใช้ฟรีให้คุ้นก่อน 2–4 สัปดาห์ แล้วจ่ายเฉพาะตัวที่ใช้ทุกวัน</a:t>
            </a:r>
          </a:p>
          <a:p>
            <a:r>
              <a:t>- "ใช้ที่ทำงานได้ไหม?" → ทำตามนโยบายบริษัท ข้อมูลงานให้ใช้ Copilot องค์กรที่บริษัทอนุญาต</a:t>
            </a:r>
          </a:p>
          <a:p>
            <a:r>
              <a:t>- "Grok Bot คุ้มไหม ต้องจ่ายเท่าไร?" → ดูแพ็กเกจที่รองรับ (Cursor Pro ขึ้นไป หรือ SuperGrok) และลอง free trial ก่อน (ราคา/สิทธิ์ในไทย ควรเช็กอีกครั้ง)</a:t>
            </a:r>
          </a:p>
          <a:p>
            <a:r>
              <a:t>- "Custom GPT ยังสร้างได้ไหม?" → บัญชีส่วนตัวสร้างใหม่ไม่ได้แล้ว ใช้ Projects แทน</a:t>
            </a:r>
          </a:p>
          <a:p>
            <a:r>
              <a:t>- "Routine ทำงานตอนปิดคอมไหม?" → ทำ เพราะรันบนคอมพิวเตอร์คลาวด์ (docs.x.ai)</a:t>
            </a:r>
          </a:p>
          <a:p>
            <a:r>
              <a:t>- "Gems หายไปไหน?" → Google ย้าย Gems ไปเป็น Skills ช่วง พ.ย. 2026 ของเดิมย้ายอัตโนมัติ</a:t>
            </a:r>
          </a:p>
          <a:p>
            <a:r>
              <a:t>คำถามที่เหลือ / คนที่ Agent ยังไม่เสร็จ: ชวนติดต่อทางช่องทางในสไลด์ถัดไป (ไม่มีช่วงช่วยรายบุคคลหลัง 14:30 — ถ้าสถานที่สะดวกให้คุยต่อ ต้องยืนยันกับผู้จัดก่อน)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[14:29 – ปิดงาน 1 นาที · จบ 14:30]</a:t>
            </a:r>
          </a:p>
          <a:p>
            <a:r>
              <a:t>ขอบคุณทุกคน และขอบคุณผู้จัด (เอ่ยชื่อผู้จัด) และ Living Room Thonglor</a:t>
            </a:r>
          </a:p>
          <a:p>
            <a:r>
              <a:t>- ฝากการบ้าน: ใช้ผู้ช่วยที่สร้างวันนี้ทุกวัน 1 สัปดาห์ ปรับ instructions ทุกครั้งที่ไม่ตรงใจ</a:t>
            </a:r>
          </a:p>
          <a:p>
            <a:r>
              <a:t>- สแกน QR รับ Core Prompt / สไลด์ / แบบประเมิน (เติม QR และช่องทางติดต่อก่อนวันงาน)</a:t>
            </a:r>
          </a:p>
          <a:p>
            <a:r>
              <a:t>- ชวนถ่ายรูปหมู่ (ภายใน 14:30)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x.ai/bot" TargetMode="External"/><Relationship Id="rId3" Type="http://schemas.openxmlformats.org/officeDocument/2006/relationships/hyperlink" Target="https://chatgpt.com" TargetMode="External"/><Relationship Id="rId4" Type="http://schemas.openxmlformats.org/officeDocument/2006/relationships/hyperlink" Target="https://chatgpt.com/download" TargetMode="External"/><Relationship Id="rId5" Type="http://schemas.openxmlformats.org/officeDocument/2006/relationships/hyperlink" Target="https://claude.ai" TargetMode="External"/><Relationship Id="rId6" Type="http://schemas.openxmlformats.org/officeDocument/2006/relationships/hyperlink" Target="https://claude.ai/download" TargetMode="External"/><Relationship Id="rId7" Type="http://schemas.openxmlformats.org/officeDocument/2006/relationships/hyperlink" Target="https://gemini.google.com" TargetMode="External"/><Relationship Id="rId8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B2A7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052560" y="-1463040"/>
            <a:ext cx="5486400" cy="5486400"/>
          </a:xfrm>
          <a:prstGeom prst="ellipse">
            <a:avLst/>
          </a:prstGeom>
          <a:solidFill>
            <a:srgbClr val="7B4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749039"/>
            <a:ext cx="3840480" cy="3840480"/>
          </a:xfrm>
          <a:prstGeom prst="ellipse">
            <a:avLst/>
          </a:prstGeom>
          <a:solidFill>
            <a:srgbClr val="633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961120" y="4480560"/>
            <a:ext cx="914400" cy="914400"/>
          </a:xfrm>
          <a:prstGeom prst="ellipse">
            <a:avLst/>
          </a:prstGeom>
          <a:solidFill>
            <a:srgbClr val="C9B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731520" y="1005840"/>
            <a:ext cx="3291840" cy="438912"/>
          </a:xfrm>
          <a:prstGeom prst="roundRect">
            <a:avLst>
              <a:gd name="adj" fmla="val 50000"/>
            </a:avLst>
          </a:prstGeom>
          <a:solidFill>
            <a:srgbClr val="7B4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Prompt"/>
                <a:ea typeface="Prompt"/>
                <a:cs typeface="Prompt"/>
              </a:rPr>
              <a:t>IN-PERSON WORKSHOP · 90 นาที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8229600" cy="201168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5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AI ผู้ช่วยส่วนตัว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5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สร้าง Agent ของคุณเอง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11880"/>
            <a:ext cx="7680960" cy="91440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000" b="0" i="0">
                <a:solidFill>
                  <a:srgbClr val="E7DEF8"/>
                </a:solidFill>
                <a:latin typeface="Sarabun"/>
                <a:ea typeface="Sarabun"/>
                <a:cs typeface="Sarabun"/>
              </a:rPr>
              <a:t>รู้จัก ChatGPT · Claude · Gemini · Grok Bot แล้วลงมือสร้างผู้ช่วย AI สำหรับชีวิตประจำวันของคุณ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800600"/>
            <a:ext cx="73152" cy="1005840"/>
          </a:xfrm>
          <a:prstGeom prst="rect">
            <a:avLst/>
          </a:prstGeom>
          <a:solidFill>
            <a:srgbClr val="C9B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0120" y="4754880"/>
            <a:ext cx="7315200" cy="11887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Pawinee Amonnuntarat (นุ้ย)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0" i="0">
                <a:solidFill>
                  <a:srgbClr val="E7DEF8"/>
                </a:solidFill>
                <a:latin typeface="Sarabun"/>
                <a:ea typeface="Sarabun"/>
                <a:cs typeface="Sarabun"/>
              </a:rPr>
              <a:t>เสาร์ 7 พ.ย. 2026 · 13:00–14:30 น. · Living Room Thonglor (ห้อง Workshop)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B2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772400" cy="3657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 i="0">
                <a:solidFill>
                  <a:srgbClr val="7B4FC9"/>
                </a:solidFill>
                <a:latin typeface="Prompt"/>
                <a:ea typeface="Prompt"/>
                <a:cs typeface="Prompt"/>
              </a:rPr>
              <a:t>SPEAKER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9509760" cy="8229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1" i="0">
                <a:solidFill>
                  <a:srgbClr val="4B2A7B"/>
                </a:solidFill>
                <a:latin typeface="Prompt"/>
                <a:ea typeface="Prompt"/>
                <a:cs typeface="Prompt"/>
              </a:rPr>
              <a:t>แนะนำวิทยากร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555480" y="384048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E7D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200" b="1">
                <a:solidFill>
                  <a:srgbClr val="4B2A7B"/>
                </a:solidFill>
                <a:latin typeface="Prompt"/>
                <a:ea typeface="Prompt"/>
                <a:cs typeface="Prompt"/>
              </a:rPr>
              <a:t>⏱ 13:01 · 2 นาที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5F596B"/>
                </a:solidFill>
                <a:latin typeface="Sarabun"/>
                <a:ea typeface="Sarabun"/>
                <a:cs typeface="Sarabun"/>
              </a:rPr>
              <a:t>AI ผู้ช่วยส่วนตัว Workshop · 7 พ.ย. 2026 · Living Room Thonglor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5F596B"/>
                </a:solidFill>
                <a:latin typeface="Sarabun"/>
                <a:ea typeface="Sarabun"/>
                <a:cs typeface="Sarabun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737360"/>
            <a:ext cx="3017520" cy="3566160"/>
          </a:xfrm>
          <a:prstGeom prst="roundRect">
            <a:avLst>
              <a:gd name="adj" fmla="val 8000"/>
            </a:avLst>
          </a:prstGeom>
          <a:solidFill>
            <a:srgbClr val="E7DEF8"/>
          </a:solidFill>
          <a:ln w="15875">
            <a:solidFill>
              <a:srgbClr val="C9B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600" b="1">
                <a:solidFill>
                  <a:srgbClr val="7B4FC9"/>
                </a:solidFill>
                <a:latin typeface="Prompt"/>
                <a:ea typeface="Prompt"/>
                <a:cs typeface="Prompt"/>
              </a:rPr>
              <a:t>[ใส่รูปโปรไฟล์]</a:t>
            </a:r>
          </a:p>
          <a:p>
            <a:pPr algn="ctr"/>
            <a:r>
              <a:rPr sz="1200" b="1">
                <a:solidFill>
                  <a:srgbClr val="5F596B"/>
                </a:solidFill>
                <a:latin typeface="Prompt"/>
                <a:ea typeface="Prompt"/>
                <a:cs typeface="Prompt"/>
              </a:rPr>
              <a:t>แนะนำขนาด 3:4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1554480"/>
            <a:ext cx="7315200" cy="5943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200" b="1" i="0">
                <a:solidFill>
                  <a:srgbClr val="4B2A7B"/>
                </a:solidFill>
                <a:latin typeface="Prompt"/>
                <a:ea typeface="Prompt"/>
                <a:cs typeface="Prompt"/>
              </a:rPr>
              <a:t>Pawinee Amonnuntarat (นุ้ย)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176272"/>
            <a:ext cx="7315200" cy="41148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 i="0">
                <a:solidFill>
                  <a:srgbClr val="7B4FC9"/>
                </a:solidFill>
                <a:latin typeface="Prompt"/>
                <a:ea typeface="Prompt"/>
                <a:cs typeface="Prompt"/>
              </a:rPr>
              <a:t>ผู้เชี่ยวชาญด้าน IT และ IT Consulting ประสบการณ์กว่า 20 ปี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743200"/>
            <a:ext cx="1417320" cy="3657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 i="0">
                <a:solidFill>
                  <a:srgbClr val="4B2A7B"/>
                </a:solidFill>
                <a:latin typeface="Prompt"/>
                <a:ea typeface="Prompt"/>
                <a:cs typeface="Prompt"/>
              </a:rPr>
              <a:t>ประสบการณ์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0" y="2743200"/>
            <a:ext cx="5760720" cy="86868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5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•  ทำงานด้าน IT และ IT Consulting มากว่า 20 ปี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5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•  Implement แพลตฟอร์มบล็อกเชนให้บริษัทฟินเทค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5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•  Implement โครงการ IT ขนาดใหญ่ที่ธนาคารชั้นนำของไทย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3666744"/>
            <a:ext cx="1417320" cy="3657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 i="0">
                <a:solidFill>
                  <a:srgbClr val="4B2A7B"/>
                </a:solidFill>
                <a:latin typeface="Prompt"/>
                <a:ea typeface="Prompt"/>
                <a:cs typeface="Prompt"/>
              </a:rPr>
              <a:t>การศึกษา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0" y="3666744"/>
            <a:ext cx="5760720" cy="91440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5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•  วิศวกรรมสารสนเทศ สจล. (สถาบันเทคโนโลยีพระจอมเกล้าเจ้าคุณทหารลาดกระบัง)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5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•  MBA จุฬาลงกรณ์มหาวิทยาลัย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4636008"/>
            <a:ext cx="1417320" cy="3657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 i="0">
                <a:solidFill>
                  <a:srgbClr val="4B2A7B"/>
                </a:solidFill>
                <a:latin typeface="Prompt"/>
                <a:ea typeface="Prompt"/>
                <a:cs typeface="Prompt"/>
              </a:rPr>
              <a:t>ใช้ AI จริง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0" y="4636008"/>
            <a:ext cx="5760720" cy="713232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50" b="1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•  ในงาน: </a:t>
            </a:r>
            <a:r>
              <a:rPr sz="145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Microsoft Copilot · Cursor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50" b="1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•  ส่วนตัว: </a:t>
            </a:r>
            <a:r>
              <a:rPr sz="145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ChatGPT · Claude · Gemini · Grok Bot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5559552"/>
            <a:ext cx="694944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/>
            <a:r>
              <a:rPr sz="1600" b="1">
                <a:solidFill>
                  <a:srgbClr val="4B2A7B"/>
                </a:solidFill>
                <a:latin typeface="Sarabun"/>
                <a:ea typeface="Sarabun"/>
                <a:cs typeface="Sarabun"/>
              </a:rPr>
              <a:t>เป้าหมายวันนี้: </a:t>
            </a:r>
            <a:r>
              <a:rPr sz="1600" b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ทุกคนกลับบ้านพร้อม AI ผู้ช่วย 1 ตัวที่ใช้ได้จริงพรุ่งนี้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B2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772400" cy="3657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 i="0">
                <a:solidFill>
                  <a:srgbClr val="7B4FC9"/>
                </a:solidFill>
                <a:latin typeface="Prompt"/>
                <a:ea typeface="Prompt"/>
                <a:cs typeface="Prompt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9509760" cy="8229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1" i="0">
                <a:solidFill>
                  <a:srgbClr val="4B2A7B"/>
                </a:solidFill>
                <a:latin typeface="Prompt"/>
                <a:ea typeface="Prompt"/>
                <a:cs typeface="Prompt"/>
              </a:rPr>
              <a:t>Agenda วันนี้ (90 นาที · 13:00–14:30)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555480" y="384048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E7D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200" b="1">
                <a:solidFill>
                  <a:srgbClr val="4B2A7B"/>
                </a:solidFill>
                <a:latin typeface="Prompt"/>
                <a:ea typeface="Prompt"/>
                <a:cs typeface="Prompt"/>
              </a:rPr>
              <a:t>⏱ 13:03 · 1 นาที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5F596B"/>
                </a:solidFill>
                <a:latin typeface="Sarabun"/>
                <a:ea typeface="Sarabun"/>
                <a:cs typeface="Sarabun"/>
              </a:rPr>
              <a:t>AI ผู้ช่วยส่วนตัว Workshop · 7 พ.ย. 2026 · Living Room Thonglor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5F596B"/>
                </a:solidFill>
                <a:latin typeface="Sarabun"/>
                <a:ea typeface="Sarabun"/>
                <a:cs typeface="Sarabun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600200"/>
            <a:ext cx="10515600" cy="658368"/>
          </a:xfrm>
          <a:prstGeom prst="roundRect">
            <a:avLst>
              <a:gd name="adj" fmla="val 25000"/>
            </a:avLst>
          </a:prstGeom>
          <a:solidFill>
            <a:srgbClr val="E7D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51560" y="1691640"/>
            <a:ext cx="1188720" cy="457200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000" b="1" i="0">
                <a:solidFill>
                  <a:srgbClr val="4B2A7B"/>
                </a:solidFill>
                <a:latin typeface="Prompt"/>
                <a:ea typeface="Prompt"/>
                <a:cs typeface="Prompt"/>
              </a:rPr>
              <a:t>13:00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1691640"/>
            <a:ext cx="7223760" cy="457200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ต้อนรับ &amp; เตรียมเครื่อง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1691640"/>
            <a:ext cx="1554480" cy="457200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600" b="1" i="0">
                <a:solidFill>
                  <a:srgbClr val="7B4FC9"/>
                </a:solidFill>
                <a:latin typeface="Prompt"/>
                <a:ea typeface="Prompt"/>
                <a:cs typeface="Prompt"/>
              </a:rPr>
              <a:t>5 นาที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368296"/>
            <a:ext cx="10515600" cy="658368"/>
          </a:xfrm>
          <a:prstGeom prst="roundRect">
            <a:avLst>
              <a:gd name="adj" fmla="val 25000"/>
            </a:avLst>
          </a:prstGeom>
          <a:solidFill>
            <a:srgbClr val="E7D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051560" y="2459736"/>
            <a:ext cx="1188720" cy="457200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000" b="1" i="0">
                <a:solidFill>
                  <a:srgbClr val="4B2A7B"/>
                </a:solidFill>
                <a:latin typeface="Prompt"/>
                <a:ea typeface="Prompt"/>
                <a:cs typeface="Prompt"/>
              </a:rPr>
              <a:t>13:05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2459736"/>
            <a:ext cx="7223760" cy="457200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Part 1 · รู้จัก AI 4 ตัว + เทคนิค Prompt + ความปลอดภัย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2459736"/>
            <a:ext cx="1554480" cy="457200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600" b="1" i="0">
                <a:solidFill>
                  <a:srgbClr val="7B4FC9"/>
                </a:solidFill>
                <a:latin typeface="Prompt"/>
                <a:ea typeface="Prompt"/>
                <a:cs typeface="Prompt"/>
              </a:rPr>
              <a:t>25 นาที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136391"/>
            <a:ext cx="10515600" cy="658368"/>
          </a:xfrm>
          <a:prstGeom prst="roundRect">
            <a:avLst>
              <a:gd name="adj" fmla="val 25000"/>
            </a:avLst>
          </a:prstGeom>
          <a:solidFill>
            <a:srgbClr val="C9B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051560" y="3227832"/>
            <a:ext cx="1188720" cy="457200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000" b="1" i="0">
                <a:solidFill>
                  <a:srgbClr val="4B2A7B"/>
                </a:solidFill>
                <a:latin typeface="Prompt"/>
                <a:ea typeface="Prompt"/>
                <a:cs typeface="Prompt"/>
              </a:rPr>
              <a:t>13:30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3227832"/>
            <a:ext cx="7223760" cy="457200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Part 2a · Agent คืออะไร + Demo Grok Bot / ChatGPT ฟรี + Core Prompt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3227832"/>
            <a:ext cx="1554480" cy="457200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600" b="1" i="0">
                <a:solidFill>
                  <a:srgbClr val="7B4FC9"/>
                </a:solidFill>
                <a:latin typeface="Prompt"/>
                <a:ea typeface="Prompt"/>
                <a:cs typeface="Prompt"/>
              </a:rPr>
              <a:t>20 นาที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3904487"/>
            <a:ext cx="10515600" cy="658368"/>
          </a:xfrm>
          <a:prstGeom prst="roundRect">
            <a:avLst>
              <a:gd name="adj" fmla="val 25000"/>
            </a:avLst>
          </a:prstGeom>
          <a:solidFill>
            <a:srgbClr val="C9B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051560" y="3995927"/>
            <a:ext cx="1188720" cy="457200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000" b="1" i="0">
                <a:solidFill>
                  <a:srgbClr val="4B2A7B"/>
                </a:solidFill>
                <a:latin typeface="Prompt"/>
                <a:ea typeface="Prompt"/>
                <a:cs typeface="Prompt"/>
              </a:rPr>
              <a:t>13:50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3995927"/>
            <a:ext cx="7223760" cy="457200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Part 2b · Hands-on: สร้าง Agent ของคุณเอง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3995927"/>
            <a:ext cx="1554480" cy="457200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600" b="1" i="0">
                <a:solidFill>
                  <a:srgbClr val="7B4FC9"/>
                </a:solidFill>
                <a:latin typeface="Prompt"/>
                <a:ea typeface="Prompt"/>
                <a:cs typeface="Prompt"/>
              </a:rPr>
              <a:t>25 นาที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4672583"/>
            <a:ext cx="10515600" cy="658368"/>
          </a:xfrm>
          <a:prstGeom prst="roundRect">
            <a:avLst>
              <a:gd name="adj" fmla="val 25000"/>
            </a:avLst>
          </a:prstGeom>
          <a:solidFill>
            <a:srgbClr val="C9B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051560" y="4764023"/>
            <a:ext cx="1188720" cy="457200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000" b="1" i="0">
                <a:solidFill>
                  <a:srgbClr val="4B2A7B"/>
                </a:solidFill>
                <a:latin typeface="Prompt"/>
                <a:ea typeface="Prompt"/>
                <a:cs typeface="Prompt"/>
              </a:rPr>
              <a:t>14:15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77440" y="4764023"/>
            <a:ext cx="7223760" cy="457200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ทดสอบ · ปรับปรุง · แชร์กับเพื่อน + Q&amp;A สั้นๆ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4764023"/>
            <a:ext cx="1554480" cy="457200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600" b="1" i="0">
                <a:solidFill>
                  <a:srgbClr val="7B4FC9"/>
                </a:solidFill>
                <a:latin typeface="Prompt"/>
                <a:ea typeface="Prompt"/>
                <a:cs typeface="Prompt"/>
              </a:rPr>
              <a:t>15 นาที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5440679"/>
            <a:ext cx="10515600" cy="65836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051560" y="5532119"/>
            <a:ext cx="1188720" cy="457200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000" b="1" i="0">
                <a:solidFill>
                  <a:srgbClr val="4B2A7B"/>
                </a:solidFill>
                <a:latin typeface="Prompt"/>
                <a:ea typeface="Prompt"/>
                <a:cs typeface="Prompt"/>
              </a:rPr>
              <a:t>14:30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77440" y="5532119"/>
            <a:ext cx="7223760" cy="457200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จบ Workshop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0" y="5532119"/>
            <a:ext cx="1554480" cy="457200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600" b="1" i="0">
                <a:solidFill>
                  <a:srgbClr val="7B4FC9"/>
                </a:solidFill>
                <a:latin typeface="Prompt"/>
                <a:ea typeface="Prompt"/>
                <a:cs typeface="Prompt"/>
              </a:rPr>
              <a:t>รวม 90 นาที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6217920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B2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772400" cy="3657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 i="0">
                <a:solidFill>
                  <a:srgbClr val="7B4FC9"/>
                </a:solidFill>
                <a:latin typeface="Prompt"/>
                <a:ea typeface="Prompt"/>
                <a:cs typeface="Prompt"/>
              </a:rPr>
              <a:t>BEFORE WE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9509760" cy="8229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1" i="0">
                <a:solidFill>
                  <a:srgbClr val="4B2A7B"/>
                </a:solidFill>
                <a:latin typeface="Prompt"/>
                <a:ea typeface="Prompt"/>
                <a:cs typeface="Prompt"/>
              </a:rPr>
              <a:t>เตรียมเครื่องก่อนวันงาน &amp; ก่อนเริ่ม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555480" y="384048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E7D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200" b="1">
                <a:solidFill>
                  <a:srgbClr val="4B2A7B"/>
                </a:solidFill>
                <a:latin typeface="Prompt"/>
                <a:ea typeface="Prompt"/>
                <a:cs typeface="Prompt"/>
              </a:rPr>
              <a:t>⏱ 13:04 · 1 นาที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5F596B"/>
                </a:solidFill>
                <a:latin typeface="Sarabun"/>
                <a:ea typeface="Sarabun"/>
                <a:cs typeface="Sarabun"/>
              </a:rPr>
              <a:t>AI ผู้ช่วยส่วนตัว Workshop · 7 พ.ย. 2026 · Living Room Thonglor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5F596B"/>
                </a:solidFill>
                <a:latin typeface="Sarabun"/>
                <a:ea typeface="Sarabun"/>
                <a:cs typeface="Sarabun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572768"/>
            <a:ext cx="1920240" cy="3520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1005840" y="1801368"/>
            <a:ext cx="685800" cy="685800"/>
          </a:xfrm>
          <a:prstGeom prst="ellipse">
            <a:avLst/>
          </a:prstGeom>
          <a:solidFill>
            <a:srgbClr val="7B4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2200" b="1">
                <a:solidFill>
                  <a:srgbClr val="FFFFFF"/>
                </a:solidFill>
                <a:latin typeface="Prompt"/>
                <a:ea typeface="Prompt"/>
                <a:cs typeface="Prompt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70048"/>
            <a:ext cx="1600200" cy="54864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900" b="1" i="0">
                <a:solidFill>
                  <a:srgbClr val="4B2A7B"/>
                </a:solidFill>
                <a:latin typeface="Prompt"/>
                <a:ea typeface="Prompt"/>
                <a:cs typeface="Prompt"/>
              </a:rPr>
              <a:t>ต่อ Wi-Fi ร้าน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218688"/>
            <a:ext cx="1600200" cy="17373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[ชื่อ Wi-Fi / รหัส — ผู้จัดเติม]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6080" y="1572768"/>
            <a:ext cx="2743200" cy="3520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7B4F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3154680" y="1801368"/>
            <a:ext cx="1920240" cy="347472"/>
          </a:xfrm>
          <a:prstGeom prst="roundRect">
            <a:avLst>
              <a:gd name="adj" fmla="val 50000"/>
            </a:avLst>
          </a:prstGeom>
          <a:solidFill>
            <a:srgbClr val="4B2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Prompt"/>
                <a:ea typeface="Prompt"/>
                <a:cs typeface="Prompt"/>
              </a:rPr>
              <a:t>★ ใช้หลักใน Workshop</a:t>
            </a:r>
          </a:p>
        </p:txBody>
      </p:sp>
      <p:sp>
        <p:nvSpPr>
          <p:cNvPr id="14" name="Oval 13"/>
          <p:cNvSpPr/>
          <p:nvPr/>
        </p:nvSpPr>
        <p:spPr>
          <a:xfrm>
            <a:off x="5120640" y="1755648"/>
            <a:ext cx="438912" cy="438912"/>
          </a:xfrm>
          <a:prstGeom prst="ellipse">
            <a:avLst/>
          </a:prstGeom>
          <a:solidFill>
            <a:srgbClr val="7B4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Prompt"/>
                <a:ea typeface="Prompt"/>
                <a:cs typeface="Prompt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2286000"/>
            <a:ext cx="2377440" cy="45720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200" b="1" i="0">
                <a:solidFill>
                  <a:srgbClr val="4B2A7B"/>
                </a:solidFill>
                <a:latin typeface="Prompt"/>
                <a:ea typeface="Prompt"/>
                <a:cs typeface="Prompt"/>
              </a:rPr>
              <a:t>Grok Bot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2743200"/>
            <a:ext cx="2377440" cy="32004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1" i="0">
                <a:solidFill>
                  <a:srgbClr val="7B4FC9"/>
                </a:solidFill>
                <a:latin typeface="Prompt"/>
                <a:ea typeface="Prompt"/>
                <a:cs typeface="Prompt"/>
              </a:rPr>
              <a:t>สร้าง Agent ใน Part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127248"/>
            <a:ext cx="2468880" cy="1874519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400" b="1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ติดตั้ง: </a:t>
            </a:r>
            <a:r>
              <a:rPr sz="1400" b="1" i="0" u="sng">
                <a:solidFill>
                  <a:srgbClr val="7B4FC9"/>
                </a:solidFill>
                <a:latin typeface="Sarabun"/>
                <a:ea typeface="Sarabun"/>
                <a:cs typeface="Sarabun"/>
                <a:hlinkClick r:id="rId2"/>
              </a:rPr>
              <a:t>x.ai/bot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400" b="1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Sign in: </a:t>
            </a:r>
            <a:r>
              <a:rPr sz="140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บัญชี Cursor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F596B"/>
                </a:solidFill>
                <a:latin typeface="Sarabun"/>
                <a:ea typeface="Sarabun"/>
                <a:cs typeface="Sarabun"/>
              </a:rPr>
              <a:t>Mac / Windows / Linux / มือถือ · แนะนำโน้ตบุ๊ก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F596B"/>
                </a:solidFill>
                <a:latin typeface="Sarabun"/>
                <a:ea typeface="Sarabun"/>
                <a:cs typeface="Sarabun"/>
              </a:rPr>
              <a:t>ต้องมี Cursor Pro / Pro+ / Ultra / Teams หรือ SuperGrok / X Premium+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52160" y="1572768"/>
            <a:ext cx="2743200" cy="3520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7B4F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6080760" y="1801368"/>
            <a:ext cx="1920240" cy="347472"/>
          </a:xfrm>
          <a:prstGeom prst="roundRect">
            <a:avLst>
              <a:gd name="adj" fmla="val 50000"/>
            </a:avLst>
          </a:prstGeom>
          <a:solidFill>
            <a:srgbClr val="4B2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Prompt"/>
                <a:ea typeface="Prompt"/>
                <a:cs typeface="Prompt"/>
              </a:rPr>
              <a:t>★ ใช้หลักใน Workshop</a:t>
            </a:r>
          </a:p>
        </p:txBody>
      </p:sp>
      <p:sp>
        <p:nvSpPr>
          <p:cNvPr id="20" name="Oval 19"/>
          <p:cNvSpPr/>
          <p:nvPr/>
        </p:nvSpPr>
        <p:spPr>
          <a:xfrm>
            <a:off x="8046720" y="1755648"/>
            <a:ext cx="438912" cy="438912"/>
          </a:xfrm>
          <a:prstGeom prst="ellipse">
            <a:avLst/>
          </a:prstGeom>
          <a:solidFill>
            <a:srgbClr val="7B4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Prompt"/>
                <a:ea typeface="Prompt"/>
                <a:cs typeface="Promp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2286000"/>
            <a:ext cx="2377440" cy="45720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200" b="1" i="0">
                <a:solidFill>
                  <a:srgbClr val="4B2A7B"/>
                </a:solidFill>
                <a:latin typeface="Prompt"/>
                <a:ea typeface="Prompt"/>
                <a:cs typeface="Prompt"/>
              </a:rPr>
              <a:t>ChatGPT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60" y="2743200"/>
            <a:ext cx="2377440" cy="32004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1" i="0">
                <a:solidFill>
                  <a:srgbClr val="7B4FC9"/>
                </a:solidFill>
                <a:latin typeface="Prompt"/>
                <a:ea typeface="Prompt"/>
                <a:cs typeface="Prompt"/>
              </a:rPr>
              <a:t>Part 1 + แผนสำรอง (ฟรี)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3127248"/>
            <a:ext cx="2468880" cy="1874519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400" b="1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Sign in: </a:t>
            </a:r>
            <a:r>
              <a:rPr sz="1400" b="1" i="0" u="sng">
                <a:solidFill>
                  <a:srgbClr val="7B4FC9"/>
                </a:solidFill>
                <a:latin typeface="Sarabun"/>
                <a:ea typeface="Sarabun"/>
                <a:cs typeface="Sarabun"/>
                <a:hlinkClick r:id="rId3"/>
              </a:rPr>
              <a:t>chatgpt.com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50" b="1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แอป: </a:t>
            </a:r>
            <a:r>
              <a:rPr sz="1350" b="1" i="0" u="sng">
                <a:solidFill>
                  <a:srgbClr val="7B4FC9"/>
                </a:solidFill>
                <a:latin typeface="Sarabun"/>
                <a:ea typeface="Sarabun"/>
                <a:cs typeface="Sarabun"/>
                <a:hlinkClick r:id="rId4"/>
              </a:rPr>
              <a:t>chatgpt.com/download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F596B"/>
                </a:solidFill>
                <a:latin typeface="Sarabun"/>
                <a:ea typeface="Sarabun"/>
                <a:cs typeface="Sarabun"/>
              </a:rPr>
              <a:t>บัญชีฟรีใช้ได้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F596B"/>
                </a:solidFill>
                <a:latin typeface="Sarabun"/>
                <a:ea typeface="Sarabun"/>
                <a:cs typeface="Sarabun"/>
              </a:rPr>
              <a:t>ไม่มีแพ็กเกจ Grok Bot? ใช้ ChatGPT Projects ฟรีแทนได้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78240" y="1572768"/>
            <a:ext cx="2560320" cy="3520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9006840" y="1801368"/>
            <a:ext cx="1051560" cy="347472"/>
          </a:xfrm>
          <a:prstGeom prst="roundRect">
            <a:avLst>
              <a:gd name="adj" fmla="val 50000"/>
            </a:avLst>
          </a:prstGeom>
          <a:solidFill>
            <a:srgbClr val="E7D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200" b="1">
                <a:solidFill>
                  <a:srgbClr val="4B2A7B"/>
                </a:solidFill>
                <a:latin typeface="Prompt"/>
                <a:ea typeface="Prompt"/>
                <a:cs typeface="Prompt"/>
              </a:rPr>
              <a:t>ทางเลือก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06840" y="2286000"/>
            <a:ext cx="2194560" cy="45720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 i="0">
                <a:solidFill>
                  <a:srgbClr val="4B2A7B"/>
                </a:solidFill>
                <a:latin typeface="Prompt"/>
                <a:ea typeface="Prompt"/>
                <a:cs typeface="Prompt"/>
              </a:rPr>
              <a:t>ลองเพิ่มได้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6840" y="2761488"/>
            <a:ext cx="2240280" cy="224028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00" b="1" i="0">
                <a:solidFill>
                  <a:srgbClr val="4B2A7B"/>
                </a:solidFill>
                <a:latin typeface="Prompt"/>
                <a:ea typeface="Prompt"/>
                <a:cs typeface="Prompt"/>
              </a:rPr>
              <a:t>Claude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50" b="1" i="0" u="sng">
                <a:solidFill>
                  <a:srgbClr val="7B4FC9"/>
                </a:solidFill>
                <a:latin typeface="Sarabun"/>
                <a:ea typeface="Sarabun"/>
                <a:cs typeface="Sarabun"/>
                <a:hlinkClick r:id="rId5"/>
              </a:rPr>
              <a:t>claude.ai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50" b="1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แอป: </a:t>
            </a:r>
            <a:r>
              <a:rPr sz="1350" b="1" i="0" u="sng">
                <a:solidFill>
                  <a:srgbClr val="7B4FC9"/>
                </a:solidFill>
                <a:latin typeface="Sarabun"/>
                <a:ea typeface="Sarabun"/>
                <a:cs typeface="Sarabun"/>
                <a:hlinkClick r:id="rId6"/>
              </a:rPr>
              <a:t>claude.ai/download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00" b="1" i="0">
                <a:solidFill>
                  <a:srgbClr val="4B2A7B"/>
                </a:solidFill>
                <a:latin typeface="Prompt"/>
                <a:ea typeface="Prompt"/>
                <a:cs typeface="Prompt"/>
              </a:rPr>
              <a:t>Gemini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50" b="1" i="0" u="sng">
                <a:solidFill>
                  <a:srgbClr val="7B4FC9"/>
                </a:solidFill>
                <a:latin typeface="Sarabun"/>
                <a:ea typeface="Sarabun"/>
                <a:cs typeface="Sarabun"/>
                <a:hlinkClick r:id="rId7"/>
              </a:rPr>
              <a:t>gemini.google.com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 i="0">
                <a:solidFill>
                  <a:srgbClr val="5F596B"/>
                </a:solidFill>
                <a:latin typeface="Sarabun"/>
                <a:ea typeface="Sarabun"/>
                <a:cs typeface="Sarabun"/>
              </a:rPr>
              <a:t>มือถือ: แอป Gemini (iOS / Android)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5285232"/>
            <a:ext cx="10515600" cy="868680"/>
          </a:xfrm>
          <a:prstGeom prst="roundRect">
            <a:avLst>
              <a:gd name="adj" fmla="val 20000"/>
            </a:avLst>
          </a:prstGeom>
          <a:solidFill>
            <a:srgbClr val="FFF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/>
            <a:r>
              <a:rPr sz="1500" b="1">
                <a:solidFill>
                  <a:srgbClr val="9A5600"/>
                </a:solidFill>
                <a:latin typeface="Sarabun"/>
                <a:ea typeface="Sarabun"/>
                <a:cs typeface="Sarabun"/>
              </a:rPr>
              <a:t>ทำให้เสร็จก่อนวันงาน: </a:t>
            </a:r>
            <a:r>
              <a:rPr sz="1500" b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ติดตั้ง → Sign in → ทำขั้นตอนแนะนำครั้งแรกของ Grok Bot ให้จบ (ใช้เวลาสักพัก)</a:t>
            </a:r>
          </a:p>
          <a:p>
            <a:pPr algn="l"/>
            <a:r>
              <a:rPr sz="1400" b="0">
                <a:solidFill>
                  <a:srgbClr val="5F596B"/>
                </a:solidFill>
                <a:latin typeface="Sarabun"/>
                <a:ea typeface="Sarabun"/>
                <a:cs typeface="Sarabun"/>
              </a:rPr>
              <a:t>ใช้บัญชีส่วนตัว ไม่ใช่บัญชีบริษัท (Copilot องค์กร / Workspace ที่ทำงาน)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B2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772400" cy="3657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 i="0">
                <a:solidFill>
                  <a:srgbClr val="7B4FC9"/>
                </a:solidFill>
                <a:latin typeface="Prompt"/>
                <a:ea typeface="Prompt"/>
                <a:cs typeface="Prompt"/>
              </a:rPr>
              <a:t>Part 1 · พื้นฐาน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9509760" cy="8229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1" i="0">
                <a:solidFill>
                  <a:srgbClr val="4B2A7B"/>
                </a:solidFill>
                <a:latin typeface="Prompt"/>
                <a:ea typeface="Prompt"/>
                <a:cs typeface="Prompt"/>
              </a:rPr>
              <a:t>AI คืออะไร — แบบภาษาคน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555480" y="384048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E7D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200" b="1">
                <a:solidFill>
                  <a:srgbClr val="4B2A7B"/>
                </a:solidFill>
                <a:latin typeface="Prompt"/>
                <a:ea typeface="Prompt"/>
                <a:cs typeface="Prompt"/>
              </a:rPr>
              <a:t>⏱ 13:05 · 4 นาที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5F596B"/>
                </a:solidFill>
                <a:latin typeface="Sarabun"/>
                <a:ea typeface="Sarabun"/>
                <a:cs typeface="Sarabun"/>
              </a:rPr>
              <a:t>AI ผู้ช่วยส่วนตัว Workshop · 7 พ.ย. 2026 · Living Room Thonglor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5F596B"/>
                </a:solidFill>
                <a:latin typeface="Sarabun"/>
                <a:ea typeface="Sarabun"/>
                <a:cs typeface="Sarabun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508760"/>
            <a:ext cx="10515600" cy="1417320"/>
          </a:xfrm>
          <a:prstGeom prst="roundRect">
            <a:avLst>
              <a:gd name="adj" fmla="val 12000"/>
            </a:avLst>
          </a:prstGeom>
          <a:solidFill>
            <a:srgbClr val="E7D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97280" y="1591056"/>
            <a:ext cx="10058400" cy="77724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900" b="1" i="0">
                <a:solidFill>
                  <a:srgbClr val="4B2A7B"/>
                </a:solidFill>
                <a:latin typeface="Prompt"/>
                <a:ea typeface="Prompt"/>
                <a:cs typeface="Prompt"/>
              </a:rPr>
              <a:t>AI (Artificial Intelligence / ปัญญาประดิษฐ์) </a:t>
            </a:r>
            <a:r>
              <a:rPr sz="170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= โปรแกรมคอมพิวเตอร์ที่เรียนรู้จากข้อมูลจำนวนมหาศาล เพื่อทำงานที่ปกติต้องใช้ความคิดแบบมนุษย์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2432304"/>
            <a:ext cx="1435608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300" b="1">
                <a:solidFill>
                  <a:srgbClr val="4B2A7B"/>
                </a:solidFill>
                <a:latin typeface="Prompt"/>
                <a:ea typeface="Prompt"/>
                <a:cs typeface="Prompt"/>
              </a:rPr>
              <a:t>เข้าใจภาษา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70048" y="2432304"/>
            <a:ext cx="1225296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300" b="1">
                <a:solidFill>
                  <a:srgbClr val="4B2A7B"/>
                </a:solidFill>
                <a:latin typeface="Prompt"/>
                <a:ea typeface="Prompt"/>
                <a:cs typeface="Prompt"/>
              </a:rPr>
              <a:t>ตอบคำถาม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32504" y="2432304"/>
            <a:ext cx="909828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300" b="1">
                <a:solidFill>
                  <a:srgbClr val="4B2A7B"/>
                </a:solidFill>
                <a:latin typeface="Prompt"/>
                <a:ea typeface="Prompt"/>
                <a:cs typeface="Prompt"/>
              </a:rPr>
              <a:t>เขียน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79492" y="2432304"/>
            <a:ext cx="1435608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300" b="1">
                <a:solidFill>
                  <a:srgbClr val="4B2A7B"/>
                </a:solidFill>
                <a:latin typeface="Prompt"/>
                <a:ea typeface="Prompt"/>
                <a:cs typeface="Prompt"/>
              </a:rPr>
              <a:t>สรุปเอกสาร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52259" y="2432304"/>
            <a:ext cx="112014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300" b="1">
                <a:solidFill>
                  <a:srgbClr val="4B2A7B"/>
                </a:solidFill>
                <a:latin typeface="Prompt"/>
                <a:ea typeface="Prompt"/>
                <a:cs typeface="Prompt"/>
              </a:rPr>
              <a:t>จดจำภาพ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09559" y="2432304"/>
            <a:ext cx="1435608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300" b="1">
                <a:solidFill>
                  <a:srgbClr val="4B2A7B"/>
                </a:solidFill>
                <a:latin typeface="Prompt"/>
                <a:ea typeface="Prompt"/>
                <a:cs typeface="Prompt"/>
              </a:rPr>
              <a:t>ช่วยวางแผน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090672"/>
            <a:ext cx="3383280" cy="1801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1051560" y="3291840"/>
            <a:ext cx="457200" cy="64008"/>
          </a:xfrm>
          <a:prstGeom prst="rect">
            <a:avLst/>
          </a:prstGeom>
          <a:solidFill>
            <a:srgbClr val="7B4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005840" y="3410712"/>
            <a:ext cx="3017520" cy="5029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 i="0">
                <a:solidFill>
                  <a:srgbClr val="4B2A7B"/>
                </a:solidFill>
                <a:latin typeface="Prompt"/>
                <a:ea typeface="Prompt"/>
                <a:cs typeface="Prompt"/>
              </a:rPr>
              <a:t>LLM = โมเดลภาษา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867912"/>
            <a:ext cx="3017520" cy="932687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ChatGPT · Claude · Gemini · Grok Bot ฝึกจากข้อความมหาศาล เพื่อเดา “คำตอบที่เหมาะสม” ทีละคำ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3090672"/>
            <a:ext cx="3383280" cy="1801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4617720" y="3291840"/>
            <a:ext cx="457200" cy="64008"/>
          </a:xfrm>
          <a:prstGeom prst="rect">
            <a:avLst/>
          </a:prstGeom>
          <a:solidFill>
            <a:srgbClr val="7B4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572000" y="3410712"/>
            <a:ext cx="3017520" cy="5029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 i="0">
                <a:solidFill>
                  <a:srgbClr val="4B2A7B"/>
                </a:solidFill>
                <a:latin typeface="Prompt"/>
                <a:ea typeface="Prompt"/>
                <a:cs typeface="Prompt"/>
              </a:rPr>
              <a:t>คุยได้เหมือนคน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867912"/>
            <a:ext cx="3017520" cy="932687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สั่งงานด้วยภาษาธรรมดา (ไทยก็ได้) → เขียน สรุป แปล วางแผน ตอบคำถาม หรือช่วยคิดให้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55279" y="3090672"/>
            <a:ext cx="3383280" cy="1801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8183879" y="3291840"/>
            <a:ext cx="457200" cy="64008"/>
          </a:xfrm>
          <a:prstGeom prst="rect">
            <a:avLst/>
          </a:prstGeom>
          <a:solidFill>
            <a:srgbClr val="7B4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138159" y="3410712"/>
            <a:ext cx="3017520" cy="5029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 i="0">
                <a:solidFill>
                  <a:srgbClr val="4B2A7B"/>
                </a:solidFill>
                <a:latin typeface="Prompt"/>
                <a:ea typeface="Prompt"/>
                <a:cs typeface="Prompt"/>
              </a:rPr>
              <a:t>แต่ไม่ได้ “รู้” แบบคน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59" y="3867912"/>
            <a:ext cx="3017520" cy="932687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ไม่ได้เข้าใจจริงแบบมนุษย์ · ตอบผิดได้แบบมั่นใจ (hallucination) · เรื่องสำคัญต้องตรวจสอบเสมอ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5074920"/>
            <a:ext cx="10515600" cy="1051560"/>
          </a:xfrm>
          <a:prstGeom prst="roundRect">
            <a:avLst>
              <a:gd name="adj" fmla="val 15000"/>
            </a:avLst>
          </a:prstGeom>
          <a:solidFill>
            <a:srgbClr val="4B2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l"/>
            <a:r>
              <a:rPr sz="1900" b="1">
                <a:solidFill>
                  <a:srgbClr val="C9B6EE"/>
                </a:solidFill>
                <a:latin typeface="Prompt"/>
                <a:ea typeface="Prompt"/>
                <a:cs typeface="Prompt"/>
              </a:rPr>
              <a:t>เปรียบง่ายๆ: </a:t>
            </a:r>
            <a:r>
              <a:rPr sz="1900" b="0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AI คือ “ผู้ช่วยฝึกงานที่เก่งมาก ทำงานเร็ว แต่ยังไม่รู้จักคุณ”</a:t>
            </a:r>
          </a:p>
          <a:p>
            <a:pPr algn="l"/>
            <a:r>
              <a:rPr sz="1500" b="0">
                <a:solidFill>
                  <a:srgbClr val="E7DEF8"/>
                </a:solidFill>
                <a:latin typeface="Sarabun"/>
                <a:ea typeface="Sarabun"/>
                <a:cs typeface="Sarabun"/>
              </a:rPr>
              <a:t>ยิ่งเราบอกบริบทชัด → งานยิ่งตรงใจ  (นี่คือหัวใจของ Part 2)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B2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772400" cy="3657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 i="0">
                <a:solidFill>
                  <a:srgbClr val="7B4FC9"/>
                </a:solidFill>
                <a:latin typeface="Prompt"/>
                <a:ea typeface="Prompt"/>
                <a:cs typeface="Prompt"/>
              </a:rPr>
              <a:t>Part 1 · รู้จักเครื่องมือ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9509760" cy="8229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1" i="0">
                <a:solidFill>
                  <a:srgbClr val="4B2A7B"/>
                </a:solidFill>
                <a:latin typeface="Prompt"/>
                <a:ea typeface="Prompt"/>
                <a:cs typeface="Prompt"/>
              </a:rPr>
              <a:t>ChatGPT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555480" y="384048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E7D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200" b="1">
                <a:solidFill>
                  <a:srgbClr val="4B2A7B"/>
                </a:solidFill>
                <a:latin typeface="Prompt"/>
                <a:ea typeface="Prompt"/>
                <a:cs typeface="Prompt"/>
              </a:rPr>
              <a:t>⏱ 13:09 · 3.5 นาที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5F596B"/>
                </a:solidFill>
                <a:latin typeface="Sarabun"/>
                <a:ea typeface="Sarabun"/>
                <a:cs typeface="Sarabun"/>
              </a:rPr>
              <a:t>AI ผู้ช่วยส่วนตัว Workshop · 7 พ.ย. 2026 · Living Room Thonglor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5F596B"/>
                </a:solidFill>
                <a:latin typeface="Sarabun"/>
                <a:ea typeface="Sarabun"/>
                <a:cs typeface="Sarabun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10058400" cy="41148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0" i="0">
                <a:solidFill>
                  <a:srgbClr val="5F596B"/>
                </a:solidFill>
                <a:latin typeface="Sarabun"/>
                <a:ea typeface="Sarabun"/>
                <a:cs typeface="Sarabun"/>
              </a:rPr>
              <a:t>OpenAI · ผู้ช่วยรอบด้าน ใช้ง่าย ฟีเจอร์ครบ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874519"/>
            <a:ext cx="4937760" cy="3429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051560" y="2011680"/>
            <a:ext cx="4572000" cy="45720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000" b="1" i="0">
                <a:solidFill>
                  <a:srgbClr val="4B2A7B"/>
                </a:solidFill>
                <a:latin typeface="Prompt"/>
                <a:ea typeface="Prompt"/>
                <a:cs typeface="Prompt"/>
              </a:rPr>
              <a:t>เหมาะกับ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514600"/>
            <a:ext cx="4572000" cy="274320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5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•  ใช้งานทั่วไปทุกวัน: เขียน สรุป แปล ระดมไอเดีย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5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•  คุยด้วยเสียง / ถ่ายรูปถาม (เช่น ฉลาก ป้าย เมนูต่างประเทศ)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5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•  สร้างภาพ วิเคราะห์ไฟล์ PDF / Excel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5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•  Projects: รวมแชต + ไฟล์ + คำสั่งประจำ (แผนสำรองใน Part 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1874519"/>
            <a:ext cx="5486400" cy="45720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000" b="1" i="0">
                <a:solidFill>
                  <a:srgbClr val="4B2A7B"/>
                </a:solidFill>
                <a:latin typeface="Prompt"/>
                <a:ea typeface="Prompt"/>
                <a:cs typeface="Prompt"/>
              </a:rPr>
              <a:t>ลองพิมพ์แบบนี้ (ตัวอย่าง Prompt)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2377440"/>
            <a:ext cx="5303520" cy="865632"/>
          </a:xfrm>
          <a:prstGeom prst="roundRect">
            <a:avLst>
              <a:gd name="adj" fmla="val 12000"/>
            </a:avLst>
          </a:prstGeom>
          <a:solidFill>
            <a:srgbClr val="E7D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035040" y="2377440"/>
            <a:ext cx="82296" cy="865632"/>
          </a:xfrm>
          <a:prstGeom prst="rect">
            <a:avLst/>
          </a:prstGeom>
          <a:solidFill>
            <a:srgbClr val="7B4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263640" y="2423160"/>
            <a:ext cx="4983480" cy="774192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5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“วางแผนเมนูอาหารเย็น 5 วัน สำหรับ 2 คน งบ 1,500 บาท ไม่เผ็ด ทำเสร็จใน 30 นาที”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3352800"/>
            <a:ext cx="5303520" cy="865632"/>
          </a:xfrm>
          <a:prstGeom prst="roundRect">
            <a:avLst>
              <a:gd name="adj" fmla="val 12000"/>
            </a:avLst>
          </a:prstGeom>
          <a:solidFill>
            <a:srgbClr val="E7D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035040" y="3352800"/>
            <a:ext cx="82296" cy="865632"/>
          </a:xfrm>
          <a:prstGeom prst="rect">
            <a:avLst/>
          </a:prstGeom>
          <a:solidFill>
            <a:srgbClr val="7B4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263640" y="3398520"/>
            <a:ext cx="4983480" cy="774192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5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“สรุปข้อความยาวนี้เป็น 3 bullet แล้วร่างคำตอบแบบสุภาพ”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35040" y="4328160"/>
            <a:ext cx="5303520" cy="865632"/>
          </a:xfrm>
          <a:prstGeom prst="roundRect">
            <a:avLst>
              <a:gd name="adj" fmla="val 12000"/>
            </a:avLst>
          </a:prstGeom>
          <a:solidFill>
            <a:srgbClr val="E7D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035040" y="4328160"/>
            <a:ext cx="82296" cy="865632"/>
          </a:xfrm>
          <a:prstGeom prst="rect">
            <a:avLst/>
          </a:prstGeom>
          <a:solidFill>
            <a:srgbClr val="7B4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263640" y="4373880"/>
            <a:ext cx="4983480" cy="774192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5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“(แนบรูป) แปลเมนูร้านนี้ และแนะนำจานที่ไม่มีหมู”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5486400"/>
            <a:ext cx="10515600" cy="731520"/>
          </a:xfrm>
          <a:prstGeom prst="roundRect">
            <a:avLst>
              <a:gd name="adj" fmla="val 20000"/>
            </a:avLst>
          </a:prstGeom>
          <a:solidFill>
            <a:srgbClr val="4B2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l"/>
            <a:r>
              <a:rPr sz="1400" b="1">
                <a:solidFill>
                  <a:srgbClr val="C9B6EE"/>
                </a:solidFill>
                <a:latin typeface="Prompt"/>
                <a:ea typeface="Prompt"/>
                <a:cs typeface="Prompt"/>
              </a:rPr>
              <a:t>ฟรี: </a:t>
            </a:r>
            <a:r>
              <a:rPr sz="1400" b="0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ใช้ได้ทุกวัน มีลิมิตการใช้งานบางฟีเจอร์ · Projects ใช้ได้</a:t>
            </a:r>
            <a:r>
              <a:rPr sz="1400" b="1">
                <a:solidFill>
                  <a:srgbClr val="C9B6EE"/>
                </a:solidFill>
                <a:latin typeface="Prompt"/>
                <a:ea typeface="Prompt"/>
                <a:cs typeface="Prompt"/>
              </a:rPr>
              <a:t>    |    จ่ายเงิน: </a:t>
            </a:r>
            <a:r>
              <a:rPr sz="1400" b="0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Go / Plus / Pro (ราคาในไทย ควรเช็กอีกครั้ง)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B2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772400" cy="3657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 i="0">
                <a:solidFill>
                  <a:srgbClr val="7B4FC9"/>
                </a:solidFill>
                <a:latin typeface="Prompt"/>
                <a:ea typeface="Prompt"/>
                <a:cs typeface="Prompt"/>
              </a:rPr>
              <a:t>Part 1 · รู้จักเครื่องมือ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9509760" cy="8229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1" i="0">
                <a:solidFill>
                  <a:srgbClr val="4B2A7B"/>
                </a:solidFill>
                <a:latin typeface="Prompt"/>
                <a:ea typeface="Prompt"/>
                <a:cs typeface="Prompt"/>
              </a:rPr>
              <a:t>Claude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555480" y="384048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E7D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200" b="1">
                <a:solidFill>
                  <a:srgbClr val="4B2A7B"/>
                </a:solidFill>
                <a:latin typeface="Prompt"/>
                <a:ea typeface="Prompt"/>
                <a:cs typeface="Prompt"/>
              </a:rPr>
              <a:t>⏱ 13:12 · 3.5 นาที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5F596B"/>
                </a:solidFill>
                <a:latin typeface="Sarabun"/>
                <a:ea typeface="Sarabun"/>
                <a:cs typeface="Sarabun"/>
              </a:rPr>
              <a:t>AI ผู้ช่วยส่วนตัว Workshop · 7 พ.ย. 2026 · Living Room Thonglor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5F596B"/>
                </a:solidFill>
                <a:latin typeface="Sarabun"/>
                <a:ea typeface="Sarabun"/>
                <a:cs typeface="Sarabun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10058400" cy="41148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0" i="0">
                <a:solidFill>
                  <a:srgbClr val="5F596B"/>
                </a:solidFill>
                <a:latin typeface="Sarabun"/>
                <a:ea typeface="Sarabun"/>
                <a:cs typeface="Sarabun"/>
              </a:rPr>
              <a:t>Anthropic · เด่นเรื่องงานเขียนและเอกสารยาว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874519"/>
            <a:ext cx="4937760" cy="3429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051560" y="2011680"/>
            <a:ext cx="4572000" cy="45720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000" b="1" i="0">
                <a:solidFill>
                  <a:srgbClr val="4B2A7B"/>
                </a:solidFill>
                <a:latin typeface="Prompt"/>
                <a:ea typeface="Prompt"/>
                <a:cs typeface="Prompt"/>
              </a:rPr>
              <a:t>เหมาะกับ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514600"/>
            <a:ext cx="4572000" cy="274320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5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•  งานเขียนที่อยากได้โทนเป็นธรรมชาติ สุภาพ เป็นมืออาชีพ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5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•  อ่าน/สรุปเอกสารยาว: สัญญา รายงาน คู่มือ (แนบไฟล์ได้)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5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•  คิดวิเคราะห์เป็นขั้นตอน ช่วยตัดสินใจ ชั่งข้อดีข้อเสีย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5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•  Projects: เก็บคำสั่ง + ไฟล์อ้างอิงไว้ใช้ซ้ำ (ฟรีได้สูงสุด 5 อัน)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1874519"/>
            <a:ext cx="5486400" cy="45720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000" b="1" i="0">
                <a:solidFill>
                  <a:srgbClr val="4B2A7B"/>
                </a:solidFill>
                <a:latin typeface="Prompt"/>
                <a:ea typeface="Prompt"/>
                <a:cs typeface="Prompt"/>
              </a:rPr>
              <a:t>ลองพิมพ์แบบนี้ (ตัวอย่าง Prompt)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2377440"/>
            <a:ext cx="5303520" cy="865632"/>
          </a:xfrm>
          <a:prstGeom prst="roundRect">
            <a:avLst>
              <a:gd name="adj" fmla="val 12000"/>
            </a:avLst>
          </a:prstGeom>
          <a:solidFill>
            <a:srgbClr val="E7D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035040" y="2377440"/>
            <a:ext cx="82296" cy="865632"/>
          </a:xfrm>
          <a:prstGeom prst="rect">
            <a:avLst/>
          </a:prstGeom>
          <a:solidFill>
            <a:srgbClr val="7B4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263640" y="2423160"/>
            <a:ext cx="4983480" cy="774192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5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“อ่านสัญญาเช่าคอนโดนี้ แล้วสรุป 5 ข้อที่ผู้เช่าควรระวัง เป็นภาษาง่ายๆ”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3352800"/>
            <a:ext cx="5303520" cy="865632"/>
          </a:xfrm>
          <a:prstGeom prst="roundRect">
            <a:avLst>
              <a:gd name="adj" fmla="val 12000"/>
            </a:avLst>
          </a:prstGeom>
          <a:solidFill>
            <a:srgbClr val="E7D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035040" y="3352800"/>
            <a:ext cx="82296" cy="865632"/>
          </a:xfrm>
          <a:prstGeom prst="rect">
            <a:avLst/>
          </a:prstGeom>
          <a:solidFill>
            <a:srgbClr val="7B4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263640" y="3398520"/>
            <a:ext cx="4983480" cy="774192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5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“ช่วยเกลาโพสต์ LinkedIn นี้ให้กระชับและเป็นมืออาชีพ แต่ยังเป็นสไตล์ฉัน”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35040" y="4328160"/>
            <a:ext cx="5303520" cy="865632"/>
          </a:xfrm>
          <a:prstGeom prst="roundRect">
            <a:avLst>
              <a:gd name="adj" fmla="val 12000"/>
            </a:avLst>
          </a:prstGeom>
          <a:solidFill>
            <a:srgbClr val="E7D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035040" y="4328160"/>
            <a:ext cx="82296" cy="865632"/>
          </a:xfrm>
          <a:prstGeom prst="rect">
            <a:avLst/>
          </a:prstGeom>
          <a:solidFill>
            <a:srgbClr val="7B4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263640" y="4373880"/>
            <a:ext cx="4983480" cy="774192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5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“ทำ checklist เตรียมย้ายบ้านแบบตาราง แบ่งตามสัปดาห์”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5486400"/>
            <a:ext cx="10515600" cy="731520"/>
          </a:xfrm>
          <a:prstGeom prst="roundRect">
            <a:avLst>
              <a:gd name="adj" fmla="val 20000"/>
            </a:avLst>
          </a:prstGeom>
          <a:solidFill>
            <a:srgbClr val="4B2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l"/>
            <a:r>
              <a:rPr sz="1400" b="1">
                <a:solidFill>
                  <a:srgbClr val="C9B6EE"/>
                </a:solidFill>
                <a:latin typeface="Prompt"/>
                <a:ea typeface="Prompt"/>
                <a:cs typeface="Prompt"/>
              </a:rPr>
              <a:t>ฟรี: </a:t>
            </a:r>
            <a:r>
              <a:rPr sz="1400" b="0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แชต ค้นเว็บ แนบไฟล์ · Projects สูงสุด 5 อัน</a:t>
            </a:r>
            <a:r>
              <a:rPr sz="1400" b="1">
                <a:solidFill>
                  <a:srgbClr val="C9B6EE"/>
                </a:solidFill>
                <a:latin typeface="Prompt"/>
                <a:ea typeface="Prompt"/>
                <a:cs typeface="Prompt"/>
              </a:rPr>
              <a:t>    |    จ่ายเงิน: </a:t>
            </a:r>
            <a:r>
              <a:rPr sz="1400" b="0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Pro US$17/เดือน (รายปี) หรือ $20 รายเดือน · Max เริ่ม $100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B2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772400" cy="3657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 i="0">
                <a:solidFill>
                  <a:srgbClr val="7B4FC9"/>
                </a:solidFill>
                <a:latin typeface="Prompt"/>
                <a:ea typeface="Prompt"/>
                <a:cs typeface="Prompt"/>
              </a:rPr>
              <a:t>Part 1 · รู้จักเครื่องมือ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9509760" cy="8229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1" i="0">
                <a:solidFill>
                  <a:srgbClr val="4B2A7B"/>
                </a:solidFill>
                <a:latin typeface="Prompt"/>
                <a:ea typeface="Prompt"/>
                <a:cs typeface="Prompt"/>
              </a:rPr>
              <a:t>Gemini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555480" y="384048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E7D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200" b="1">
                <a:solidFill>
                  <a:srgbClr val="4B2A7B"/>
                </a:solidFill>
                <a:latin typeface="Prompt"/>
                <a:ea typeface="Prompt"/>
                <a:cs typeface="Prompt"/>
              </a:rPr>
              <a:t>⏱ 13:16 · 3.5 นาที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5F596B"/>
                </a:solidFill>
                <a:latin typeface="Sarabun"/>
                <a:ea typeface="Sarabun"/>
                <a:cs typeface="Sarabun"/>
              </a:rPr>
              <a:t>AI ผู้ช่วยส่วนตัว Workshop · 7 พ.ย. 2026 · Living Room Thonglor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5F596B"/>
                </a:solidFill>
                <a:latin typeface="Sarabun"/>
                <a:ea typeface="Sarabun"/>
                <a:cs typeface="Sarabun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10058400" cy="41148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0" i="0">
                <a:solidFill>
                  <a:srgbClr val="5F596B"/>
                </a:solidFill>
                <a:latin typeface="Sarabun"/>
                <a:ea typeface="Sarabun"/>
                <a:cs typeface="Sarabun"/>
              </a:rPr>
              <a:t>Google · เชื่อมกับโลก Google ที่เราใช้อยู่แล้ว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874519"/>
            <a:ext cx="4937760" cy="3429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051560" y="2011680"/>
            <a:ext cx="4572000" cy="45720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000" b="1" i="0">
                <a:solidFill>
                  <a:srgbClr val="4B2A7B"/>
                </a:solidFill>
                <a:latin typeface="Prompt"/>
                <a:ea typeface="Prompt"/>
                <a:cs typeface="Prompt"/>
              </a:rPr>
              <a:t>เหมาะกับ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514600"/>
            <a:ext cx="4572000" cy="274320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5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•  คนที่ใช้ Gmail / Drive / Maps / YouTube / Android อยู่แล้ว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5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•  ข้อมูลล่าสุดผ่าน Google Search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5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•  Gemini Live: คุยด้วยเสียง / เปิดกล้องถามสิ่งที่เห็น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5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•  Skills (มาแทน Gems): บันทึกคำสั่งประจำไว้ เรียกใช้ด้วย “/”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1874519"/>
            <a:ext cx="5486400" cy="45720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000" b="1" i="0">
                <a:solidFill>
                  <a:srgbClr val="4B2A7B"/>
                </a:solidFill>
                <a:latin typeface="Prompt"/>
                <a:ea typeface="Prompt"/>
                <a:cs typeface="Prompt"/>
              </a:rPr>
              <a:t>ลองพิมพ์แบบนี้ (ตัวอย่าง Prompt)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2377440"/>
            <a:ext cx="5303520" cy="865632"/>
          </a:xfrm>
          <a:prstGeom prst="roundRect">
            <a:avLst>
              <a:gd name="adj" fmla="val 12000"/>
            </a:avLst>
          </a:prstGeom>
          <a:solidFill>
            <a:srgbClr val="E7D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035040" y="2377440"/>
            <a:ext cx="82296" cy="865632"/>
          </a:xfrm>
          <a:prstGeom prst="rect">
            <a:avLst/>
          </a:prstGeom>
          <a:solidFill>
            <a:srgbClr val="7B4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263640" y="2423160"/>
            <a:ext cx="4983480" cy="774192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5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“วางแผนเที่ยวเชียงใหม่ 3 วัน 2 คืน เน้นคาเฟ่ เดินทางด้วยรถเช่า งบคนละ 6,000 บาท”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3352800"/>
            <a:ext cx="5303520" cy="865632"/>
          </a:xfrm>
          <a:prstGeom prst="roundRect">
            <a:avLst>
              <a:gd name="adj" fmla="val 12000"/>
            </a:avLst>
          </a:prstGeom>
          <a:solidFill>
            <a:srgbClr val="E7D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035040" y="3352800"/>
            <a:ext cx="82296" cy="865632"/>
          </a:xfrm>
          <a:prstGeom prst="rect">
            <a:avLst/>
          </a:prstGeom>
          <a:solidFill>
            <a:srgbClr val="7B4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263640" y="3398520"/>
            <a:ext cx="4983480" cy="774192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5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“สรุปวิดีโอ YouTube นี้เป็นข้อๆ พร้อม timestamp ที่สำคัญ”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35040" y="4328160"/>
            <a:ext cx="5303520" cy="865632"/>
          </a:xfrm>
          <a:prstGeom prst="roundRect">
            <a:avLst>
              <a:gd name="adj" fmla="val 12000"/>
            </a:avLst>
          </a:prstGeom>
          <a:solidFill>
            <a:srgbClr val="E7D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035040" y="4328160"/>
            <a:ext cx="82296" cy="865632"/>
          </a:xfrm>
          <a:prstGeom prst="rect">
            <a:avLst/>
          </a:prstGeom>
          <a:solidFill>
            <a:srgbClr val="7B4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263640" y="4373880"/>
            <a:ext cx="4983480" cy="774192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5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“ช่วยร่างอีเมลขอเลื่อนนัดแบบสุภาพ เสนอเวลาใหม่ 2 ตัวเลือก”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5486400"/>
            <a:ext cx="10515600" cy="731520"/>
          </a:xfrm>
          <a:prstGeom prst="roundRect">
            <a:avLst>
              <a:gd name="adj" fmla="val 20000"/>
            </a:avLst>
          </a:prstGeom>
          <a:solidFill>
            <a:srgbClr val="4B2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l"/>
            <a:r>
              <a:rPr sz="1400" b="1">
                <a:solidFill>
                  <a:srgbClr val="C9B6EE"/>
                </a:solidFill>
                <a:latin typeface="Prompt"/>
                <a:ea typeface="Prompt"/>
                <a:cs typeface="Prompt"/>
              </a:rPr>
              <a:t>ฟรี: </a:t>
            </a:r>
            <a:r>
              <a:rPr sz="1400" b="0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ใช้ด้วยบัญชี Google · Skills สร้างได้ฟรี (อายุ 18+)</a:t>
            </a:r>
            <a:r>
              <a:rPr sz="1400" b="1">
                <a:solidFill>
                  <a:srgbClr val="C9B6EE"/>
                </a:solidFill>
                <a:latin typeface="Prompt"/>
                <a:ea typeface="Prompt"/>
                <a:cs typeface="Prompt"/>
              </a:rPr>
              <a:t>    |    จ่ายเงิน: </a:t>
            </a:r>
            <a:r>
              <a:rPr sz="1400" b="0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Google AI Plus / Pro / Ultra (ราคาไทย ควรเช็กอีกครั้ง)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03920" y="1325880"/>
            <a:ext cx="2834640" cy="384048"/>
          </a:xfrm>
          <a:prstGeom prst="roundRect">
            <a:avLst>
              <a:gd name="adj" fmla="val 50000"/>
            </a:avLst>
          </a:prstGeom>
          <a:solidFill>
            <a:srgbClr val="FFF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200" b="1">
                <a:solidFill>
                  <a:srgbClr val="9A5600"/>
                </a:solidFill>
                <a:latin typeface="Prompt"/>
                <a:ea typeface="Prompt"/>
                <a:cs typeface="Prompt"/>
              </a:rPr>
              <a:t>กำลังเปลี่ยน Gems → Skills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B2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772400" cy="3657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 i="0">
                <a:solidFill>
                  <a:srgbClr val="7B4FC9"/>
                </a:solidFill>
                <a:latin typeface="Prompt"/>
                <a:ea typeface="Prompt"/>
                <a:cs typeface="Prompt"/>
              </a:rPr>
              <a:t>Part 1 · รู้จักเครื่องมือ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9509760" cy="8229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1" i="0">
                <a:solidFill>
                  <a:srgbClr val="4B2A7B"/>
                </a:solidFill>
                <a:latin typeface="Prompt"/>
                <a:ea typeface="Prompt"/>
                <a:cs typeface="Prompt"/>
              </a:rPr>
              <a:t>Grok Bot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555480" y="384048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E7D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200" b="1">
                <a:solidFill>
                  <a:srgbClr val="4B2A7B"/>
                </a:solidFill>
                <a:latin typeface="Prompt"/>
                <a:ea typeface="Prompt"/>
                <a:cs typeface="Prompt"/>
              </a:rPr>
              <a:t>⏱ 13:19 · 3.5 นาที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5F596B"/>
                </a:solidFill>
                <a:latin typeface="Sarabun"/>
                <a:ea typeface="Sarabun"/>
                <a:cs typeface="Sarabun"/>
              </a:rPr>
              <a:t>AI ผู้ช่วยส่วนตัว Workshop · 7 พ.ย. 2026 · Living Room Thonglor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5F596B"/>
                </a:solidFill>
                <a:latin typeface="Sarabun"/>
                <a:ea typeface="Sarabun"/>
                <a:cs typeface="Sarabun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10058400" cy="41148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0" i="0">
                <a:solidFill>
                  <a:srgbClr val="5F596B"/>
                </a:solidFill>
                <a:latin typeface="Sarabun"/>
                <a:ea typeface="Sarabun"/>
                <a:cs typeface="Sarabun"/>
              </a:rPr>
              <a:t>xAI · จากแชตบอท Grok สู่ “เพื่อนร่วมทีม AI” ที่ลงมือทำงานให้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874519"/>
            <a:ext cx="4937760" cy="3429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051560" y="2011680"/>
            <a:ext cx="4572000" cy="45720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000" b="1" i="0">
                <a:solidFill>
                  <a:srgbClr val="4B2A7B"/>
                </a:solidFill>
                <a:latin typeface="Prompt"/>
                <a:ea typeface="Prompt"/>
                <a:cs typeface="Prompt"/>
              </a:rPr>
              <a:t>เหมาะกับ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514600"/>
            <a:ext cx="4572000" cy="274320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5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•  Grok (grok.com / แอป): ข่าวและเทรนด์ล่าสุด ค้นเว็บ + X แบบเรียลไทม์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5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•  Grok Bot: สร้าง “Bot” ที่มีชื่อ งาน และ Description ของตัวเอง ทำงานบนคอมพิวเตอร์คลาวด์ ต่อได้แม้ปิดโน้ตบุ๊ก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5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•  จำความชอบได้ · เชื่อมแอปผ่าน Connectors · ตั้ง Routines ตามเวลา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5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•  ขออนุมัติก่อนทำสิ่งสำคัญ เช่น ส่ง ซื้อ ลบ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1874519"/>
            <a:ext cx="5486400" cy="45720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000" b="1" i="0">
                <a:solidFill>
                  <a:srgbClr val="4B2A7B"/>
                </a:solidFill>
                <a:latin typeface="Prompt"/>
                <a:ea typeface="Prompt"/>
                <a:cs typeface="Prompt"/>
              </a:rPr>
              <a:t>ลองพิมพ์แบบนี้ (ตัวอย่าง Prompt)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2377440"/>
            <a:ext cx="5303520" cy="865632"/>
          </a:xfrm>
          <a:prstGeom prst="roundRect">
            <a:avLst>
              <a:gd name="adj" fmla="val 12000"/>
            </a:avLst>
          </a:prstGeom>
          <a:solidFill>
            <a:srgbClr val="E7D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035040" y="2377440"/>
            <a:ext cx="82296" cy="865632"/>
          </a:xfrm>
          <a:prstGeom prst="rect">
            <a:avLst/>
          </a:prstGeom>
          <a:solidFill>
            <a:srgbClr val="7B4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263640" y="2423160"/>
            <a:ext cx="4983480" cy="774192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5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“(Grok) สรุปว่าคนไทยพูดถึงรถ EV เรื่องอะไรบ้างในสัปดาห์นี้ พร้อมแหล่งที่มา”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3352800"/>
            <a:ext cx="5303520" cy="865632"/>
          </a:xfrm>
          <a:prstGeom prst="roundRect">
            <a:avLst>
              <a:gd name="adj" fmla="val 12000"/>
            </a:avLst>
          </a:prstGeom>
          <a:solidFill>
            <a:srgbClr val="E7D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035040" y="3352800"/>
            <a:ext cx="82296" cy="865632"/>
          </a:xfrm>
          <a:prstGeom prst="rect">
            <a:avLst/>
          </a:prstGeom>
          <a:solidFill>
            <a:srgbClr val="7B4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263640" y="3398520"/>
            <a:ext cx="4983480" cy="774192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5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“(Grok Bot) หาตั๋วเครื่องบิน กทม.–โตเกียว กลาง ธ.ค. ทำตารางเทียบราคา แล้วรอฉันอนุมัติก่อนจอง”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35040" y="4328160"/>
            <a:ext cx="5303520" cy="865632"/>
          </a:xfrm>
          <a:prstGeom prst="roundRect">
            <a:avLst>
              <a:gd name="adj" fmla="val 12000"/>
            </a:avLst>
          </a:prstGeom>
          <a:solidFill>
            <a:srgbClr val="E7D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035040" y="4328160"/>
            <a:ext cx="82296" cy="865632"/>
          </a:xfrm>
          <a:prstGeom prst="rect">
            <a:avLst/>
          </a:prstGeom>
          <a:solidFill>
            <a:srgbClr val="7B4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263640" y="4373880"/>
            <a:ext cx="4983480" cy="774192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5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“(Grok Bot) ทุกเช้า 7:00 น. ส่งเมนูวันนี้และของที่ต้องเตรียมให้ฉัน”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5486400"/>
            <a:ext cx="10515600" cy="731520"/>
          </a:xfrm>
          <a:prstGeom prst="roundRect">
            <a:avLst>
              <a:gd name="adj" fmla="val 20000"/>
            </a:avLst>
          </a:prstGeom>
          <a:solidFill>
            <a:srgbClr val="4B2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l"/>
            <a:r>
              <a:rPr sz="1400" b="1">
                <a:solidFill>
                  <a:srgbClr val="C9B6EE"/>
                </a:solidFill>
                <a:latin typeface="Prompt"/>
                <a:ea typeface="Prompt"/>
                <a:cs typeface="Prompt"/>
              </a:rPr>
              <a:t>ฟรี: </a:t>
            </a:r>
            <a:r>
              <a:rPr sz="1400" b="0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Grok แชต (มีลิมิต) · Grok Bot มี trial</a:t>
            </a:r>
            <a:r>
              <a:rPr sz="1400" b="1">
                <a:solidFill>
                  <a:srgbClr val="C9B6EE"/>
                </a:solidFill>
                <a:latin typeface="Prompt"/>
                <a:ea typeface="Prompt"/>
                <a:cs typeface="Prompt"/>
              </a:rPr>
              <a:t>    |    จ่ายเงิน: </a:t>
            </a:r>
            <a:r>
              <a:rPr sz="1400" b="0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Grok Bot: Cursor Pro ขึ้นไป / Teams หรือเชื่อม SuperGrok / X Premium+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03920" y="1325880"/>
            <a:ext cx="2834640" cy="384048"/>
          </a:xfrm>
          <a:prstGeom prst="roundRect">
            <a:avLst>
              <a:gd name="adj" fmla="val 50000"/>
            </a:avLst>
          </a:prstGeom>
          <a:solidFill>
            <a:srgbClr val="7B4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Prompt"/>
                <a:ea typeface="Prompt"/>
                <a:cs typeface="Prompt"/>
              </a:rPr>
              <a:t>★ แพลตฟอร์มหลักใน Part 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B2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772400" cy="3657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 i="0">
                <a:solidFill>
                  <a:srgbClr val="7B4FC9"/>
                </a:solidFill>
                <a:latin typeface="Prompt"/>
                <a:ea typeface="Prompt"/>
                <a:cs typeface="Prompt"/>
              </a:rPr>
              <a:t>Part 1 · สรุป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9509760" cy="8229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1" i="0">
                <a:solidFill>
                  <a:srgbClr val="4B2A7B"/>
                </a:solidFill>
                <a:latin typeface="Prompt"/>
                <a:ea typeface="Prompt"/>
                <a:cs typeface="Prompt"/>
              </a:rPr>
              <a:t>เปรียบเทียบ: เลือกตัวไหนดี?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555480" y="384048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E7D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200" b="1">
                <a:solidFill>
                  <a:srgbClr val="4B2A7B"/>
                </a:solidFill>
                <a:latin typeface="Prompt"/>
                <a:ea typeface="Prompt"/>
                <a:cs typeface="Prompt"/>
              </a:rPr>
              <a:t>⏱ 13:23 · 3 นาที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5F596B"/>
                </a:solidFill>
                <a:latin typeface="Sarabun"/>
                <a:ea typeface="Sarabun"/>
                <a:cs typeface="Sarabun"/>
              </a:rPr>
              <a:t>AI ผู้ช่วยส่วนตัว Workshop · 7 พ.ย. 2026 · Living Room Thonglor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5F596B"/>
                </a:solidFill>
                <a:latin typeface="Sarabun"/>
                <a:ea typeface="Sarabun"/>
                <a:cs typeface="Sarabun"/>
              </a:rPr>
              <a:t>10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600200"/>
          <a:ext cx="105156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377440"/>
                <a:gridCol w="2743200"/>
                <a:gridCol w="1737360"/>
                <a:gridCol w="219456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Prompt"/>
                          <a:ea typeface="Prompt"/>
                          <a:cs typeface="Prompt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4B2A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Prompt"/>
                          <a:ea typeface="Prompt"/>
                          <a:cs typeface="Prompt"/>
                        </a:rPr>
                        <a:t>เด่นเรื่อง</a:t>
                      </a:r>
                    </a:p>
                  </a:txBody>
                  <a:tcPr marL="91440" marR="91440" marT="45720" marB="45720" anchor="ctr">
                    <a:solidFill>
                      <a:srgbClr val="4B2A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Prompt"/>
                          <a:ea typeface="Prompt"/>
                          <a:cs typeface="Prompt"/>
                        </a:rPr>
                        <a:t>ฟรีได้อะไร (โดยย่อ)</a:t>
                      </a:r>
                    </a:p>
                  </a:txBody>
                  <a:tcPr marL="91440" marR="91440" marT="45720" marB="45720" anchor="ctr">
                    <a:solidFill>
                      <a:srgbClr val="4B2A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Prompt"/>
                          <a:ea typeface="Prompt"/>
                          <a:cs typeface="Prompt"/>
                        </a:rPr>
                        <a:t>แพ็กเกจจ่ายเงิน</a:t>
                      </a:r>
                    </a:p>
                  </a:txBody>
                  <a:tcPr marL="91440" marR="91440" marT="45720" marB="45720" anchor="ctr">
                    <a:solidFill>
                      <a:srgbClr val="4B2A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Prompt"/>
                          <a:ea typeface="Prompt"/>
                          <a:cs typeface="Prompt"/>
                        </a:rPr>
                        <a:t>สร้างผู้ช่วยส่วนตัว</a:t>
                      </a:r>
                    </a:p>
                  </a:txBody>
                  <a:tcPr marL="91440" marR="91440" marT="45720" marB="45720" anchor="ctr">
                    <a:solidFill>
                      <a:srgbClr val="4B2A7B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4B2A7B"/>
                          </a:solidFill>
                          <a:latin typeface="Prompt"/>
                          <a:ea typeface="Prompt"/>
                          <a:cs typeface="Prompt"/>
                        </a:rPr>
                        <a:t>ChatGPT</a:t>
                      </a:r>
                    </a:p>
                  </a:txBody>
                  <a:tcPr marL="91440" marR="91440" marT="45720" marB="45720" anchor="ctr">
                    <a:solidFill>
                      <a:srgbClr val="E7DE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E2A36"/>
                          </a:solidFill>
                          <a:latin typeface="Sarabun"/>
                          <a:ea typeface="Sarabun"/>
                          <a:cs typeface="Sarabun"/>
                        </a:rPr>
                        <a:t>รอบด้าน ใช้ง่าย เสียง/ภาพ/ไฟล์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E2A36"/>
                          </a:solidFill>
                          <a:latin typeface="Sarabun"/>
                          <a:ea typeface="Sarabun"/>
                          <a:cs typeface="Sarabun"/>
                        </a:rPr>
                        <a:t>แชตทุกวัน (มีลิมิต) · Projects ได้ 5 ไฟล์/โปรเจกต์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E2A36"/>
                          </a:solidFill>
                          <a:latin typeface="Sarabun"/>
                          <a:ea typeface="Sarabun"/>
                          <a:cs typeface="Sarabun"/>
                        </a:rPr>
                        <a:t>Go · Plus · Pro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E2A36"/>
                          </a:solidFill>
                          <a:latin typeface="Sarabun"/>
                          <a:ea typeface="Sarabun"/>
                          <a:cs typeface="Sarabun"/>
                        </a:rPr>
                        <a:t>✔ Projects (ฟรี) = แผนสำรอง</a:t>
                      </a:r>
                    </a:p>
                    <a:p>
                      <a:r>
                        <a:rPr sz="1300" b="0">
                          <a:solidFill>
                            <a:srgbClr val="2E2A36"/>
                          </a:solidFill>
                          <a:latin typeface="Sarabun"/>
                          <a:ea typeface="Sarabun"/>
                          <a:cs typeface="Sarabun"/>
                        </a:rPr>
                        <a:t>✘ สร้าง GPT ใหม่ (บัญชีส่วนตัว)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4B2A7B"/>
                          </a:solidFill>
                          <a:latin typeface="Prompt"/>
                          <a:ea typeface="Prompt"/>
                          <a:cs typeface="Prompt"/>
                        </a:rPr>
                        <a:t>Claude</a:t>
                      </a:r>
                    </a:p>
                  </a:txBody>
                  <a:tcPr marL="91440" marR="91440" marT="45720" marB="45720" anchor="ctr">
                    <a:solidFill>
                      <a:srgbClr val="E7DE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E2A36"/>
                          </a:solidFill>
                          <a:latin typeface="Sarabun"/>
                          <a:ea typeface="Sarabun"/>
                          <a:cs typeface="Sarabun"/>
                        </a:rPr>
                        <a:t>งานเขียน เอกสารยาว คิดเป็นขั้นตอน</a:t>
                      </a:r>
                    </a:p>
                  </a:txBody>
                  <a:tcPr marL="91440" marR="91440" marT="45720" marB="45720" anchor="ctr">
                    <a:solidFill>
                      <a:srgbClr val="FAF8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E2A36"/>
                          </a:solidFill>
                          <a:latin typeface="Sarabun"/>
                          <a:ea typeface="Sarabun"/>
                          <a:cs typeface="Sarabun"/>
                        </a:rPr>
                        <a:t>แชต · ค้นเว็บ · Projects สูงสุด 5 อัน</a:t>
                      </a:r>
                    </a:p>
                  </a:txBody>
                  <a:tcPr marL="91440" marR="91440" marT="45720" marB="45720" anchor="ctr">
                    <a:solidFill>
                      <a:srgbClr val="FAF8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E2A36"/>
                          </a:solidFill>
                          <a:latin typeface="Sarabun"/>
                          <a:ea typeface="Sarabun"/>
                          <a:cs typeface="Sarabun"/>
                        </a:rPr>
                        <a:t>Pro · Max</a:t>
                      </a:r>
                    </a:p>
                  </a:txBody>
                  <a:tcPr marL="91440" marR="91440" marT="45720" marB="45720" anchor="ctr">
                    <a:solidFill>
                      <a:srgbClr val="FAF8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E2A36"/>
                          </a:solidFill>
                          <a:latin typeface="Sarabun"/>
                          <a:ea typeface="Sarabun"/>
                          <a:cs typeface="Sarabun"/>
                        </a:rPr>
                        <a:t>✔ Projects (ฟรี 5 อัน)</a:t>
                      </a:r>
                    </a:p>
                  </a:txBody>
                  <a:tcPr marL="91440" marR="91440" marT="45720" marB="45720" anchor="ctr">
                    <a:solidFill>
                      <a:srgbClr val="FAF8FE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4B2A7B"/>
                          </a:solidFill>
                          <a:latin typeface="Prompt"/>
                          <a:ea typeface="Prompt"/>
                          <a:cs typeface="Prompt"/>
                        </a:rPr>
                        <a:t>Gemini</a:t>
                      </a:r>
                    </a:p>
                  </a:txBody>
                  <a:tcPr marL="91440" marR="91440" marT="45720" marB="45720" anchor="ctr">
                    <a:solidFill>
                      <a:srgbClr val="E7DE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E2A36"/>
                          </a:solidFill>
                          <a:latin typeface="Sarabun"/>
                          <a:ea typeface="Sarabun"/>
                          <a:cs typeface="Sarabun"/>
                        </a:rPr>
                        <a:t>เชื่อม Google · ข้อมูลล่าสุด · Live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E2A36"/>
                          </a:solidFill>
                          <a:latin typeface="Sarabun"/>
                          <a:ea typeface="Sarabun"/>
                          <a:cs typeface="Sarabun"/>
                        </a:rPr>
                        <a:t>แชต · Gemini Live · Skills (18+)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E2A36"/>
                          </a:solidFill>
                          <a:latin typeface="Sarabun"/>
                          <a:ea typeface="Sarabun"/>
                          <a:cs typeface="Sarabun"/>
                        </a:rPr>
                        <a:t>AI Plus · Pro · Ultra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E2A36"/>
                          </a:solidFill>
                          <a:latin typeface="Sarabun"/>
                          <a:ea typeface="Sarabun"/>
                          <a:cs typeface="Sarabun"/>
                        </a:rPr>
                        <a:t>✔ Skills (ฟรี)</a:t>
                      </a:r>
                    </a:p>
                    <a:p>
                      <a:r>
                        <a:rPr sz="1300" b="0">
                          <a:solidFill>
                            <a:srgbClr val="2E2A36"/>
                          </a:solidFill>
                          <a:latin typeface="Sarabun"/>
                          <a:ea typeface="Sarabun"/>
                          <a:cs typeface="Sarabun"/>
                        </a:rPr>
                        <a:t>⚠ Gems ทยอยปิด พ.ย. 2026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4B2A7B"/>
                          </a:solidFill>
                          <a:latin typeface="Prompt"/>
                          <a:ea typeface="Prompt"/>
                          <a:cs typeface="Prompt"/>
                        </a:rPr>
                        <a:t>Grok Bot ★</a:t>
                      </a:r>
                    </a:p>
                  </a:txBody>
                  <a:tcPr marL="91440" marR="91440" marT="45720" marB="45720" anchor="ctr">
                    <a:solidFill>
                      <a:srgbClr val="E7DE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E2A36"/>
                          </a:solidFill>
                          <a:latin typeface="Sarabun"/>
                          <a:ea typeface="Sarabun"/>
                          <a:cs typeface="Sarabun"/>
                        </a:rPr>
                        <a:t>Bot ลงมือทำงานจนจบ · จำได้ · เชื่อมแอป · ตั้งเวลา</a:t>
                      </a:r>
                    </a:p>
                  </a:txBody>
                  <a:tcPr marL="91440" marR="91440" marT="45720" marB="45720" anchor="ctr">
                    <a:solidFill>
                      <a:srgbClr val="FAF8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E2A36"/>
                          </a:solidFill>
                          <a:latin typeface="Sarabun"/>
                          <a:ea typeface="Sarabun"/>
                          <a:cs typeface="Sarabun"/>
                        </a:rPr>
                        <a:t>Grok แชตฟรี (มีลิมิต) · Grok Bot: free trial แบบเครดิต</a:t>
                      </a:r>
                    </a:p>
                  </a:txBody>
                  <a:tcPr marL="91440" marR="91440" marT="45720" marB="45720" anchor="ctr">
                    <a:solidFill>
                      <a:srgbClr val="FAF8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E2A36"/>
                          </a:solidFill>
                          <a:latin typeface="Sarabun"/>
                          <a:ea typeface="Sarabun"/>
                          <a:cs typeface="Sarabun"/>
                        </a:rPr>
                        <a:t>Cursor Pro ขึ้นไป / Teams หรือ SuperGrok / X Premium+</a:t>
                      </a:r>
                    </a:p>
                  </a:txBody>
                  <a:tcPr marL="91440" marR="91440" marT="45720" marB="45720" anchor="ctr">
                    <a:solidFill>
                      <a:srgbClr val="FAF8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E2A36"/>
                          </a:solidFill>
                          <a:latin typeface="Sarabun"/>
                          <a:ea typeface="Sarabun"/>
                          <a:cs typeface="Sarabun"/>
                        </a:rPr>
                        <a:t>★ Bot เต็มรูปแบบ (ใช้ใน Part 2)</a:t>
                      </a:r>
                    </a:p>
                    <a:p>
                      <a:r>
                        <a:rPr sz="1300" b="0">
                          <a:solidFill>
                            <a:srgbClr val="2E2A36"/>
                          </a:solidFill>
                          <a:latin typeface="Sarabun"/>
                          <a:ea typeface="Sarabun"/>
                          <a:cs typeface="Sarabun"/>
                        </a:rPr>
                        <a:t>ต้องมีแพ็กเกจ</a:t>
                      </a:r>
                    </a:p>
                  </a:txBody>
                  <a:tcPr marL="91440" marR="91440" marT="45720" marB="45720" anchor="ctr">
                    <a:solidFill>
                      <a:srgbClr val="FAF8FE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22960" y="5897880"/>
            <a:ext cx="10515600" cy="41148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 i="0">
                <a:solidFill>
                  <a:srgbClr val="5F596B"/>
                </a:solidFill>
                <a:latin typeface="Sarabun"/>
                <a:ea typeface="Sarabun"/>
                <a:cs typeface="Sarabun"/>
              </a:rPr>
              <a:t>ข้อมูล ณ ต้น ต.ค. 2026 จากหน้าเว็บ/Help Center ทางการ · ฟีเจอร์และราคาเปลี่ยนบ่อย — เช็กอีกครั้งก่อนสมัคร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B2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772400" cy="3657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 i="0">
                <a:solidFill>
                  <a:srgbClr val="7B4FC9"/>
                </a:solidFill>
                <a:latin typeface="Prompt"/>
                <a:ea typeface="Prompt"/>
                <a:cs typeface="Prompt"/>
              </a:rPr>
              <a:t>Part 1 · เทคนิค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9509760" cy="8229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1" i="0">
                <a:solidFill>
                  <a:srgbClr val="4B2A7B"/>
                </a:solidFill>
                <a:latin typeface="Prompt"/>
                <a:ea typeface="Prompt"/>
                <a:cs typeface="Prompt"/>
              </a:rPr>
              <a:t>สูตรเขียน Prompt ให้ได้ผล: R · C · T · 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555480" y="384048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E7D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200" b="1">
                <a:solidFill>
                  <a:srgbClr val="4B2A7B"/>
                </a:solidFill>
                <a:latin typeface="Prompt"/>
                <a:ea typeface="Prompt"/>
                <a:cs typeface="Prompt"/>
              </a:rPr>
              <a:t>⏱ 13:26 · 3 นาที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5F596B"/>
                </a:solidFill>
                <a:latin typeface="Sarabun"/>
                <a:ea typeface="Sarabun"/>
                <a:cs typeface="Sarabun"/>
              </a:rPr>
              <a:t>AI ผู้ช่วยส่วนตัว Workshop · 7 พ.ย. 2026 · Living Room Thonglor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5F596B"/>
                </a:solidFill>
                <a:latin typeface="Sarabun"/>
                <a:ea typeface="Sarabun"/>
                <a:cs typeface="Sarabun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645920"/>
            <a:ext cx="2514600" cy="2697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1051560" y="1828800"/>
            <a:ext cx="685800" cy="685800"/>
          </a:xfrm>
          <a:prstGeom prst="ellipse">
            <a:avLst/>
          </a:prstGeom>
          <a:solidFill>
            <a:srgbClr val="4B2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2400" b="1">
                <a:solidFill>
                  <a:srgbClr val="FFFFFF"/>
                </a:solidFill>
                <a:latin typeface="Prompt"/>
                <a:ea typeface="Prompt"/>
                <a:cs typeface="Prompt"/>
              </a:rPr>
              <a:t>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606040"/>
            <a:ext cx="2148840" cy="41148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 i="0">
                <a:solidFill>
                  <a:srgbClr val="4B2A7B"/>
                </a:solidFill>
                <a:latin typeface="Prompt"/>
                <a:ea typeface="Prompt"/>
                <a:cs typeface="Prompt"/>
              </a:rPr>
              <a:t>Role · บทบาท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017520"/>
            <a:ext cx="2148840" cy="41148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 i="0">
                <a:solidFill>
                  <a:srgbClr val="5F596B"/>
                </a:solidFill>
                <a:latin typeface="Sarabun"/>
                <a:ea typeface="Sarabun"/>
                <a:cs typeface="Sarabun"/>
              </a:rPr>
              <a:t>ให้ AI สวมบทใคร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429000"/>
            <a:ext cx="2148840" cy="86868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 i="0">
                <a:solidFill>
                  <a:srgbClr val="7B4FC9"/>
                </a:solidFill>
                <a:latin typeface="Sarabun"/>
                <a:ea typeface="Sarabun"/>
                <a:cs typeface="Sarabun"/>
              </a:rPr>
              <a:t>“คุณคือนักโภชนาการ”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0440" y="1645920"/>
            <a:ext cx="2514600" cy="2697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3749039" y="1828800"/>
            <a:ext cx="685800" cy="685800"/>
          </a:xfrm>
          <a:prstGeom prst="ellipse">
            <a:avLst/>
          </a:prstGeom>
          <a:solidFill>
            <a:srgbClr val="4B2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2400" b="1">
                <a:solidFill>
                  <a:srgbClr val="FFFFFF"/>
                </a:solidFill>
                <a:latin typeface="Prompt"/>
                <a:ea typeface="Prompt"/>
                <a:cs typeface="Prompt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2606040"/>
            <a:ext cx="2148840" cy="41148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 i="0">
                <a:solidFill>
                  <a:srgbClr val="4B2A7B"/>
                </a:solidFill>
                <a:latin typeface="Prompt"/>
                <a:ea typeface="Prompt"/>
                <a:cs typeface="Prompt"/>
              </a:rPr>
              <a:t>Context · บริบท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3017520"/>
            <a:ext cx="2148840" cy="41148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 i="0">
                <a:solidFill>
                  <a:srgbClr val="5F596B"/>
                </a:solidFill>
                <a:latin typeface="Sarabun"/>
                <a:ea typeface="Sarabun"/>
                <a:cs typeface="Sarabun"/>
              </a:rPr>
              <a:t>เราคือใคร สถานการณ์อะไร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3429000"/>
            <a:ext cx="2148840" cy="86868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 i="0">
                <a:solidFill>
                  <a:srgbClr val="7B4FC9"/>
                </a:solidFill>
                <a:latin typeface="Sarabun"/>
                <a:ea typeface="Sarabun"/>
                <a:cs typeface="Sarabun"/>
              </a:rPr>
              <a:t>“ฉันทำงานออฟฟิศ อายุ 35 ทำอาหารเองได้นิดหน่อย”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645920"/>
            <a:ext cx="2514600" cy="2697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446520" y="1828800"/>
            <a:ext cx="685800" cy="685800"/>
          </a:xfrm>
          <a:prstGeom prst="ellipse">
            <a:avLst/>
          </a:prstGeom>
          <a:solidFill>
            <a:srgbClr val="4B2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2400" b="1">
                <a:solidFill>
                  <a:srgbClr val="FFFFFF"/>
                </a:solidFill>
                <a:latin typeface="Prompt"/>
                <a:ea typeface="Prompt"/>
                <a:cs typeface="Prompt"/>
              </a:rPr>
              <a:t>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606040"/>
            <a:ext cx="2148840" cy="41148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 i="0">
                <a:solidFill>
                  <a:srgbClr val="4B2A7B"/>
                </a:solidFill>
                <a:latin typeface="Prompt"/>
                <a:ea typeface="Prompt"/>
                <a:cs typeface="Prompt"/>
              </a:rPr>
              <a:t>Task · งาน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017520"/>
            <a:ext cx="2148840" cy="41148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 i="0">
                <a:solidFill>
                  <a:srgbClr val="5F596B"/>
                </a:solidFill>
                <a:latin typeface="Sarabun"/>
                <a:ea typeface="Sarabun"/>
                <a:cs typeface="Sarabun"/>
              </a:rPr>
              <a:t>อยากให้ทำอะไร ชัดๆ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429000"/>
            <a:ext cx="2148840" cy="86868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 i="0">
                <a:solidFill>
                  <a:srgbClr val="7B4FC9"/>
                </a:solidFill>
                <a:latin typeface="Sarabun"/>
                <a:ea typeface="Sarabun"/>
                <a:cs typeface="Sarabun"/>
              </a:rPr>
              <a:t>“วางแผนมื้อกลางวัน 5 วัน”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15400" y="1645920"/>
            <a:ext cx="2514600" cy="2697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144000" y="1828800"/>
            <a:ext cx="685800" cy="685800"/>
          </a:xfrm>
          <a:prstGeom prst="ellipse">
            <a:avLst/>
          </a:prstGeom>
          <a:solidFill>
            <a:srgbClr val="4B2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2400" b="1">
                <a:solidFill>
                  <a:srgbClr val="FFFFFF"/>
                </a:solidFill>
                <a:latin typeface="Prompt"/>
                <a:ea typeface="Prompt"/>
                <a:cs typeface="Prompt"/>
              </a:rPr>
              <a:t>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606040"/>
            <a:ext cx="2148840" cy="41148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 i="0">
                <a:solidFill>
                  <a:srgbClr val="4B2A7B"/>
                </a:solidFill>
                <a:latin typeface="Prompt"/>
                <a:ea typeface="Prompt"/>
                <a:cs typeface="Prompt"/>
              </a:rPr>
              <a:t>Format · รูปแบบ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3017520"/>
            <a:ext cx="2148840" cy="41148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 i="0">
                <a:solidFill>
                  <a:srgbClr val="5F596B"/>
                </a:solidFill>
                <a:latin typeface="Sarabun"/>
                <a:ea typeface="Sarabun"/>
                <a:cs typeface="Sarabun"/>
              </a:rPr>
              <a:t>อยากได้คำตอบหน้าตาแบบไหน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3429000"/>
            <a:ext cx="2148840" cy="86868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 i="0">
                <a:solidFill>
                  <a:srgbClr val="7B4FC9"/>
                </a:solidFill>
                <a:latin typeface="Sarabun"/>
                <a:ea typeface="Sarabun"/>
                <a:cs typeface="Sarabun"/>
              </a:rPr>
              <a:t>“ทำเป็นตาราง พร้อมราคาโดยประมาณ”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4572000"/>
            <a:ext cx="5120640" cy="1463040"/>
          </a:xfrm>
          <a:prstGeom prst="roundRect">
            <a:avLst>
              <a:gd name="adj" fmla="val 10000"/>
            </a:avLst>
          </a:prstGeom>
          <a:solidFill>
            <a:srgbClr val="E7D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005840" y="4645152"/>
            <a:ext cx="4754880" cy="137160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1" i="0">
                <a:solidFill>
                  <a:srgbClr val="5F596B"/>
                </a:solidFill>
                <a:latin typeface="Prompt"/>
                <a:ea typeface="Prompt"/>
                <a:cs typeface="Prompt"/>
              </a:rPr>
              <a:t>✘ ก่อน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“ช่วยคิดเมนูอาหารให้หน่อย”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4572000"/>
            <a:ext cx="5120640" cy="1463040"/>
          </a:xfrm>
          <a:prstGeom prst="roundRect">
            <a:avLst>
              <a:gd name="adj" fmla="val 10000"/>
            </a:avLst>
          </a:prstGeom>
          <a:solidFill>
            <a:srgbClr val="4B2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400800" y="4645152"/>
            <a:ext cx="4754880" cy="137160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1" i="0">
                <a:solidFill>
                  <a:srgbClr val="C9B6EE"/>
                </a:solidFill>
                <a:latin typeface="Prompt"/>
                <a:ea typeface="Prompt"/>
                <a:cs typeface="Prompt"/>
              </a:rPr>
              <a:t>✔ หลัง (+ เทคนิคเสริม: ให้ถามกลับ)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50" b="0" i="0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“คุณคือนักโภชนาการ ฉันทำงานออฟฟิศ ไม่กินเนื้อวัว วางแผนมื้อกลางวัน 5 วัน เป็นตาราง ถ้าข้อมูลไม่พอ ถามฉันก่อน”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B2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772400" cy="3657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 i="0">
                <a:solidFill>
                  <a:srgbClr val="7B4FC9"/>
                </a:solidFill>
                <a:latin typeface="Prompt"/>
                <a:ea typeface="Prompt"/>
                <a:cs typeface="Prompt"/>
              </a:rPr>
              <a:t>Part 1 · ใช้อย่างปลอดภัย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9509760" cy="8229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1" i="0">
                <a:solidFill>
                  <a:srgbClr val="4B2A7B"/>
                </a:solidFill>
                <a:latin typeface="Prompt"/>
                <a:ea typeface="Prompt"/>
                <a:cs typeface="Prompt"/>
              </a:rPr>
              <a:t>ความเป็นส่วนตัว &amp; ความปลอดภัย เบื้องต้น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555480" y="384048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E7D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200" b="1">
                <a:solidFill>
                  <a:srgbClr val="4B2A7B"/>
                </a:solidFill>
                <a:latin typeface="Prompt"/>
                <a:ea typeface="Prompt"/>
                <a:cs typeface="Prompt"/>
              </a:rPr>
              <a:t>⏱ 13:29 · 1–2 นาที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5F596B"/>
                </a:solidFill>
                <a:latin typeface="Sarabun"/>
                <a:ea typeface="Sarabun"/>
                <a:cs typeface="Sarabun"/>
              </a:rPr>
              <a:t>AI ผู้ช่วยส่วนตัว Workshop · 7 พ.ย. 2026 · Living Room Thonglor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5F596B"/>
                </a:solidFill>
                <a:latin typeface="Sarabun"/>
                <a:ea typeface="Sarabun"/>
                <a:cs typeface="Sarabun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645920"/>
            <a:ext cx="5120640" cy="3840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1051560" y="1847088"/>
            <a:ext cx="457200" cy="64008"/>
          </a:xfrm>
          <a:prstGeom prst="rect">
            <a:avLst/>
          </a:prstGeom>
          <a:solidFill>
            <a:srgbClr val="C03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005840" y="1965960"/>
            <a:ext cx="4754879" cy="5029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 i="0">
                <a:solidFill>
                  <a:srgbClr val="4B2A7B"/>
                </a:solidFill>
                <a:latin typeface="Prompt"/>
                <a:ea typeface="Prompt"/>
                <a:cs typeface="Prompt"/>
              </a:rPr>
              <a:t>ห้ามใส่ (แม้เป็นบัญชีส่วนตัว)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23160"/>
            <a:ext cx="4754879" cy="297180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•  เลขบัตรประชาชน รหัสผ่าน OTP PIN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•  เลขบัญชี / บัตรเครดิต / สลิปที่เห็นข้อมูลเต็ม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•  ข้อมูลลูกค้าหรือเอกสารลับของบริษัท (บัญชีส่วนตัว ≠ Copilot องค์กร)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•  ผลตรวจสุขภาพที่ระบุตัวตน ข้อมูลของคนอื่นโดยไม่ได้รับอนุญาต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45920"/>
            <a:ext cx="5120640" cy="3840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6446520" y="1847088"/>
            <a:ext cx="457200" cy="6400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00800" y="1965960"/>
            <a:ext cx="4754879" cy="5029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 i="0">
                <a:solidFill>
                  <a:srgbClr val="4B2A7B"/>
                </a:solidFill>
                <a:latin typeface="Prompt"/>
                <a:ea typeface="Prompt"/>
                <a:cs typeface="Prompt"/>
              </a:rPr>
              <a:t>ควรทำ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423160"/>
            <a:ext cx="4754879" cy="297180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•  เช็ก Settings เรื่องการนำแชตไปพัฒนาโมเดล และปิดถ้าไม่ต้องการ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•  ใช้ข้อมูลแบบ “ไม่ระบุตัวตน” เช่น อายุช่วง อาชีพกว้างๆ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•  ตรวจคำตอบเรื่อง เงิน สุขภาพ กฎหมาย กับแหล่งที่เชื่อถือได้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•  Grok Bot: ใส่ข้อห้ามใน Description + ตั้งกฎ Ask first ก่อนส่ง/ซื้อ/ลบ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•  Bot ทุกตัวในบัญชีใช้คอมพิวเตอร์คลาวด์ร่วมกัน (ไฟล์/ล็อกอิน) — เชื่อมเฉพาะบัญชีที่จำเป็น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5623560"/>
            <a:ext cx="1051560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500" b="1">
                <a:solidFill>
                  <a:srgbClr val="4B2A7B"/>
                </a:solidFill>
                <a:latin typeface="Sarabun"/>
                <a:ea typeface="Sarabun"/>
                <a:cs typeface="Sarabun"/>
              </a:rPr>
              <a:t>กฎง่ายๆ: </a:t>
            </a:r>
            <a:r>
              <a:rPr sz="1500" b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ถ้าไม่กล้าโพสต์ลงกลุ่ม LINE ครอบครัว ก็อย่าพิมพ์ใส่ AI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B2A7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377440" y="3566160"/>
            <a:ext cx="5029200" cy="5029200"/>
          </a:xfrm>
          <a:prstGeom prst="ellipse">
            <a:avLst/>
          </a:prstGeom>
          <a:solidFill>
            <a:srgbClr val="7B4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875520" y="-914400"/>
            <a:ext cx="3200400" cy="3200400"/>
          </a:xfrm>
          <a:prstGeom prst="ellipse">
            <a:avLst/>
          </a:prstGeom>
          <a:solidFill>
            <a:srgbClr val="633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926080" y="1737360"/>
            <a:ext cx="8229600" cy="54864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 i="0">
                <a:solidFill>
                  <a:srgbClr val="C9B6EE"/>
                </a:solidFill>
                <a:latin typeface="Prompt"/>
                <a:ea typeface="Prompt"/>
                <a:cs typeface="Prompt"/>
              </a:rPr>
              <a:t>PART 2 · 60 นาที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2286000"/>
            <a:ext cx="8686800" cy="146304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54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Build Your Own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3337560"/>
            <a:ext cx="8686800" cy="91440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400" b="0" i="0">
                <a:solidFill>
                  <a:srgbClr val="E7DEF8"/>
                </a:solidFill>
                <a:latin typeface="Sarabun"/>
                <a:ea typeface="Sarabun"/>
                <a:cs typeface="Sarabun"/>
              </a:rPr>
              <a:t>สร้างผู้ช่วย AI ส่วนตัว ที่รู้จักคุณ และทำงานแบบที่คุณต้องการ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4389120"/>
            <a:ext cx="8686800" cy="109728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0" i="0">
                <a:solidFill>
                  <a:srgbClr val="C9B6EE"/>
                </a:solidFill>
                <a:latin typeface="Sarabun"/>
                <a:ea typeface="Sarabun"/>
                <a:cs typeface="Sarabun"/>
              </a:rPr>
              <a:t>13:30 Agent คืออะไร → Demo → Core Prompt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0" i="0">
                <a:solidFill>
                  <a:srgbClr val="C9B6EE"/>
                </a:solidFill>
                <a:latin typeface="Sarabun"/>
                <a:ea typeface="Sarabun"/>
                <a:cs typeface="Sarabun"/>
              </a:rPr>
              <a:t>13:50 ลงมือสร้าง (25 นาที) → 14:15 ทดสอบ &amp; ปรับปรุง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C9B6EE"/>
                </a:solidFill>
                <a:latin typeface="Sarabun"/>
                <a:ea typeface="Sarabun"/>
                <a:cs typeface="Sarabun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B2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772400" cy="3657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 i="0">
                <a:solidFill>
                  <a:srgbClr val="7B4FC9"/>
                </a:solidFill>
                <a:latin typeface="Prompt"/>
                <a:ea typeface="Prompt"/>
                <a:cs typeface="Prompt"/>
              </a:rPr>
              <a:t>Part 2 · แนวคิด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9509760" cy="8229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1" i="0">
                <a:solidFill>
                  <a:srgbClr val="4B2A7B"/>
                </a:solidFill>
                <a:latin typeface="Prompt"/>
                <a:ea typeface="Prompt"/>
                <a:cs typeface="Prompt"/>
              </a:rPr>
              <a:t>“Agent” คืออะไร? — ดูผ่าน Grok Bot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555480" y="384048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E7D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200" b="1">
                <a:solidFill>
                  <a:srgbClr val="4B2A7B"/>
                </a:solidFill>
                <a:latin typeface="Prompt"/>
                <a:ea typeface="Prompt"/>
                <a:cs typeface="Prompt"/>
              </a:rPr>
              <a:t>⏱ 13:30 · 3 นาที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5F596B"/>
                </a:solidFill>
                <a:latin typeface="Sarabun"/>
                <a:ea typeface="Sarabun"/>
                <a:cs typeface="Sarabun"/>
              </a:rPr>
              <a:t>AI ผู้ช่วยส่วนตัว Workshop · 7 พ.ย. 2026 · Living Room Thonglor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5F596B"/>
                </a:solidFill>
                <a:latin typeface="Sarabun"/>
                <a:ea typeface="Sarabun"/>
                <a:cs typeface="Sarabun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10789920" cy="45720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Agent = ผู้ช่วย AI ที่ตั้งค่าไว้ล่วงหน้า จำเราได้ และลงมือทำงานให้ได้ — ไม่ใช่แค่ตอบคำถาม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920240"/>
            <a:ext cx="3246120" cy="251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051560" y="2029968"/>
            <a:ext cx="914400" cy="54864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60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606040"/>
            <a:ext cx="2834640" cy="45720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000" b="1" i="0">
                <a:solidFill>
                  <a:srgbClr val="4B2A7B"/>
                </a:solidFill>
                <a:latin typeface="Prompt"/>
                <a:ea typeface="Prompt"/>
                <a:cs typeface="Prompt"/>
              </a:rPr>
              <a:t>Instructions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035808"/>
            <a:ext cx="2834640" cy="3657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 i="0">
                <a:solidFill>
                  <a:srgbClr val="7B4FC9"/>
                </a:solidFill>
                <a:latin typeface="Prompt"/>
                <a:ea typeface="Prompt"/>
                <a:cs typeface="Prompt"/>
              </a:rPr>
              <a:t>→ Description ของ Bot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456432"/>
            <a:ext cx="2834640" cy="9601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บทบาท เป้าหมาย สไตล์ ข้อห้าม — กฎถาวรอยู่ใน Description งานเฉพาะครั้งพิมพ์ในแชต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2834640"/>
            <a:ext cx="365760" cy="54864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3000" b="1" i="0">
                <a:solidFill>
                  <a:srgbClr val="7B4FC9"/>
                </a:solidFill>
                <a:latin typeface="Prompt"/>
                <a:ea typeface="Prompt"/>
                <a:cs typeface="Prompt"/>
              </a:rPr>
              <a:t>+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1920240"/>
            <a:ext cx="3246120" cy="251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63440" y="2029968"/>
            <a:ext cx="914400" cy="54864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60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606040"/>
            <a:ext cx="2834640" cy="45720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000" b="1" i="0">
                <a:solidFill>
                  <a:srgbClr val="4B2A7B"/>
                </a:solidFill>
                <a:latin typeface="Prompt"/>
                <a:ea typeface="Prompt"/>
                <a:cs typeface="Prompt"/>
              </a:rPr>
              <a:t>Knowledge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035808"/>
            <a:ext cx="2834640" cy="3657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 i="0">
                <a:solidFill>
                  <a:srgbClr val="7B4FC9"/>
                </a:solidFill>
                <a:latin typeface="Prompt"/>
                <a:ea typeface="Prompt"/>
                <a:cs typeface="Prompt"/>
              </a:rPr>
              <a:t>→ Memory + ไฟล์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3456432"/>
            <a:ext cx="2834640" cy="9601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Bot จำความชอบ ข้อมูลสำคัญ และสรุปงานที่ผ่านมา · แนบไฟล์ให้อ่านได้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6680" y="2834640"/>
            <a:ext cx="365760" cy="54864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3000" b="1" i="0">
                <a:solidFill>
                  <a:srgbClr val="7B4FC9"/>
                </a:solidFill>
                <a:latin typeface="Prompt"/>
                <a:ea typeface="Prompt"/>
                <a:cs typeface="Prompt"/>
              </a:rPr>
              <a:t>+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1920240"/>
            <a:ext cx="3246120" cy="251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275320" y="2029968"/>
            <a:ext cx="914400" cy="54864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60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2606040"/>
            <a:ext cx="2834640" cy="45720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000" b="1" i="0">
                <a:solidFill>
                  <a:srgbClr val="4B2A7B"/>
                </a:solidFill>
                <a:latin typeface="Prompt"/>
                <a:ea typeface="Prompt"/>
                <a:cs typeface="Prompt"/>
              </a:rPr>
              <a:t>Tools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3035808"/>
            <a:ext cx="2834640" cy="3657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 i="0">
                <a:solidFill>
                  <a:srgbClr val="7B4FC9"/>
                </a:solidFill>
                <a:latin typeface="Prompt"/>
                <a:ea typeface="Prompt"/>
                <a:cs typeface="Prompt"/>
              </a:rPr>
              <a:t>→ Connectors · Routines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3456432"/>
            <a:ext cx="2834640" cy="9601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เชื่อมแอปจาก Marketplace · ใช้เบราว์เซอร์บนคอมพิวเตอร์คลาวด์ · Skills + ตั้งเวลาให้ทำเอง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4663440"/>
            <a:ext cx="3383280" cy="1371600"/>
          </a:xfrm>
          <a:prstGeom prst="roundRect">
            <a:avLst>
              <a:gd name="adj" fmla="val 12000"/>
            </a:avLst>
          </a:prstGeom>
          <a:solidFill>
            <a:srgbClr val="E7D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200" b="1">
                <a:solidFill>
                  <a:srgbClr val="4B2A7B"/>
                </a:solidFill>
                <a:latin typeface="Prompt"/>
                <a:ea typeface="Prompt"/>
                <a:cs typeface="Prompt"/>
              </a:rPr>
              <a:t>ระดับ 1</a:t>
            </a:r>
          </a:p>
          <a:p>
            <a:pPr algn="ctr"/>
            <a:r>
              <a:rPr sz="1800" b="1">
                <a:solidFill>
                  <a:srgbClr val="4B2A7B"/>
                </a:solidFill>
                <a:latin typeface="Prompt"/>
                <a:ea typeface="Prompt"/>
                <a:cs typeface="Prompt"/>
              </a:rPr>
              <a:t>แชตธรรมดา</a:t>
            </a:r>
          </a:p>
          <a:p>
            <a:pPr algn="ctr"/>
            <a:r>
              <a:rPr sz="1300" b="0">
                <a:solidFill>
                  <a:srgbClr val="4B2A7B"/>
                </a:solidFill>
                <a:latin typeface="Sarabun"/>
                <a:ea typeface="Sarabun"/>
                <a:cs typeface="Sarabun"/>
              </a:rPr>
              <a:t>อธิบายใหม่ทุกครั้ง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24528" y="5074920"/>
            <a:ext cx="274320" cy="54864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3000" b="1" i="0">
                <a:solidFill>
                  <a:srgbClr val="7B4FC9"/>
                </a:solidFill>
                <a:latin typeface="Prompt"/>
                <a:ea typeface="Prompt"/>
                <a:cs typeface="Prompt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89120" y="4663440"/>
            <a:ext cx="3383280" cy="1371600"/>
          </a:xfrm>
          <a:prstGeom prst="roundRect">
            <a:avLst>
              <a:gd name="adj" fmla="val 12000"/>
            </a:avLst>
          </a:prstGeom>
          <a:solidFill>
            <a:srgbClr val="C9B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200" b="1">
                <a:solidFill>
                  <a:srgbClr val="4B2A7B"/>
                </a:solidFill>
                <a:latin typeface="Prompt"/>
                <a:ea typeface="Prompt"/>
                <a:cs typeface="Prompt"/>
              </a:rPr>
              <a:t>ระดับ 2 · แผนสำรอง</a:t>
            </a:r>
          </a:p>
          <a:p>
            <a:pPr algn="ctr"/>
            <a:r>
              <a:rPr sz="1800" b="1">
                <a:solidFill>
                  <a:srgbClr val="4B2A7B"/>
                </a:solidFill>
                <a:latin typeface="Prompt"/>
                <a:ea typeface="Prompt"/>
                <a:cs typeface="Prompt"/>
              </a:rPr>
              <a:t>ผู้ช่วยที่ตั้งค่าเอง</a:t>
            </a:r>
          </a:p>
          <a:p>
            <a:pPr algn="ctr"/>
            <a:r>
              <a:rPr sz="1300" b="0">
                <a:solidFill>
                  <a:srgbClr val="4B2A7B"/>
                </a:solidFill>
                <a:latin typeface="Sarabun"/>
                <a:ea typeface="Sarabun"/>
                <a:cs typeface="Sarabun"/>
              </a:rPr>
              <a:t>ChatGPT Projects / Gemini Skills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90688" y="5074920"/>
            <a:ext cx="274320" cy="54864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3000" b="1" i="0">
                <a:solidFill>
                  <a:srgbClr val="7B4FC9"/>
                </a:solidFill>
                <a:latin typeface="Prompt"/>
                <a:ea typeface="Prompt"/>
                <a:cs typeface="Prompt"/>
              </a:rPr>
              <a:t>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55279" y="4663440"/>
            <a:ext cx="3383280" cy="1371600"/>
          </a:xfrm>
          <a:prstGeom prst="roundRect">
            <a:avLst>
              <a:gd name="adj" fmla="val 12000"/>
            </a:avLst>
          </a:prstGeom>
          <a:solidFill>
            <a:srgbClr val="4B2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Prompt"/>
                <a:ea typeface="Prompt"/>
                <a:cs typeface="Prompt"/>
              </a:rPr>
              <a:t>ระดับ 3 · วันนี้</a:t>
            </a:r>
          </a:p>
          <a:p>
            <a:pPr algn="ctr"/>
            <a:r>
              <a:rPr sz="1800" b="1">
                <a:solidFill>
                  <a:srgbClr val="FFFFFF"/>
                </a:solidFill>
                <a:latin typeface="Prompt"/>
                <a:ea typeface="Prompt"/>
                <a:cs typeface="Prompt"/>
              </a:rPr>
              <a:t>Agent ที่ลงมือทำงาน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Grok Bot: จำได้ · เชื่อมแอป · ตั้งเวลา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B2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772400" cy="3657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 i="0">
                <a:solidFill>
                  <a:srgbClr val="7B4FC9"/>
                </a:solidFill>
                <a:latin typeface="Prompt"/>
                <a:ea typeface="Prompt"/>
                <a:cs typeface="Prompt"/>
              </a:rPr>
              <a:t>Part 2 · เลือกแพลตฟอร์ม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9509760" cy="8229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1" i="0">
                <a:solidFill>
                  <a:srgbClr val="4B2A7B"/>
                </a:solidFill>
                <a:latin typeface="Prompt"/>
                <a:ea typeface="Prompt"/>
                <a:cs typeface="Prompt"/>
              </a:rPr>
              <a:t>วันนี้สร้างบนแพลตฟอร์มไหน?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555480" y="384048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E7D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200" b="1">
                <a:solidFill>
                  <a:srgbClr val="4B2A7B"/>
                </a:solidFill>
                <a:latin typeface="Prompt"/>
                <a:ea typeface="Prompt"/>
                <a:cs typeface="Prompt"/>
              </a:rPr>
              <a:t>⏱ 13:33 · 2 นาที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5F596B"/>
                </a:solidFill>
                <a:latin typeface="Sarabun"/>
                <a:ea typeface="Sarabun"/>
                <a:cs typeface="Sarabun"/>
              </a:rPr>
              <a:t>AI ผู้ช่วยส่วนตัว Workshop · 7 พ.ย. 2026 · Living Room Thonglor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5F596B"/>
                </a:solidFill>
                <a:latin typeface="Sarabun"/>
                <a:ea typeface="Sarabun"/>
                <a:cs typeface="Sarabun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600200"/>
            <a:ext cx="6583680" cy="4526280"/>
          </a:xfrm>
          <a:prstGeom prst="roundRect">
            <a:avLst>
              <a:gd name="adj" fmla="val 6000"/>
            </a:avLst>
          </a:prstGeom>
          <a:solidFill>
            <a:srgbClr val="4B2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1097280" y="1828800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7B4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Prompt"/>
                <a:ea typeface="Prompt"/>
                <a:cs typeface="Prompt"/>
              </a:rPr>
              <a:t>แพลตฟอร์มหลัก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286000"/>
            <a:ext cx="6126480" cy="64008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Grok Bot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2450592"/>
            <a:ext cx="4023360" cy="45720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C9B6EE"/>
                </a:solidFill>
                <a:latin typeface="Sarabun"/>
                <a:ea typeface="Sarabun"/>
                <a:cs typeface="Sarabun"/>
              </a:rPr>
              <a:t>AI teammate บนเดสก์ท็อป &amp; มือถือ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017520"/>
            <a:ext cx="6126480" cy="30175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550" b="1" i="0">
                <a:solidFill>
                  <a:srgbClr val="C9B6EE"/>
                </a:solidFill>
                <a:latin typeface="Prompt"/>
                <a:ea typeface="Prompt"/>
                <a:cs typeface="Prompt"/>
              </a:rPr>
              <a:t>✔ Agent ตัวจริง </a:t>
            </a:r>
            <a:r>
              <a:rPr sz="1550" b="0" i="0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มีคอมพิวเตอร์บนคลาวด์ (เบราว์เซอร์ ไฟล์) ทำงานต่อแม้ปิดโน้ตบุ๊ก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550" b="1" i="0">
                <a:solidFill>
                  <a:srgbClr val="C9B6EE"/>
                </a:solidFill>
                <a:latin typeface="Prompt"/>
                <a:ea typeface="Prompt"/>
                <a:cs typeface="Prompt"/>
              </a:rPr>
              <a:t>✔ จำได้ </a:t>
            </a:r>
            <a:r>
              <a:rPr sz="1550" b="0" i="0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Memory เก็บความชอบ ข้อมูลสำคัญ และสรุปงานข้ามบทสนทนา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550" b="1" i="0">
                <a:solidFill>
                  <a:srgbClr val="C9B6EE"/>
                </a:solidFill>
                <a:latin typeface="Prompt"/>
                <a:ea typeface="Prompt"/>
                <a:cs typeface="Prompt"/>
              </a:rPr>
              <a:t>✔ เชื่อมแอปของเรา </a:t>
            </a:r>
            <a:r>
              <a:rPr sz="1550" b="0" i="0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Connectors จาก Marketplace + ใช้เว็บไซต์ได้แบบคน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550" b="1" i="0">
                <a:solidFill>
                  <a:srgbClr val="C9B6EE"/>
                </a:solidFill>
                <a:latin typeface="Prompt"/>
                <a:ea typeface="Prompt"/>
                <a:cs typeface="Prompt"/>
              </a:rPr>
              <a:t>✔ ตั้งเวลาให้ทำเอง </a:t>
            </a:r>
            <a:r>
              <a:rPr sz="1550" b="0" i="0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Routines เช่น ส่งเมนูวันนี้ทุกเช้า 7:00 น.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550" b="1" i="0">
                <a:solidFill>
                  <a:srgbClr val="FFF3DC"/>
                </a:solidFill>
                <a:latin typeface="Prompt"/>
                <a:ea typeface="Prompt"/>
                <a:cs typeface="Prompt"/>
              </a:rPr>
              <a:t>เงื่อนไข: </a:t>
            </a:r>
            <a:r>
              <a:rPr sz="1550" b="0" i="0">
                <a:solidFill>
                  <a:srgbClr val="E7DEF8"/>
                </a:solidFill>
                <a:latin typeface="Sarabun"/>
                <a:ea typeface="Sarabun"/>
                <a:cs typeface="Sarabun"/>
              </a:rPr>
              <a:t>ต้องมีแพ็กเกจที่รองรับ และติดตั้ง + Sign in ล่วงหน้า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1600200"/>
            <a:ext cx="365760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7909560" y="1801368"/>
            <a:ext cx="457200" cy="64008"/>
          </a:xfrm>
          <a:prstGeom prst="rect">
            <a:avLst/>
          </a:prstGeom>
          <a:solidFill>
            <a:srgbClr val="7B4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863840" y="1920240"/>
            <a:ext cx="3291840" cy="5029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 i="0">
                <a:solidFill>
                  <a:srgbClr val="4B2A7B"/>
                </a:solidFill>
                <a:latin typeface="Prompt"/>
                <a:ea typeface="Prompt"/>
                <a:cs typeface="Prompt"/>
              </a:rPr>
              <a:t>สำรอง 1 · ChatGPT Projects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2377440"/>
            <a:ext cx="3291840" cy="12801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ฟรีบนบัญชี Free · ใส่ Instructions + ไฟล์ได้ (5 ไฟล์/โปรเจกต์) · สำหรับคนที่ไม่มีแพ็กเกจ Grok Bot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0" y="3931920"/>
            <a:ext cx="365760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7909560" y="4133087"/>
            <a:ext cx="457200" cy="64008"/>
          </a:xfrm>
          <a:prstGeom prst="rect">
            <a:avLst/>
          </a:prstGeom>
          <a:solidFill>
            <a:srgbClr val="4B2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863840" y="4251959"/>
            <a:ext cx="3291840" cy="5029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 i="0">
                <a:solidFill>
                  <a:srgbClr val="4B2A7B"/>
                </a:solidFill>
                <a:latin typeface="Prompt"/>
                <a:ea typeface="Prompt"/>
                <a:cs typeface="Prompt"/>
              </a:rPr>
              <a:t>สำรอง 2 · แชตไหนก็ได้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4709159"/>
            <a:ext cx="3291840" cy="132588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วาง Core Prompt เป็นข้อความแรก แล้วคุยต่อในแชตเดิม (Gemini, Claude, Grok หรือแม้แต่ Copilot)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B2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772400" cy="3657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 i="0">
                <a:solidFill>
                  <a:srgbClr val="7B4FC9"/>
                </a:solidFill>
                <a:latin typeface="Prompt"/>
                <a:ea typeface="Prompt"/>
                <a:cs typeface="Prompt"/>
              </a:rPr>
              <a:t>Part 2 ·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9509760" cy="8229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1" i="0">
                <a:solidFill>
                  <a:srgbClr val="4B2A7B"/>
                </a:solidFill>
                <a:latin typeface="Prompt"/>
                <a:ea typeface="Prompt"/>
                <a:cs typeface="Prompt"/>
              </a:rPr>
              <a:t>Step-by-step: สร้าง Agent บน Grok Bot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555480" y="384048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E7D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200" b="1">
                <a:solidFill>
                  <a:srgbClr val="4B2A7B"/>
                </a:solidFill>
                <a:latin typeface="Prompt"/>
                <a:ea typeface="Prompt"/>
                <a:cs typeface="Prompt"/>
              </a:rPr>
              <a:t>⏱ 13:35 · 6 นาที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5F596B"/>
                </a:solidFill>
                <a:latin typeface="Sarabun"/>
                <a:ea typeface="Sarabun"/>
                <a:cs typeface="Sarabun"/>
              </a:rPr>
              <a:t>AI ผู้ช่วยส่วนตัว Workshop · 7 พ.ย. 2026 · Living Room Thonglor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5F596B"/>
                </a:solidFill>
                <a:latin typeface="Sarabun"/>
                <a:ea typeface="Sarabun"/>
                <a:cs typeface="Sarabun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600200"/>
            <a:ext cx="5120640" cy="12984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1024128" y="1901952"/>
            <a:ext cx="685800" cy="685800"/>
          </a:xfrm>
          <a:prstGeom prst="ellipse">
            <a:avLst/>
          </a:prstGeom>
          <a:solidFill>
            <a:srgbClr val="7B4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2200" b="1">
                <a:solidFill>
                  <a:srgbClr val="FFFFFF"/>
                </a:solidFill>
                <a:latin typeface="Prompt"/>
                <a:ea typeface="Prompt"/>
                <a:cs typeface="Prompt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1691640"/>
            <a:ext cx="3931920" cy="41148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 i="0">
                <a:solidFill>
                  <a:srgbClr val="4B2A7B"/>
                </a:solidFill>
                <a:latin typeface="Prompt"/>
                <a:ea typeface="Prompt"/>
                <a:cs typeface="Prompt"/>
              </a:rPr>
              <a:t>ติดตั้ง &amp; Sign 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075688"/>
            <a:ext cx="3977639" cy="8229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x.ai/bot → ดาวน์โหลดตามเครื่อง → Sign in ด้วยบัญชี Cursor ในเบราว์เซอร์ (ใช้ SuperGrok? กด Link Grok Account)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063240"/>
            <a:ext cx="5120640" cy="12984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1024128" y="3364992"/>
            <a:ext cx="685800" cy="685800"/>
          </a:xfrm>
          <a:prstGeom prst="ellipse">
            <a:avLst/>
          </a:prstGeom>
          <a:solidFill>
            <a:srgbClr val="7B4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2200" b="1">
                <a:solidFill>
                  <a:srgbClr val="FFFFFF"/>
                </a:solidFill>
                <a:latin typeface="Prompt"/>
                <a:ea typeface="Prompt"/>
                <a:cs typeface="Prompt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3154680"/>
            <a:ext cx="3931920" cy="41148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 i="0">
                <a:solidFill>
                  <a:srgbClr val="4B2A7B"/>
                </a:solidFill>
                <a:latin typeface="Prompt"/>
                <a:ea typeface="Prompt"/>
                <a:cs typeface="Prompt"/>
              </a:rPr>
              <a:t>สร้าง Bot ใหม่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3538728"/>
            <a:ext cx="3977639" cy="8229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แถบซ้ายกด New (Cmd/Ctrl+N) → Create new Bot
บนมือถือ: ปุ่ม + → New Bot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526280"/>
            <a:ext cx="5120640" cy="12984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1024128" y="4828032"/>
            <a:ext cx="685800" cy="685800"/>
          </a:xfrm>
          <a:prstGeom prst="ellipse">
            <a:avLst/>
          </a:prstGeom>
          <a:solidFill>
            <a:srgbClr val="4B2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2200" b="1">
                <a:solidFill>
                  <a:srgbClr val="FFFFFF"/>
                </a:solidFill>
                <a:latin typeface="Prompt"/>
                <a:ea typeface="Prompt"/>
                <a:cs typeface="Prompt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617720"/>
            <a:ext cx="3931920" cy="41148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 i="0">
                <a:solidFill>
                  <a:srgbClr val="4B2A7B"/>
                </a:solidFill>
                <a:latin typeface="Prompt"/>
                <a:ea typeface="Prompt"/>
                <a:cs typeface="Prompt"/>
              </a:rPr>
              <a:t>ตั้งโปรไฟล์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5001768"/>
            <a:ext cx="3977639" cy="8229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Edit Profile → Name เช่น “โค้ชอาหาร” → วาง Core Prompt ในช่อง Description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1600200"/>
            <a:ext cx="5120640" cy="12984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6373368" y="1901952"/>
            <a:ext cx="685800" cy="685800"/>
          </a:xfrm>
          <a:prstGeom prst="ellipse">
            <a:avLst/>
          </a:prstGeom>
          <a:solidFill>
            <a:srgbClr val="7B4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2200" b="1">
                <a:solidFill>
                  <a:srgbClr val="FFFFFF"/>
                </a:solidFill>
                <a:latin typeface="Prompt"/>
                <a:ea typeface="Prompt"/>
                <a:cs typeface="Prompt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1691640"/>
            <a:ext cx="3931920" cy="41148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 i="0">
                <a:solidFill>
                  <a:srgbClr val="4B2A7B"/>
                </a:solidFill>
                <a:latin typeface="Prompt"/>
                <a:ea typeface="Prompt"/>
                <a:cs typeface="Prompt"/>
              </a:rPr>
              <a:t>สั่งงานแรก &amp; สอนให้จำ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2075688"/>
            <a:ext cx="3977639" cy="8229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พิมพ์หรือพูดในช่องแชต · ความชอบถาวร บอกว่า “จำไว้ว่า…” หรือเพิ่มใน Description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063240"/>
            <a:ext cx="5120640" cy="12984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6373368" y="3364992"/>
            <a:ext cx="685800" cy="685800"/>
          </a:xfrm>
          <a:prstGeom prst="ellipse">
            <a:avLst/>
          </a:prstGeom>
          <a:solidFill>
            <a:srgbClr val="7B4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2200" b="1">
                <a:solidFill>
                  <a:srgbClr val="FFFFFF"/>
                </a:solidFill>
                <a:latin typeface="Prompt"/>
                <a:ea typeface="Prompt"/>
                <a:cs typeface="Prompt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3154680"/>
            <a:ext cx="3931920" cy="41148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 i="0">
                <a:solidFill>
                  <a:srgbClr val="4B2A7B"/>
                </a:solidFill>
                <a:latin typeface="Prompt"/>
                <a:ea typeface="Prompt"/>
                <a:cs typeface="Prompt"/>
              </a:rPr>
              <a:t>เชื่อมแอป (เลือกได้)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3538728"/>
            <a:ext cx="3977639" cy="8229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Marketplace ที่แถบซ้าย → Add → ยืนยันในเบราว์เซอร์ → ในแชตพิมพ์ @ เพื่อเรียก connector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4526280"/>
            <a:ext cx="5120640" cy="12984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6373368" y="4828032"/>
            <a:ext cx="685800" cy="685800"/>
          </a:xfrm>
          <a:prstGeom prst="ellipse">
            <a:avLst/>
          </a:prstGeom>
          <a:solidFill>
            <a:srgbClr val="7B4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2200" b="1">
                <a:solidFill>
                  <a:srgbClr val="FFFFFF"/>
                </a:solidFill>
                <a:latin typeface="Prompt"/>
                <a:ea typeface="Prompt"/>
                <a:cs typeface="Prompt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0" y="4617720"/>
            <a:ext cx="3931920" cy="41148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 i="0">
                <a:solidFill>
                  <a:srgbClr val="4B2A7B"/>
                </a:solidFill>
                <a:latin typeface="Prompt"/>
                <a:ea typeface="Prompt"/>
                <a:cs typeface="Prompt"/>
              </a:rPr>
              <a:t>ตั้ง Routine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5001768"/>
            <a:ext cx="3977639" cy="8229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บอก Bot: “ทุกวัน 7:00 น. ทำ…” → Bot สร้าง routine + แสดงรอบถัดไป → กด Test run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 i="0">
                <a:solidFill>
                  <a:srgbClr val="5F596B"/>
                </a:solidFill>
                <a:latin typeface="Sarabun"/>
                <a:ea typeface="Sarabun"/>
                <a:cs typeface="Sarabun"/>
              </a:rPr>
              <a:t>ชื่อปุ่มอ้างอิง docs.x.ai/grok-bot (ต.ค. 2026) · หน้าจอจริงอาจต่างเล็กน้อย · ตั้ง Timezone เป็นเวลาไทยใน Settings → Bot ก่อนตั้ง routine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B2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772400" cy="3657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 i="0">
                <a:solidFill>
                  <a:srgbClr val="7B4FC9"/>
                </a:solidFill>
                <a:latin typeface="Prompt"/>
                <a:ea typeface="Prompt"/>
                <a:cs typeface="Prompt"/>
              </a:rPr>
              <a:t>Part 2 · แทร็กคู่ขนาน · ไม่มีแพ็กเกจ Grok 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9509760" cy="8229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1" i="0">
                <a:solidFill>
                  <a:srgbClr val="4B2A7B"/>
                </a:solidFill>
                <a:latin typeface="Prompt"/>
                <a:ea typeface="Prompt"/>
                <a:cs typeface="Prompt"/>
              </a:rPr>
              <a:t>Step-by-step: สร้าง Agent บน ChatGPT (ฟรี)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555480" y="384048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E7D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200" b="1">
                <a:solidFill>
                  <a:srgbClr val="4B2A7B"/>
                </a:solidFill>
                <a:latin typeface="Prompt"/>
                <a:ea typeface="Prompt"/>
                <a:cs typeface="Prompt"/>
              </a:rPr>
              <a:t>⏱ 13:41 · 1 นาที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5F596B"/>
                </a:solidFill>
                <a:latin typeface="Sarabun"/>
                <a:ea typeface="Sarabun"/>
                <a:cs typeface="Sarabun"/>
              </a:rPr>
              <a:t>AI ผู้ช่วยส่วนตัว Workshop · 7 พ.ย. 2026 · Living Room Thonglor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5F596B"/>
                </a:solidFill>
                <a:latin typeface="Sarabun"/>
                <a:ea typeface="Sarabun"/>
                <a:cs typeface="Sarabun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536192"/>
            <a:ext cx="6537960" cy="66751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960120" y="1645919"/>
            <a:ext cx="448056" cy="448056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Prompt"/>
                <a:ea typeface="Prompt"/>
                <a:cs typeface="Prompt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36192" y="1591056"/>
            <a:ext cx="2240280" cy="566928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 i="0">
                <a:solidFill>
                  <a:srgbClr val="4B2A7B"/>
                </a:solidFill>
                <a:latin typeface="Prompt"/>
                <a:ea typeface="Prompt"/>
                <a:cs typeface="Prompt"/>
              </a:rPr>
              <a:t>Sign 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1572768"/>
            <a:ext cx="3520440" cy="603504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chatgpt.com หรือแอป ChatGPT · บัญชี Free ใช้ได้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295144"/>
            <a:ext cx="6537960" cy="66751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960120" y="2404872"/>
            <a:ext cx="448056" cy="448056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Prompt"/>
                <a:ea typeface="Prompt"/>
                <a:cs typeface="Prompt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2350008"/>
            <a:ext cx="2240280" cy="566928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 i="0">
                <a:solidFill>
                  <a:srgbClr val="4B2A7B"/>
                </a:solidFill>
                <a:latin typeface="Prompt"/>
                <a:ea typeface="Prompt"/>
                <a:cs typeface="Prompt"/>
              </a:rPr>
              <a:t>New project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2331720"/>
            <a:ext cx="3520440" cy="603504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แถบซ้าย → New project → ตั้งชื่อ เช่น “โค้ชอาหาร” (เลือกไอคอน/สีได้)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054096"/>
            <a:ext cx="6537960" cy="66751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960120" y="3163824"/>
            <a:ext cx="448056" cy="448056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Prompt"/>
                <a:ea typeface="Prompt"/>
                <a:cs typeface="Prompt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36192" y="3108960"/>
            <a:ext cx="2240280" cy="566928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 i="0">
                <a:solidFill>
                  <a:srgbClr val="4B2A7B"/>
                </a:solidFill>
                <a:latin typeface="Prompt"/>
                <a:ea typeface="Prompt"/>
                <a:cs typeface="Prompt"/>
              </a:rPr>
              <a:t>ใส่ Instructions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3090672"/>
            <a:ext cx="3520440" cy="603504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เมนู ••• → Project settings → วาง Core Prompt เดียวกันในช่อง Instructions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3813048"/>
            <a:ext cx="6537960" cy="66751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960120" y="3922776"/>
            <a:ext cx="448056" cy="448056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Prompt"/>
                <a:ea typeface="Prompt"/>
                <a:cs typeface="Prompt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36192" y="3867911"/>
            <a:ext cx="2240280" cy="566928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 i="0">
                <a:solidFill>
                  <a:srgbClr val="4B2A7B"/>
                </a:solidFill>
                <a:latin typeface="Prompt"/>
                <a:ea typeface="Prompt"/>
                <a:cs typeface="Prompt"/>
              </a:rPr>
              <a:t>Add files (เลือกได้)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39" y="3849624"/>
            <a:ext cx="3520440" cy="603504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PDF · ชีต · เอกสาร · รูป — Free ได้ 5 ไฟล์ต่อโปรเจกต์ · ห้ามไฟล์ข้อมูลส่วนตัว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4572000"/>
            <a:ext cx="6537960" cy="66751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960120" y="4681728"/>
            <a:ext cx="448056" cy="448056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Prompt"/>
                <a:ea typeface="Prompt"/>
                <a:cs typeface="Prompt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626864"/>
            <a:ext cx="2240280" cy="566928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 i="0">
                <a:solidFill>
                  <a:srgbClr val="4B2A7B"/>
                </a:solidFill>
                <a:latin typeface="Prompt"/>
                <a:ea typeface="Prompt"/>
                <a:cs typeface="Prompt"/>
              </a:rPr>
              <a:t>ทดสอบในโปรเจกต์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9039" y="4608576"/>
            <a:ext cx="3520440" cy="603504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เริ่มแชตใหม่ “ในโปรเจกต์” → “จัดเมนูสัปดาห์นี้” → ทดสอบ 3 แบบ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5330951"/>
            <a:ext cx="6537960" cy="66751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960120" y="5440679"/>
            <a:ext cx="448056" cy="448056"/>
          </a:xfrm>
          <a:prstGeom prst="ellipse">
            <a:avLst/>
          </a:prstGeom>
          <a:solidFill>
            <a:srgbClr val="5F5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Prompt"/>
                <a:ea typeface="Prompt"/>
                <a:cs typeface="Prompt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36192" y="5385815"/>
            <a:ext cx="2240280" cy="566928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 i="0">
                <a:solidFill>
                  <a:srgbClr val="4B2A7B"/>
                </a:solidFill>
                <a:latin typeface="Prompt"/>
                <a:ea typeface="Prompt"/>
                <a:cs typeface="Prompt"/>
              </a:rPr>
              <a:t>ให้จำทุกแชต (เลือกได้)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49039" y="5367527"/>
            <a:ext cx="3520440" cy="603504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Settings → Personalization → Custom Instructions (Free ≤ 1,500 ตัวอักษร) · Memory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89520" y="1536192"/>
            <a:ext cx="3749039" cy="44622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9B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772400" y="1645920"/>
            <a:ext cx="3474720" cy="41148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50" b="1" i="0">
                <a:solidFill>
                  <a:srgbClr val="4B2A7B"/>
                </a:solidFill>
                <a:latin typeface="Prompt"/>
                <a:ea typeface="Prompt"/>
                <a:cs typeface="Prompt"/>
              </a:rPr>
              <a:t>ChatGPT ฟรี เทียบ Grok Bot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2103120"/>
            <a:ext cx="3429000" cy="384048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350" b="1" i="0">
                <a:solidFill>
                  <a:srgbClr val="1F7A4D"/>
                </a:solidFill>
                <a:latin typeface="Prompt"/>
                <a:ea typeface="Prompt"/>
                <a:cs typeface="Prompt"/>
              </a:rPr>
              <a:t>✔ ทำได้ </a:t>
            </a:r>
            <a:r>
              <a:rPr sz="135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Instructions + ไฟล์ · จำบริบทแชตในโปรเจกต์ · Core Prompt เดียวกัน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350" b="1" i="0">
                <a:solidFill>
                  <a:srgbClr val="C0395B"/>
                </a:solidFill>
                <a:latin typeface="Prompt"/>
                <a:ea typeface="Prompt"/>
                <a:cs typeface="Prompt"/>
              </a:rPr>
              <a:t>✘ ไม่มี </a:t>
            </a:r>
            <a:r>
              <a:rPr sz="135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คอมพิวเตอร์คลาวด์ที่ลงมือทำงานแทน และ Connectors แบบ Grok Bot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350" b="1" i="0">
                <a:solidFill>
                  <a:srgbClr val="C0395B"/>
                </a:solidFill>
                <a:latin typeface="Prompt"/>
                <a:ea typeface="Prompt"/>
                <a:cs typeface="Prompt"/>
              </a:rPr>
              <a:t>✘ </a:t>
            </a:r>
            <a:r>
              <a:rPr sz="135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สร้าง Custom GPT ใหม่ไม่ได้ (บัญชีส่วนตัวทุกแพ็กเกจ)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350" b="1" i="0">
                <a:solidFill>
                  <a:srgbClr val="9A5600"/>
                </a:solidFill>
                <a:latin typeface="Prompt"/>
                <a:ea typeface="Prompt"/>
                <a:cs typeface="Prompt"/>
              </a:rPr>
              <a:t>△ ตั้งเวลา: </a:t>
            </a:r>
            <a:r>
              <a:rPr sz="135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Free อาจตั้ง scheduled task ได้แบบจำกัด (≤ 3 งาน · วันละครั้ง · ช่วงเช้า/บ่าย/ค่ำ ไม่ระบุเวลาเป๊ะ) — ลองในบัญชีตัวเอง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50" b="0" i="0">
                <a:solidFill>
                  <a:srgbClr val="5F596B"/>
                </a:solidFill>
                <a:latin typeface="Sarabun"/>
                <a:ea typeface="Sarabun"/>
                <a:cs typeface="Sarabun"/>
              </a:rPr>
              <a:t>Grok Bot: routine ตรงเวลา เช่น 7:00 น. ทุกวัน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6053328"/>
            <a:ext cx="10515600" cy="32004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 i="0">
                <a:solidFill>
                  <a:srgbClr val="5F596B"/>
                </a:solidFill>
                <a:latin typeface="Sarabun"/>
                <a:ea typeface="Sarabun"/>
                <a:cs typeface="Sarabun"/>
              </a:rPr>
              <a:t>ชื่อเมนูอ้างอิง OpenAI Help Center (ต.ค. 2026) · หน้าจอจริงอาจต่างเล็กน้อย · ใช้บัญชีส่วนตัว ไม่ใช่บัญชีบริษัท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B2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772400" cy="3657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 i="0">
                <a:solidFill>
                  <a:srgbClr val="7B4FC9"/>
                </a:solidFill>
                <a:latin typeface="Prompt"/>
                <a:ea typeface="Prompt"/>
                <a:cs typeface="Prompt"/>
              </a:rPr>
              <a:t>Part 2 · Template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9509760" cy="8229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1" i="0">
                <a:solidFill>
                  <a:srgbClr val="4B2A7B"/>
                </a:solidFill>
                <a:latin typeface="Prompt"/>
                <a:ea typeface="Prompt"/>
                <a:cs typeface="Prompt"/>
              </a:rPr>
              <a:t>Core Prompt → วางใน Description ของ Bot ใหม่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555480" y="384048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E7D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200" b="1">
                <a:solidFill>
                  <a:srgbClr val="4B2A7B"/>
                </a:solidFill>
                <a:latin typeface="Prompt"/>
                <a:ea typeface="Prompt"/>
                <a:cs typeface="Prompt"/>
              </a:rPr>
              <a:t>⏱ 13:42 · 4 นาที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5F596B"/>
                </a:solidFill>
                <a:latin typeface="Sarabun"/>
                <a:ea typeface="Sarabun"/>
                <a:cs typeface="Sarabun"/>
              </a:rPr>
              <a:t>AI ผู้ช่วยส่วนตัว Workshop · 7 พ.ย. 2026 · Living Room Thonglor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5F596B"/>
                </a:solidFill>
                <a:latin typeface="Sarabun"/>
                <a:ea typeface="Sarabun"/>
                <a:cs typeface="Sarabun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554480"/>
            <a:ext cx="6766560" cy="4663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C9B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97280" y="1783080"/>
            <a:ext cx="6309360" cy="43891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550" b="1" i="0">
                <a:solidFill>
                  <a:srgbClr val="4B2A7B"/>
                </a:solidFill>
                <a:latin typeface="Prompt"/>
                <a:ea typeface="Prompt"/>
                <a:cs typeface="Prompt"/>
              </a:rPr>
              <a:t>บทบาท: </a:t>
            </a:r>
            <a:r>
              <a:rPr sz="155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คุณคือ </a:t>
            </a:r>
            <a:r>
              <a:rPr sz="1550" b="1" i="0">
                <a:solidFill>
                  <a:srgbClr val="7B4FC9"/>
                </a:solidFill>
                <a:latin typeface="Sarabun"/>
                <a:ea typeface="Sarabun"/>
                <a:cs typeface="Sarabun"/>
              </a:rPr>
              <a:t>[บทบาท]</a:t>
            </a:r>
            <a:r>
              <a:rPr sz="155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 ประจำตัวฉัน ดูแลเรื่อง </a:t>
            </a:r>
            <a:r>
              <a:rPr sz="1550" b="1" i="0">
                <a:solidFill>
                  <a:srgbClr val="7B4FC9"/>
                </a:solidFill>
                <a:latin typeface="Sarabun"/>
                <a:ea typeface="Sarabun"/>
                <a:cs typeface="Sarabun"/>
              </a:rPr>
              <a:t>[หัวข้อ]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550" b="1" i="0">
                <a:solidFill>
                  <a:srgbClr val="4B2A7B"/>
                </a:solidFill>
                <a:latin typeface="Prompt"/>
                <a:ea typeface="Prompt"/>
                <a:cs typeface="Prompt"/>
              </a:rPr>
              <a:t>เป้าหมาย: </a:t>
            </a:r>
            <a:r>
              <a:rPr sz="155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ช่วยให้ฉัน </a:t>
            </a:r>
            <a:r>
              <a:rPr sz="1550" b="1" i="0">
                <a:solidFill>
                  <a:srgbClr val="7B4FC9"/>
                </a:solidFill>
                <a:latin typeface="Sarabun"/>
                <a:ea typeface="Sarabun"/>
                <a:cs typeface="Sarabun"/>
              </a:rPr>
              <a:t>[เป้าหมาย]</a:t>
            </a:r>
            <a:r>
              <a:rPr sz="155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 ภายใน </a:t>
            </a:r>
            <a:r>
              <a:rPr sz="1550" b="1" i="0">
                <a:solidFill>
                  <a:srgbClr val="7B4FC9"/>
                </a:solidFill>
                <a:latin typeface="Sarabun"/>
                <a:ea typeface="Sarabun"/>
                <a:cs typeface="Sarabun"/>
              </a:rPr>
              <a:t>[ระยะเวลา/เงื่อนไข]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550" b="1" i="0">
                <a:solidFill>
                  <a:srgbClr val="4B2A7B"/>
                </a:solidFill>
                <a:latin typeface="Prompt"/>
                <a:ea typeface="Prompt"/>
                <a:cs typeface="Prompt"/>
              </a:rPr>
              <a:t>ข้อมูลเกี่ยวกับฉัน: </a:t>
            </a:r>
            <a:r>
              <a:rPr sz="1550" b="1" i="0">
                <a:solidFill>
                  <a:srgbClr val="7B4FC9"/>
                </a:solidFill>
                <a:latin typeface="Sarabun"/>
                <a:ea typeface="Sarabun"/>
                <a:cs typeface="Sarabun"/>
              </a:rPr>
              <a:t>[ข้อมูลเกี่ยวกับฉัน]</a:t>
            </a:r>
            <a:r>
              <a:rPr sz="155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 — จำไว้ และอัปเดตเมื่อฉันบอกความชอบใหม่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550" b="1" i="0">
                <a:solidFill>
                  <a:srgbClr val="4B2A7B"/>
                </a:solidFill>
                <a:latin typeface="Prompt"/>
                <a:ea typeface="Prompt"/>
                <a:cs typeface="Prompt"/>
              </a:rPr>
              <a:t>วิธีทำงาน: </a:t>
            </a:r>
            <a:r>
              <a:rPr sz="155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ข้อมูลไม่พอ ให้ถามก่อนไม่เกิน 3 ข้อ · ใช้แอปที่เชื่อมไว้เมื่อจำเป็น · บอกแหล่งที่มา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550" b="1" i="0">
                <a:solidFill>
                  <a:srgbClr val="4B2A7B"/>
                </a:solidFill>
                <a:latin typeface="Prompt"/>
                <a:ea typeface="Prompt"/>
                <a:cs typeface="Prompt"/>
              </a:rPr>
              <a:t>รูปแบบคำตอบ: </a:t>
            </a:r>
            <a:r>
              <a:rPr sz="1550" b="1" i="0">
                <a:solidFill>
                  <a:srgbClr val="7B4FC9"/>
                </a:solidFill>
                <a:latin typeface="Sarabun"/>
                <a:ea typeface="Sarabun"/>
                <a:cs typeface="Sarabun"/>
              </a:rPr>
              <a:t>[รูปแบบคำตอบ]</a:t>
            </a:r>
            <a:r>
              <a:rPr sz="155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 เช่น ภาษาไทย กระชับ ตาราง/bullet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550" b="1" i="0">
                <a:solidFill>
                  <a:srgbClr val="4B2A7B"/>
                </a:solidFill>
                <a:latin typeface="Prompt"/>
                <a:ea typeface="Prompt"/>
                <a:cs typeface="Prompt"/>
              </a:rPr>
              <a:t>ข้อห้าม: </a:t>
            </a:r>
            <a:r>
              <a:rPr sz="1550" b="1" i="0">
                <a:solidFill>
                  <a:srgbClr val="7B4FC9"/>
                </a:solidFill>
                <a:latin typeface="Sarabun"/>
                <a:ea typeface="Sarabun"/>
                <a:cs typeface="Sarabun"/>
              </a:rPr>
              <a:t>[ข้อห้าม]</a:t>
            </a:r>
            <a:r>
              <a:rPr sz="155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 · ต้องขออนุมัติก่อน ส่งข้อความ ซื้อ ลบ หรือนัดหมายแทนฉัน · ไม่แน่ใจให้บอกตรงๆ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1554480"/>
            <a:ext cx="347472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8092440" y="1755648"/>
            <a:ext cx="457200" cy="64008"/>
          </a:xfrm>
          <a:prstGeom prst="rect">
            <a:avLst/>
          </a:prstGeom>
          <a:solidFill>
            <a:srgbClr val="7B4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046719" y="1874519"/>
            <a:ext cx="3108960" cy="5029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 i="0">
                <a:solidFill>
                  <a:srgbClr val="4B2A7B"/>
                </a:solidFill>
                <a:latin typeface="Prompt"/>
                <a:ea typeface="Prompt"/>
                <a:cs typeface="Prompt"/>
              </a:rPr>
              <a:t>วางตรงไหน?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9" y="2331720"/>
            <a:ext cx="3108960" cy="1463039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•  Grok Bot: Edit Profile → Description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•  งานเฉพาะครั้ง: พิมพ์ในแชต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•  ChatGPT: Project instructions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•  อื่นๆ: ข้อความแรกของแชต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4069080"/>
            <a:ext cx="347472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8092440" y="4270248"/>
            <a:ext cx="457200" cy="64008"/>
          </a:xfrm>
          <a:prstGeom prst="rect">
            <a:avLst/>
          </a:prstGeom>
          <a:solidFill>
            <a:srgbClr val="4B2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46719" y="4389120"/>
            <a:ext cx="3108960" cy="5029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 i="0">
                <a:solidFill>
                  <a:srgbClr val="4B2A7B"/>
                </a:solidFill>
                <a:latin typeface="Prompt"/>
                <a:ea typeface="Prompt"/>
                <a:cs typeface="Prompt"/>
              </a:rPr>
              <a:t>เคล็ดลับ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9" y="4846320"/>
            <a:ext cx="3108960" cy="12801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•  Description = กฎที่ต้องจริงเสมอ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•  เฉพาะเจาะจง &gt; ยาว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•  Core Prompt ฉบับเต็ม → [ลิงก์/QR — เติม]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B2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772400" cy="3657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 i="0">
                <a:solidFill>
                  <a:srgbClr val="7B4FC9"/>
                </a:solidFill>
                <a:latin typeface="Prompt"/>
                <a:ea typeface="Prompt"/>
                <a:cs typeface="Prompt"/>
              </a:rPr>
              <a:t>Part 2 · 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9509760" cy="8229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1" i="0">
                <a:solidFill>
                  <a:srgbClr val="4B2A7B"/>
                </a:solidFill>
                <a:latin typeface="Prompt"/>
                <a:ea typeface="Prompt"/>
                <a:cs typeface="Prompt"/>
              </a:rPr>
              <a:t>ไอเดีย Agent ส่วนตัว — เลือก 1 อย่างที่ใช้จริง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555480" y="384048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E7D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200" b="1">
                <a:solidFill>
                  <a:srgbClr val="4B2A7B"/>
                </a:solidFill>
                <a:latin typeface="Prompt"/>
                <a:ea typeface="Prompt"/>
                <a:cs typeface="Prompt"/>
              </a:rPr>
              <a:t>⏱ 13:46 · 2 นาที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5F596B"/>
                </a:solidFill>
                <a:latin typeface="Sarabun"/>
                <a:ea typeface="Sarabun"/>
                <a:cs typeface="Sarabun"/>
              </a:rPr>
              <a:t>AI ผู้ช่วยส่วนตัว Workshop · 7 พ.ย. 2026 · Living Room Thonglor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5F596B"/>
                </a:solidFill>
                <a:latin typeface="Sarabun"/>
                <a:ea typeface="Sarabun"/>
                <a:cs typeface="Sarabun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600200"/>
            <a:ext cx="2514600" cy="4526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22960" y="1600200"/>
            <a:ext cx="2514600" cy="1143000"/>
          </a:xfrm>
          <a:prstGeom prst="roundRect">
            <a:avLst>
              <a:gd name="adj" fmla="val 12000"/>
            </a:avLst>
          </a:prstGeom>
          <a:solidFill>
            <a:srgbClr val="E7D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005840" y="1737360"/>
            <a:ext cx="914400" cy="54864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60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240280"/>
            <a:ext cx="2194560" cy="45720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 i="0">
                <a:solidFill>
                  <a:srgbClr val="7B4FC9"/>
                </a:solidFill>
                <a:latin typeface="Prompt"/>
                <a:ea typeface="Prompt"/>
                <a:cs typeface="Prompt"/>
              </a:rPr>
              <a:t>โค้ชอาหารและสุขภาพ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834640"/>
            <a:ext cx="2194560" cy="8229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 i="0">
                <a:solidFill>
                  <a:srgbClr val="4B2A7B"/>
                </a:solidFill>
                <a:latin typeface="Prompt"/>
                <a:ea typeface="Prompt"/>
                <a:cs typeface="Prompt"/>
              </a:rPr>
              <a:t>Meal &amp; Health Planner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657600"/>
            <a:ext cx="2194560" cy="246888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50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ใส่: อาหารที่แพ้/ไม่กิน งบ เวลาทำอาหาร เป้าหมาย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500" b="0" i="0">
                <a:solidFill>
                  <a:srgbClr val="7B4FC9"/>
                </a:solidFill>
                <a:latin typeface="Sarabun"/>
                <a:ea typeface="Sarabun"/>
                <a:cs typeface="Sarabun"/>
              </a:rPr>
              <a:t>ถาม: “จัดเมนูสัปดาห์นี้ + รายการของที่ต้องซื้อ”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1600200"/>
            <a:ext cx="2514600" cy="4526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3520440" y="1600200"/>
            <a:ext cx="2514600" cy="1143000"/>
          </a:xfrm>
          <a:prstGeom prst="roundRect">
            <a:avLst>
              <a:gd name="adj" fmla="val 12000"/>
            </a:avLst>
          </a:prstGeom>
          <a:solidFill>
            <a:srgbClr val="E7D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703320" y="1737360"/>
            <a:ext cx="914400" cy="54864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60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✈️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2240280"/>
            <a:ext cx="2194560" cy="45720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 i="0">
                <a:solidFill>
                  <a:srgbClr val="7B4FC9"/>
                </a:solidFill>
                <a:latin typeface="Prompt"/>
                <a:ea typeface="Prompt"/>
                <a:cs typeface="Prompt"/>
              </a:rPr>
              <a:t>ผู้วางแผนเที่ยว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2834640"/>
            <a:ext cx="2194560" cy="8229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 i="0">
                <a:solidFill>
                  <a:srgbClr val="4B2A7B"/>
                </a:solidFill>
                <a:latin typeface="Prompt"/>
                <a:ea typeface="Prompt"/>
                <a:cs typeface="Prompt"/>
              </a:rPr>
              <a:t>Travel Planner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3657600"/>
            <a:ext cx="2194560" cy="246888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50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ใส่: สไตล์เที่ยว งบ คนร่วมทริป ข้อจำกัดการเดิน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500" b="0" i="0">
                <a:solidFill>
                  <a:srgbClr val="7B4FC9"/>
                </a:solidFill>
                <a:latin typeface="Sarabun"/>
                <a:ea typeface="Sarabun"/>
                <a:cs typeface="Sarabun"/>
              </a:rPr>
              <a:t>ถาม: “ทริปญี่ปุ่น 5 วัน เดือน ธ.ค. เน้นของกินและออนเซ็น”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1600200"/>
            <a:ext cx="2514600" cy="4526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217920" y="1600200"/>
            <a:ext cx="2514600" cy="1143000"/>
          </a:xfrm>
          <a:prstGeom prst="roundRect">
            <a:avLst>
              <a:gd name="adj" fmla="val 12000"/>
            </a:avLst>
          </a:prstGeom>
          <a:solidFill>
            <a:srgbClr val="E7D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00800" y="1737360"/>
            <a:ext cx="914400" cy="54864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60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240280"/>
            <a:ext cx="2194560" cy="45720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 i="0">
                <a:solidFill>
                  <a:srgbClr val="7B4FC9"/>
                </a:solidFill>
                <a:latin typeface="Prompt"/>
                <a:ea typeface="Prompt"/>
                <a:cs typeface="Prompt"/>
              </a:rPr>
              <a:t>ผู้ช่วยวางแผนการเงิน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834640"/>
            <a:ext cx="2194560" cy="8229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 i="0">
                <a:solidFill>
                  <a:srgbClr val="4B2A7B"/>
                </a:solidFill>
                <a:latin typeface="Prompt"/>
                <a:ea typeface="Prompt"/>
                <a:cs typeface="Prompt"/>
              </a:rPr>
              <a:t>Personal Finance Tracker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657600"/>
            <a:ext cx="2194560" cy="246888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50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ใส่: รายรับ-รายจ่ายคร่าวๆ (ไม่ใส่เลขบัญชี) เป้าหมายออม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500" b="0" i="0">
                <a:solidFill>
                  <a:srgbClr val="7B4FC9"/>
                </a:solidFill>
                <a:latin typeface="Sarabun"/>
                <a:ea typeface="Sarabun"/>
                <a:cs typeface="Sarabun"/>
              </a:rPr>
              <a:t>ถาม: “สรุปค่าใช้จ่ายเดือนนี้ และแนะนำจุดที่ลดได้”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15400" y="1600200"/>
            <a:ext cx="2514600" cy="4526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8915400" y="1600200"/>
            <a:ext cx="2514600" cy="1143000"/>
          </a:xfrm>
          <a:prstGeom prst="roundRect">
            <a:avLst>
              <a:gd name="adj" fmla="val 12000"/>
            </a:avLst>
          </a:prstGeom>
          <a:solidFill>
            <a:srgbClr val="E7D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098280" y="1737360"/>
            <a:ext cx="914400" cy="54864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60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8280" y="2240280"/>
            <a:ext cx="2194560" cy="45720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 i="0">
                <a:solidFill>
                  <a:srgbClr val="7B4FC9"/>
                </a:solidFill>
                <a:latin typeface="Prompt"/>
                <a:ea typeface="Prompt"/>
                <a:cs typeface="Prompt"/>
              </a:rPr>
              <a:t>โค้ชการเรียนรู้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98280" y="2834640"/>
            <a:ext cx="2194560" cy="8229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 i="0">
                <a:solidFill>
                  <a:srgbClr val="4B2A7B"/>
                </a:solidFill>
                <a:latin typeface="Prompt"/>
                <a:ea typeface="Prompt"/>
                <a:cs typeface="Prompt"/>
              </a:rPr>
              <a:t>Learning Coach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8280" y="3657600"/>
            <a:ext cx="2194560" cy="246888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50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ใส่: เรื่องที่อยากเรียน ระดับปัจจุบัน เวลาว่างต่อวัน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500" b="0" i="0">
                <a:solidFill>
                  <a:srgbClr val="7B4FC9"/>
                </a:solidFill>
                <a:latin typeface="Sarabun"/>
                <a:ea typeface="Sarabun"/>
                <a:cs typeface="Sarabun"/>
              </a:rPr>
              <a:t>ถาม: “ฝึกภาษาญี่ปุ่นวันละ 15 นาที ทดสอบฉันด้วย”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B2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772400" cy="3657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 i="0">
                <a:solidFill>
                  <a:srgbClr val="7B4FC9"/>
                </a:solidFill>
                <a:latin typeface="Prompt"/>
                <a:ea typeface="Prompt"/>
                <a:cs typeface="Prompt"/>
              </a:rPr>
              <a:t>Part 2 ·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9509760" cy="8229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1" i="0">
                <a:solidFill>
                  <a:srgbClr val="4B2A7B"/>
                </a:solidFill>
                <a:latin typeface="Prompt"/>
                <a:ea typeface="Prompt"/>
                <a:cs typeface="Prompt"/>
              </a:rPr>
              <a:t>ตัวอย่างใน Grok Bot: “โค้ชอาหารของฉัน”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555480" y="384048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E7D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200" b="1">
                <a:solidFill>
                  <a:srgbClr val="4B2A7B"/>
                </a:solidFill>
                <a:latin typeface="Prompt"/>
                <a:ea typeface="Prompt"/>
                <a:cs typeface="Prompt"/>
              </a:rPr>
              <a:t>⏱ 13:48 · 2 นาที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5F596B"/>
                </a:solidFill>
                <a:latin typeface="Sarabun"/>
                <a:ea typeface="Sarabun"/>
                <a:cs typeface="Sarabun"/>
              </a:rPr>
              <a:t>AI ผู้ช่วยส่วนตัว Workshop · 7 พ.ย. 2026 · Living Room Thonglor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5F596B"/>
                </a:solidFill>
                <a:latin typeface="Sarabun"/>
                <a:ea typeface="Sarabun"/>
                <a:cs typeface="Sarabun"/>
              </a:rP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554480"/>
            <a:ext cx="6309360" cy="4663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C9B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22960" y="1554480"/>
            <a:ext cx="6309360" cy="685800"/>
          </a:xfrm>
          <a:prstGeom prst="roundRect">
            <a:avLst>
              <a:gd name="adj" fmla="val 20000"/>
            </a:avLst>
          </a:prstGeom>
          <a:solidFill>
            <a:srgbClr val="E7D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1005840" y="1664208"/>
            <a:ext cx="457200" cy="457200"/>
          </a:xfrm>
          <a:prstGeom prst="ellipse">
            <a:avLst/>
          </a:prstGeom>
          <a:solidFill>
            <a:srgbClr val="7B4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Prompt"/>
                <a:ea typeface="Prompt"/>
                <a:cs typeface="Prompt"/>
              </a:rPr>
              <a:t>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1645920"/>
            <a:ext cx="5394960" cy="502920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 i="0">
                <a:solidFill>
                  <a:srgbClr val="5F596B"/>
                </a:solidFill>
                <a:latin typeface="Sarabun"/>
                <a:ea typeface="Sarabun"/>
                <a:cs typeface="Sarabun"/>
              </a:rPr>
              <a:t>Name: </a:t>
            </a:r>
            <a:r>
              <a:rPr sz="1700" b="1" i="0">
                <a:solidFill>
                  <a:srgbClr val="4B2A7B"/>
                </a:solidFill>
                <a:latin typeface="Prompt"/>
                <a:ea typeface="Prompt"/>
                <a:cs typeface="Prompt"/>
              </a:rPr>
              <a:t>โค้ชอาหาร</a:t>
            </a:r>
            <a:r>
              <a:rPr sz="1300" b="0" i="0">
                <a:solidFill>
                  <a:srgbClr val="5F596B"/>
                </a:solidFill>
                <a:latin typeface="Sarabun"/>
                <a:ea typeface="Sarabun"/>
                <a:cs typeface="Sarabun"/>
              </a:rPr>
              <a:t>    Label: </a:t>
            </a:r>
            <a:r>
              <a:rPr sz="1400" b="0" i="0">
                <a:solidFill>
                  <a:srgbClr val="4B2A7B"/>
                </a:solidFill>
                <a:latin typeface="Sarabun"/>
                <a:ea typeface="Sarabun"/>
                <a:cs typeface="Sarabun"/>
              </a:rPr>
              <a:t>อาหาร &amp; สุขภาพ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331720"/>
            <a:ext cx="5943600" cy="3657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 i="0">
                <a:solidFill>
                  <a:srgbClr val="7B4FC9"/>
                </a:solidFill>
                <a:latin typeface="Prompt"/>
                <a:ea typeface="Prompt"/>
                <a:cs typeface="Prompt"/>
              </a:rPr>
              <a:t>Description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697480"/>
            <a:ext cx="5943600" cy="34747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550" b="1" i="0">
                <a:solidFill>
                  <a:srgbClr val="4B2A7B"/>
                </a:solidFill>
                <a:latin typeface="Prompt"/>
                <a:ea typeface="Prompt"/>
                <a:cs typeface="Prompt"/>
              </a:rPr>
              <a:t>บทบาท: </a:t>
            </a:r>
            <a:r>
              <a:rPr sz="155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นักโภชนาการและเชฟประจำบ้าน วางแผนอาหารประจำสัปดาห์ให้ฉัน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550" b="1" i="0">
                <a:solidFill>
                  <a:srgbClr val="4B2A7B"/>
                </a:solidFill>
                <a:latin typeface="Prompt"/>
                <a:ea typeface="Prompt"/>
                <a:cs typeface="Prompt"/>
              </a:rPr>
              <a:t>เป้าหมาย: </a:t>
            </a:r>
            <a:r>
              <a:rPr sz="155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ลดของทอด ทำอาหารเอง 4 วัน/สัปดาห์ งบไม่เกิน 1,500 บาท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550" b="1" i="0">
                <a:solidFill>
                  <a:srgbClr val="4B2A7B"/>
                </a:solidFill>
                <a:latin typeface="Prompt"/>
                <a:ea typeface="Prompt"/>
                <a:cs typeface="Prompt"/>
              </a:rPr>
              <a:t>ข้อมูลเกี่ยวกับฉัน: </a:t>
            </a:r>
            <a:r>
              <a:rPr sz="155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อยู่ 2 คน ไม่กินเนื้อวัว แพ้กุ้ง มีเวลาทำอาหาร 30 นาที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550" b="1" i="0">
                <a:solidFill>
                  <a:srgbClr val="4B2A7B"/>
                </a:solidFill>
                <a:latin typeface="Prompt"/>
                <a:ea typeface="Prompt"/>
                <a:cs typeface="Prompt"/>
              </a:rPr>
              <a:t>รูปแบบคำตอบ: </a:t>
            </a:r>
            <a:r>
              <a:rPr sz="155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ภาษาไทย ตารางเมนู + รายการซื้อของ + ราคาโดยประมาณ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550" b="1" i="0">
                <a:solidFill>
                  <a:srgbClr val="4B2A7B"/>
                </a:solidFill>
                <a:latin typeface="Prompt"/>
                <a:ea typeface="Prompt"/>
                <a:cs typeface="Prompt"/>
              </a:rPr>
              <a:t>ข้อห้าม: </a:t>
            </a:r>
            <a:r>
              <a:rPr sz="155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ห้ามเมนูกุ้ง · ห้ามสั่งซื้อของเอง ต้องถามก่อน · ไม่ให้คำแนะนำทางการแพทย์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1554480"/>
            <a:ext cx="3931920" cy="4663440"/>
          </a:xfrm>
          <a:prstGeom prst="roundRect">
            <a:avLst>
              <a:gd name="adj" fmla="val 6000"/>
            </a:avLst>
          </a:prstGeom>
          <a:solidFill>
            <a:srgbClr val="4B2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635240" y="1755648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7B4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Prompt"/>
                <a:ea typeface="Prompt"/>
                <a:cs typeface="Prompt"/>
              </a:rPr>
              <a:t>⏰ ตัวอย่าง Routine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2240280"/>
            <a:ext cx="3520440" cy="21031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 i="0">
                <a:solidFill>
                  <a:srgbClr val="C9B6EE"/>
                </a:solidFill>
                <a:latin typeface="Prompt"/>
                <a:ea typeface="Prompt"/>
                <a:cs typeface="Prompt"/>
              </a:rPr>
              <a:t>พิมพ์บอก Bot: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“ทุกวันเวลา 7:00 น. (เวลาไทย) ส่งเมนูวันนี้ 3 มื้อ + ของที่ต้องเตรียม ในแชตนี้ ถ้าไม่รู้ว่าในตู้เย็นมีอะไร ให้ถามฉันแทนการเดา ห้ามสั่งซื้อของเอง”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4160520"/>
            <a:ext cx="3520440" cy="17373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1" i="0">
                <a:solidFill>
                  <a:srgbClr val="C9B6EE"/>
                </a:solidFill>
                <a:latin typeface="Prompt"/>
                <a:ea typeface="Prompt"/>
                <a:cs typeface="Prompt"/>
              </a:rPr>
              <a:t>แล้ว: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0" i="0">
                <a:solidFill>
                  <a:srgbClr val="E7DEF8"/>
                </a:solidFill>
                <a:latin typeface="Sarabun"/>
                <a:ea typeface="Sarabun"/>
                <a:cs typeface="Sarabun"/>
              </a:rPr>
              <a:t>✔ Bot สร้าง routine + บอกรอบถัดไป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0" i="0">
                <a:solidFill>
                  <a:srgbClr val="E7DEF8"/>
                </a:solidFill>
                <a:latin typeface="Sarabun"/>
                <a:ea typeface="Sarabun"/>
                <a:cs typeface="Sarabun"/>
              </a:rPr>
              <a:t>✔ กด Test run ลองหนึ่งรอบ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0" i="0">
                <a:solidFill>
                  <a:srgbClr val="E7DEF8"/>
                </a:solidFill>
                <a:latin typeface="Sarabun"/>
                <a:ea typeface="Sarabun"/>
                <a:cs typeface="Sarabun"/>
              </a:rPr>
              <a:t>✔ งานยังทำต่อแม้ปิดโน้ตบุ๊ก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B2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772400" cy="3657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 i="0">
                <a:solidFill>
                  <a:srgbClr val="7B4FC9"/>
                </a:solidFill>
                <a:latin typeface="Prompt"/>
                <a:ea typeface="Prompt"/>
                <a:cs typeface="Prompt"/>
              </a:rPr>
              <a:t>Part 2 · ลงมือทำ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9509760" cy="8229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1" i="0">
                <a:solidFill>
                  <a:srgbClr val="4B2A7B"/>
                </a:solidFill>
                <a:latin typeface="Prompt"/>
                <a:ea typeface="Prompt"/>
                <a:cs typeface="Prompt"/>
              </a:rPr>
              <a:t>Hands-on: สร้าง Agent ของคุณ — เลือก 1 แทร็ก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555480" y="384048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E7D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200" b="1">
                <a:solidFill>
                  <a:srgbClr val="4B2A7B"/>
                </a:solidFill>
                <a:latin typeface="Prompt"/>
                <a:ea typeface="Prompt"/>
                <a:cs typeface="Prompt"/>
              </a:rPr>
              <a:t>⏱ 13:50 · 25 นาที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5F596B"/>
                </a:solidFill>
                <a:latin typeface="Sarabun"/>
                <a:ea typeface="Sarabun"/>
                <a:cs typeface="Sarabun"/>
              </a:rPr>
              <a:t>AI ผู้ช่วยส่วนตัว Workshop · 7 พ.ย. 2026 · Living Room Thonglor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5F596B"/>
                </a:solidFill>
                <a:latin typeface="Sarabun"/>
                <a:ea typeface="Sarabun"/>
                <a:cs typeface="Sarabun"/>
              </a:rPr>
              <a:t>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600200"/>
            <a:ext cx="3657600" cy="4526280"/>
          </a:xfrm>
          <a:prstGeom prst="roundRect">
            <a:avLst>
              <a:gd name="adj" fmla="val 8000"/>
            </a:avLst>
          </a:prstGeom>
          <a:solidFill>
            <a:srgbClr val="4B2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60" y="1920240"/>
            <a:ext cx="3657600" cy="45720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800" b="1" i="0">
                <a:solidFill>
                  <a:srgbClr val="C9B6EE"/>
                </a:solidFill>
                <a:latin typeface="Prompt"/>
                <a:ea typeface="Prompt"/>
                <a:cs typeface="Prompt"/>
              </a:rPr>
              <a:t>เวลาที่มี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77440"/>
            <a:ext cx="3657600" cy="146304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8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25:00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886200"/>
            <a:ext cx="3657600" cy="45720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2000" b="0" i="0">
                <a:solidFill>
                  <a:srgbClr val="E7DEF8"/>
                </a:solidFill>
                <a:latin typeface="Prompt"/>
                <a:ea typeface="Prompt"/>
                <a:cs typeface="Prompt"/>
              </a:rPr>
              <a:t>13:50 – 14:15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526280"/>
            <a:ext cx="3200400" cy="146304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400" b="0" i="0">
                <a:solidFill>
                  <a:srgbClr val="E7DEF8"/>
                </a:solidFill>
                <a:latin typeface="Sarabun"/>
                <a:ea typeface="Sarabun"/>
                <a:cs typeface="Sarabun"/>
              </a:rPr>
              <a:t>ติดตรงไหน ยกมือได้เลย 🙋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400" b="0" i="0">
                <a:solidFill>
                  <a:srgbClr val="E7DEF8"/>
                </a:solidFill>
                <a:latin typeface="Sarabun"/>
                <a:ea typeface="Sarabun"/>
                <a:cs typeface="Sarabun"/>
              </a:rPr>
              <a:t>ไม่มีแพ็กเกจ Grok Bot?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400" b="0" i="0">
                <a:solidFill>
                  <a:srgbClr val="E7DEF8"/>
                </a:solidFill>
                <a:latin typeface="Sarabun"/>
                <a:ea typeface="Sarabun"/>
                <a:cs typeface="Sarabun"/>
              </a:rPr>
              <a:t>→ แทร็ก ChatGPT ฟรี (สไลด์ 17)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1600200"/>
            <a:ext cx="662940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4892040" y="173736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E7D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250" b="1">
                <a:solidFill>
                  <a:srgbClr val="4B2A7B"/>
                </a:solidFill>
                <a:latin typeface="Prompt"/>
                <a:ea typeface="Prompt"/>
                <a:cs typeface="Prompt"/>
              </a:rPr>
              <a:t>0–5 นาที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691640"/>
            <a:ext cx="4754880" cy="45720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 i="0">
                <a:solidFill>
                  <a:srgbClr val="4B2A7B"/>
                </a:solidFill>
                <a:latin typeface="Prompt"/>
                <a:ea typeface="Prompt"/>
                <a:cs typeface="Prompt"/>
              </a:rPr>
              <a:t>เติม Core Prompt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2075688"/>
            <a:ext cx="6355080" cy="54864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เลือก use case 1 อย่าง → เติมช่องว่างทั้ง 5 ช่องใน Core Prompt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60" y="2761488"/>
            <a:ext cx="662940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4892040" y="2898648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E7D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250" b="1">
                <a:solidFill>
                  <a:srgbClr val="4B2A7B"/>
                </a:solidFill>
                <a:latin typeface="Prompt"/>
                <a:ea typeface="Prompt"/>
                <a:cs typeface="Prompt"/>
              </a:rPr>
              <a:t>5–12 นาที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852928"/>
            <a:ext cx="4754880" cy="45720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 i="0">
                <a:solidFill>
                  <a:srgbClr val="4B2A7B"/>
                </a:solidFill>
                <a:latin typeface="Prompt"/>
                <a:ea typeface="Prompt"/>
                <a:cs typeface="Prompt"/>
              </a:rPr>
              <a:t>สร้าง &amp; วาง Core Prompt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40" y="3236976"/>
            <a:ext cx="6355080" cy="54864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Grok Bot: Create new Bot → Edit Profile → Description
ChatGPT: New project → ••• → Project settings → Instructions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09160" y="3922776"/>
            <a:ext cx="662940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4892040" y="4059936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E7D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250" b="1">
                <a:solidFill>
                  <a:srgbClr val="4B2A7B"/>
                </a:solidFill>
                <a:latin typeface="Prompt"/>
                <a:ea typeface="Prompt"/>
                <a:cs typeface="Prompt"/>
              </a:rPr>
              <a:t>12–20 นาที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014215"/>
            <a:ext cx="4754880" cy="45720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 i="0">
                <a:solidFill>
                  <a:srgbClr val="4B2A7B"/>
                </a:solidFill>
                <a:latin typeface="Prompt"/>
                <a:ea typeface="Prompt"/>
                <a:cs typeface="Prompt"/>
              </a:rPr>
              <a:t>ต่อยอด 1 อย่าง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4398264"/>
            <a:ext cx="6355080" cy="54864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Grok Bot: เชื่อม 1 แอป หรือตั้ง 1 Routine
ChatGPT: Add files (≤ 5) หรือ Custom Instructions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09160" y="5084064"/>
            <a:ext cx="662940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4892040" y="5221224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E7D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250" b="1">
                <a:solidFill>
                  <a:srgbClr val="4B2A7B"/>
                </a:solidFill>
                <a:latin typeface="Prompt"/>
                <a:ea typeface="Prompt"/>
                <a:cs typeface="Prompt"/>
              </a:rPr>
              <a:t>20–25 นาที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5175504"/>
            <a:ext cx="4754880" cy="45720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 i="0">
                <a:solidFill>
                  <a:srgbClr val="4B2A7B"/>
                </a:solidFill>
                <a:latin typeface="Prompt"/>
                <a:ea typeface="Prompt"/>
                <a:cs typeface="Prompt"/>
              </a:rPr>
              <a:t>ทดสอบ 3 คำถาม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92040" y="5559552"/>
            <a:ext cx="6355080" cy="54864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ปกติ · กำกวม · นอกขอบเขต → ถ้าตั้ง routine ให้กด Test run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B2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772400" cy="3657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 i="0">
                <a:solidFill>
                  <a:srgbClr val="7B4FC9"/>
                </a:solidFill>
                <a:latin typeface="Prompt"/>
                <a:ea typeface="Prompt"/>
                <a:cs typeface="Prompt"/>
              </a:rPr>
              <a:t>Part 2 · แผนสำรอง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9509760" cy="8229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1" i="0">
                <a:solidFill>
                  <a:srgbClr val="4B2A7B"/>
                </a:solidFill>
                <a:latin typeface="Prompt"/>
                <a:ea typeface="Prompt"/>
                <a:cs typeface="Prompt"/>
              </a:rPr>
              <a:t>แผนสำรอง: ไม่มีแพ็กเกจ Grok Bot ทำแบบนี้แทน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555480" y="384048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E7D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200" b="1">
                <a:solidFill>
                  <a:srgbClr val="4B2A7B"/>
                </a:solidFill>
                <a:latin typeface="Prompt"/>
                <a:ea typeface="Prompt"/>
                <a:cs typeface="Prompt"/>
              </a:rPr>
              <a:t>⏱ ใช้ตอน Hands-on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5F596B"/>
                </a:solidFill>
                <a:latin typeface="Sarabun"/>
                <a:ea typeface="Sarabun"/>
                <a:cs typeface="Sarabun"/>
              </a:rPr>
              <a:t>AI ผู้ช่วยส่วนตัว Workshop · 7 พ.ย. 2026 · Living Room Thonglor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5F596B"/>
                </a:solidFill>
                <a:latin typeface="Sarabun"/>
                <a:ea typeface="Sarabun"/>
                <a:cs typeface="Sarabun"/>
              </a:rP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600200"/>
            <a:ext cx="3749039" cy="4526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1051560" y="1801368"/>
            <a:ext cx="457200" cy="64008"/>
          </a:xfrm>
          <a:prstGeom prst="rect">
            <a:avLst/>
          </a:prstGeom>
          <a:solidFill>
            <a:srgbClr val="7B4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005840" y="1920240"/>
            <a:ext cx="3383279" cy="5029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 i="0">
                <a:solidFill>
                  <a:srgbClr val="4B2A7B"/>
                </a:solidFill>
                <a:latin typeface="Prompt"/>
                <a:ea typeface="Prompt"/>
                <a:cs typeface="Prompt"/>
              </a:rPr>
              <a:t>1 · ChatGPT Projects (ฟรี)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377440"/>
            <a:ext cx="3383279" cy="3657599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1. chatgpt.com หรือแอป ChatGPT · ล็อกอิน (Free ได้)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2. แถบซ้าย → New project → ตั้งชื่อ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3. เมนู ••• → Project settings → วาง Core Prompt ใน Instructions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4. (เลือกได้) Add files — Free ได้ 5 ไฟล์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5. เริ่มแชต “ในโปรเจกต์” แล้วทดสอบ 3 คำถาม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 i="0">
                <a:solidFill>
                  <a:srgbClr val="9A5600"/>
                </a:solidFill>
                <a:latin typeface="Sarabun"/>
                <a:ea typeface="Sarabun"/>
                <a:cs typeface="Sarabun"/>
              </a:rPr>
              <a:t>ขั้นตอนเต็ม + ข้อจำกัด: สไลด์ 17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1600200"/>
            <a:ext cx="3200400" cy="4526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4983480" y="1801368"/>
            <a:ext cx="457200" cy="64008"/>
          </a:xfrm>
          <a:prstGeom prst="rect">
            <a:avLst/>
          </a:prstGeom>
          <a:solidFill>
            <a:srgbClr val="7B4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937760" y="1920240"/>
            <a:ext cx="2834640" cy="5029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 i="0">
                <a:solidFill>
                  <a:srgbClr val="4B2A7B"/>
                </a:solidFill>
                <a:latin typeface="Prompt"/>
                <a:ea typeface="Prompt"/>
                <a:cs typeface="Prompt"/>
              </a:rPr>
              <a:t>2 · Gemini / Claude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2377440"/>
            <a:ext cx="2834640" cy="3657599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 i="0">
                <a:solidFill>
                  <a:srgbClr val="4B2A7B"/>
                </a:solidFill>
                <a:latin typeface="Sarabun"/>
                <a:ea typeface="Sarabun"/>
                <a:cs typeface="Sarabun"/>
              </a:rPr>
              <a:t>Gemini Skills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Settings → Skills → Create manually → วาง Core Prompt ใน Instructions → Create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 i="0">
                <a:solidFill>
                  <a:srgbClr val="9A5600"/>
                </a:solidFill>
                <a:latin typeface="Sarabun"/>
                <a:ea typeface="Sarabun"/>
                <a:cs typeface="Sarabun"/>
              </a:rPr>
              <a:t>อายุ 18+ · ต้องเปิด Keep Activity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 i="0">
                <a:solidFill>
                  <a:srgbClr val="4B2A7B"/>
                </a:solidFill>
                <a:latin typeface="Sarabun"/>
                <a:ea typeface="Sarabun"/>
                <a:cs typeface="Sarabun"/>
              </a:rPr>
              <a:t>Claude Projects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Projects → New project → ใส่ instructions → แชตในโปรเจกต์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 i="0">
                <a:solidFill>
                  <a:srgbClr val="9A5600"/>
                </a:solidFill>
                <a:latin typeface="Sarabun"/>
                <a:ea typeface="Sarabun"/>
                <a:cs typeface="Sarabun"/>
              </a:rPr>
              <a:t>ฟรีสูงสุด 5 Projects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600200"/>
            <a:ext cx="3200400" cy="4526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8366760" y="1801368"/>
            <a:ext cx="457200" cy="64008"/>
          </a:xfrm>
          <a:prstGeom prst="rect">
            <a:avLst/>
          </a:prstGeom>
          <a:solidFill>
            <a:srgbClr val="4B2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321040" y="1920240"/>
            <a:ext cx="2834640" cy="5029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 i="0">
                <a:solidFill>
                  <a:srgbClr val="4B2A7B"/>
                </a:solidFill>
                <a:latin typeface="Prompt"/>
                <a:ea typeface="Prompt"/>
                <a:cs typeface="Prompt"/>
              </a:rPr>
              <a:t>3 · แชตไหนก็ได้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377440"/>
            <a:ext cx="2834640" cy="3657599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1. เปิดแชตใหม่ใน AI ที่มี (รวม Grok / Copilot)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2. วาง Core Prompt เป็นข้อความแรก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3. ต่อท้าย “รับทราบแล้วให้ตอบว่า พร้อม”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4. คุยต่อในแชตเดิมเสมอ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 i="0">
                <a:solidFill>
                  <a:srgbClr val="9A5600"/>
                </a:solidFill>
                <a:latin typeface="Sarabun"/>
                <a:ea typeface="Sarabun"/>
                <a:cs typeface="Sarabun"/>
              </a:rPr>
              <a:t>ต้องวางใหม่ทุกแชต · Copilot บริษัท ห้ามใส่ข้อมูลส่วนตัว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B2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772400" cy="3657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 i="0">
                <a:solidFill>
                  <a:srgbClr val="7B4FC9"/>
                </a:solidFill>
                <a:latin typeface="Prompt"/>
                <a:ea typeface="Prompt"/>
                <a:cs typeface="Prompt"/>
              </a:rPr>
              <a:t>Part 2 · Test &amp; improve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9509760" cy="8229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1" i="0">
                <a:solidFill>
                  <a:srgbClr val="4B2A7B"/>
                </a:solidFill>
                <a:latin typeface="Prompt"/>
                <a:ea typeface="Prompt"/>
                <a:cs typeface="Prompt"/>
              </a:rPr>
              <a:t>ทดสอบ &amp; ปรับปรุง Agent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555480" y="384048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E7D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200" b="1">
                <a:solidFill>
                  <a:srgbClr val="4B2A7B"/>
                </a:solidFill>
                <a:latin typeface="Prompt"/>
                <a:ea typeface="Prompt"/>
                <a:cs typeface="Prompt"/>
              </a:rPr>
              <a:t>⏱ 14:15 · 10 นาที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5F596B"/>
                </a:solidFill>
                <a:latin typeface="Sarabun"/>
                <a:ea typeface="Sarabun"/>
                <a:cs typeface="Sarabun"/>
              </a:rPr>
              <a:t>AI ผู้ช่วยส่วนตัว Workshop · 7 พ.ย. 2026 · Living Room Thonglor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5F596B"/>
                </a:solidFill>
                <a:latin typeface="Sarabun"/>
                <a:ea typeface="Sarabun"/>
                <a:cs typeface="Sarabun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5486400" cy="45720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000" b="1" i="0">
                <a:solidFill>
                  <a:srgbClr val="4B2A7B"/>
                </a:solidFill>
                <a:latin typeface="Prompt"/>
                <a:ea typeface="Prompt"/>
                <a:cs typeface="Prompt"/>
              </a:rPr>
              <a:t>ทดสอบ 3 แบบ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965960"/>
            <a:ext cx="512064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1005840" y="2258568"/>
            <a:ext cx="1234440" cy="411480"/>
          </a:xfrm>
          <a:prstGeom prst="roundRect">
            <a:avLst>
              <a:gd name="adj" fmla="val 50000"/>
            </a:avLst>
          </a:prstGeom>
          <a:solidFill>
            <a:srgbClr val="7B4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Prompt"/>
                <a:ea typeface="Prompt"/>
                <a:cs typeface="Prompt"/>
              </a:rPr>
              <a:t>ปกติ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2057400"/>
            <a:ext cx="3474720" cy="8229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5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คำถามที่จะใช้จริงทุกวัน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 i="0">
                <a:solidFill>
                  <a:srgbClr val="7B4FC9"/>
                </a:solidFill>
                <a:latin typeface="Sarabun"/>
                <a:ea typeface="Sarabun"/>
                <a:cs typeface="Sarabun"/>
              </a:rPr>
              <a:t>“จัดเมนูสัปดาห์นี้”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081528"/>
            <a:ext cx="512064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1005840" y="3374136"/>
            <a:ext cx="1234440" cy="411480"/>
          </a:xfrm>
          <a:prstGeom prst="roundRect">
            <a:avLst>
              <a:gd name="adj" fmla="val 50000"/>
            </a:avLst>
          </a:prstGeom>
          <a:solidFill>
            <a:srgbClr val="7B4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Prompt"/>
                <a:ea typeface="Prompt"/>
                <a:cs typeface="Prompt"/>
              </a:rPr>
              <a:t>กำกวม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3172968"/>
            <a:ext cx="3474720" cy="8229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5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ข้อมูลไม่ครบ — ผู้ช่วยถามกลับไหม?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 i="0">
                <a:solidFill>
                  <a:srgbClr val="7B4FC9"/>
                </a:solidFill>
                <a:latin typeface="Sarabun"/>
                <a:ea typeface="Sarabun"/>
                <a:cs typeface="Sarabun"/>
              </a:rPr>
              <a:t>“ช่วยวางแผนเที่ยวหน่อย”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197096"/>
            <a:ext cx="512064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1005840" y="4489704"/>
            <a:ext cx="1234440" cy="411480"/>
          </a:xfrm>
          <a:prstGeom prst="roundRect">
            <a:avLst>
              <a:gd name="adj" fmla="val 50000"/>
            </a:avLst>
          </a:prstGeom>
          <a:solidFill>
            <a:srgbClr val="7B4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Prompt"/>
                <a:ea typeface="Prompt"/>
                <a:cs typeface="Prompt"/>
              </a:rPr>
              <a:t>นอกขอบเขต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4288536"/>
            <a:ext cx="3474720" cy="8229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5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ทดสอบข้อห้าม — ผู้ช่วยปฏิเสธ/เตือนไหม?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 i="0">
                <a:solidFill>
                  <a:srgbClr val="7B4FC9"/>
                </a:solidFill>
                <a:latin typeface="Sarabun"/>
                <a:ea typeface="Sarabun"/>
                <a:cs typeface="Sarabun"/>
              </a:rPr>
              <a:t>“ขอเมนูกุ้งเผา” (ทั้งที่แพ้กุ้ง)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1463040"/>
            <a:ext cx="5486400" cy="45720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000" b="1" i="0">
                <a:solidFill>
                  <a:srgbClr val="4B2A7B"/>
                </a:solidFill>
                <a:latin typeface="Prompt"/>
                <a:ea typeface="Prompt"/>
                <a:cs typeface="Prompt"/>
              </a:rPr>
              <a:t>อาการ → วิธีแก้ใน Instructions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965960"/>
            <a:ext cx="5120640" cy="60350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00800" y="2039112"/>
            <a:ext cx="1828800" cy="457200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1" i="0">
                <a:solidFill>
                  <a:srgbClr val="4B2A7B"/>
                </a:solidFill>
                <a:latin typeface="Prompt"/>
                <a:ea typeface="Prompt"/>
                <a:cs typeface="Prompt"/>
              </a:rPr>
              <a:t>ตอบยาวเกินไป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2039112"/>
            <a:ext cx="3017520" cy="457200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“ตอบไม่เกิน 150 คำ / 5 bullet”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2633472"/>
            <a:ext cx="5120640" cy="60350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400800" y="2706624"/>
            <a:ext cx="1828800" cy="457200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1" i="0">
                <a:solidFill>
                  <a:srgbClr val="4B2A7B"/>
                </a:solidFill>
                <a:latin typeface="Prompt"/>
                <a:ea typeface="Prompt"/>
                <a:cs typeface="Prompt"/>
              </a:rPr>
              <a:t>ไม่ถามกลับ เดาเอง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2706624"/>
            <a:ext cx="3017520" cy="457200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“ถ้าข้อมูลไม่พอ ให้ถามก่อนเสมอ”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3300984"/>
            <a:ext cx="5120640" cy="60350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400800" y="3374136"/>
            <a:ext cx="1828800" cy="457200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1" i="0">
                <a:solidFill>
                  <a:srgbClr val="4B2A7B"/>
                </a:solidFill>
                <a:latin typeface="Prompt"/>
                <a:ea typeface="Prompt"/>
                <a:cs typeface="Prompt"/>
              </a:rPr>
              <a:t>โทนไม่ใช่ตัวเรา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3374136"/>
            <a:ext cx="3017520" cy="457200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ใส่ตัวอย่างคำตอบที่ชอบ 1 ตัวอย่าง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3968496"/>
            <a:ext cx="5120640" cy="60350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400800" y="4041648"/>
            <a:ext cx="1828800" cy="457200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1" i="0">
                <a:solidFill>
                  <a:srgbClr val="4B2A7B"/>
                </a:solidFill>
                <a:latin typeface="Prompt"/>
                <a:ea typeface="Prompt"/>
                <a:cs typeface="Prompt"/>
              </a:rPr>
              <a:t>มั่วตัวเลข/ข้อมูล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4041648"/>
            <a:ext cx="3017520" cy="457200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“ถ้าไม่แน่ใจ ให้บอกว่าไม่แน่ใจ / ค้นเว็บก่อน”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4636008"/>
            <a:ext cx="5120640" cy="60350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400800" y="4709160"/>
            <a:ext cx="1828800" cy="457200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1" i="0">
                <a:solidFill>
                  <a:srgbClr val="4B2A7B"/>
                </a:solidFill>
                <a:latin typeface="Prompt"/>
                <a:ea typeface="Prompt"/>
                <a:cs typeface="Prompt"/>
              </a:rPr>
              <a:t>ลืมข้อจำกัดสำคัญ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4709160"/>
            <a:ext cx="3017520" cy="457200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ใส่ใน Description ของ Bot + ย้ำในข้อห้าม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440680"/>
            <a:ext cx="10515600" cy="731520"/>
          </a:xfrm>
          <a:prstGeom prst="roundRect">
            <a:avLst>
              <a:gd name="adj" fmla="val 25000"/>
            </a:avLst>
          </a:prstGeom>
          <a:solidFill>
            <a:srgbClr val="4B2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l"/>
            <a:r>
              <a:rPr sz="1500" b="1">
                <a:solidFill>
                  <a:srgbClr val="C9B6EE"/>
                </a:solidFill>
                <a:latin typeface="Prompt"/>
                <a:ea typeface="Prompt"/>
                <a:cs typeface="Prompt"/>
              </a:rPr>
              <a:t>Peer test (4 นาที): </a:t>
            </a:r>
            <a:r>
              <a:rPr sz="1500" b="0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สลับให้เพื่อนข้างๆ ลองถาม Agent ของเรา 2 คำถาม → แก้ 1 จุด → อาสาสมัคร 1–2 คนแชร์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B2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97280" y="1463040"/>
            <a:ext cx="3291840" cy="3291840"/>
          </a:xfrm>
          <a:prstGeom prst="ellipse">
            <a:avLst/>
          </a:prstGeom>
          <a:solidFill>
            <a:srgbClr val="4B2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6000" b="1">
                <a:solidFill>
                  <a:srgbClr val="FFFFFF"/>
                </a:solidFill>
                <a:latin typeface="Prompt"/>
                <a:ea typeface="Prompt"/>
                <a:cs typeface="Prompt"/>
              </a:rPr>
              <a:t>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554480"/>
            <a:ext cx="6583680" cy="91440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600" b="1" i="0">
                <a:solidFill>
                  <a:srgbClr val="4B2A7B"/>
                </a:solidFill>
                <a:latin typeface="Prompt"/>
                <a:ea typeface="Prompt"/>
                <a:cs typeface="Prompt"/>
              </a:rPr>
              <a:t>ถาม-ตอบ สั้นๆ ก่อนปิด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2514600"/>
            <a:ext cx="6400800" cy="228600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90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•  สงสัยเรื่องเลือกแพ็กเกจ ฟรี vs จ่ายเงิน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90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•  Agent ยังไม่ตรงใจ — แก้จุดไหนก่อนดี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90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•  อยากต่อยอดไปใช้ที่ทำงาน (คุยเรื่อง Copilot / นโยบายบริษัท)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900" b="0" i="0">
                <a:solidFill>
                  <a:srgbClr val="2E2A36"/>
                </a:solidFill>
                <a:latin typeface="Sarabun"/>
                <a:ea typeface="Sarabun"/>
                <a:cs typeface="Sarabun"/>
              </a:rPr>
              <a:t>•  อยากต่อยอด Bot: เพิ่ม skill / routine / Bot ตัวที่สอง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493776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E7D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400" b="1">
                <a:solidFill>
                  <a:srgbClr val="4B2A7B"/>
                </a:solidFill>
                <a:latin typeface="Prompt"/>
                <a:ea typeface="Prompt"/>
                <a:cs typeface="Prompt"/>
              </a:rPr>
              <a:t>⏱ 14:25 – 14:30 · จบตรงเวลา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5F596B"/>
                </a:solidFill>
                <a:latin typeface="Sarabun"/>
                <a:ea typeface="Sarabun"/>
                <a:cs typeface="Sarabun"/>
              </a:rPr>
              <a:t>AI ผู้ช่วยส่วนตัว Workshop · 7 พ.ย. 2026 · Living Room Thonglor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5F596B"/>
                </a:solidFill>
                <a:latin typeface="Sarabun"/>
                <a:ea typeface="Sarabun"/>
                <a:cs typeface="Sarabun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B2A7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412480" y="-1371600"/>
            <a:ext cx="5486400" cy="5486400"/>
          </a:xfrm>
          <a:prstGeom prst="ellipse">
            <a:avLst/>
          </a:prstGeom>
          <a:solidFill>
            <a:srgbClr val="7B4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241280" y="4206240"/>
            <a:ext cx="2926080" cy="2926080"/>
          </a:xfrm>
          <a:prstGeom prst="ellipse">
            <a:avLst/>
          </a:prstGeom>
          <a:solidFill>
            <a:srgbClr val="633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8229600" cy="109728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54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ขอบคุณค่ะ 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31720"/>
            <a:ext cx="7863840" cy="7315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100" b="0" i="0">
                <a:solidFill>
                  <a:srgbClr val="E7DEF8"/>
                </a:solidFill>
                <a:latin typeface="Sarabun"/>
                <a:ea typeface="Sarabun"/>
                <a:cs typeface="Sarabun"/>
              </a:rPr>
              <a:t>เริ่มใช้ผู้ช่วยของคุณพรุ่งนี้ — ปรับนิดเดียวทุกครั้งที่ไม่ตรงใจ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91840"/>
            <a:ext cx="5669280" cy="2651760"/>
          </a:xfrm>
          <a:prstGeom prst="roundRect">
            <a:avLst>
              <a:gd name="adj" fmla="val 6000"/>
            </a:avLst>
          </a:prstGeom>
          <a:solidFill>
            <a:srgbClr val="5A3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05840" y="3474720"/>
            <a:ext cx="5303520" cy="237744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Pawinee Amonnuntarat (นุ้ย)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0" i="0">
                <a:solidFill>
                  <a:srgbClr val="E7DEF8"/>
                </a:solidFill>
                <a:latin typeface="Sarabun"/>
                <a:ea typeface="Sarabun"/>
                <a:cs typeface="Sarabun"/>
              </a:rPr>
              <a:t>LINE / IG: [เติม]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0" i="0">
                <a:solidFill>
                  <a:srgbClr val="E7DEF8"/>
                </a:solidFill>
                <a:latin typeface="Sarabun"/>
                <a:ea typeface="Sarabun"/>
                <a:cs typeface="Sarabun"/>
              </a:rPr>
              <a:t>Email: [เติม]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0" i="0">
                <a:solidFill>
                  <a:srgbClr val="E7DEF8"/>
                </a:solidFill>
                <a:latin typeface="Sarabun"/>
                <a:ea typeface="Sarabun"/>
                <a:cs typeface="Sarabun"/>
              </a:rPr>
              <a:t>LinkedIn: [เติม]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0" y="3291840"/>
            <a:ext cx="265176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2200" b="1">
                <a:solidFill>
                  <a:srgbClr val="7B4FC9"/>
                </a:solidFill>
                <a:latin typeface="Prompt"/>
                <a:ea typeface="Prompt"/>
                <a:cs typeface="Prompt"/>
              </a:rPr>
              <a:t>[QR]</a:t>
            </a:r>
          </a:p>
          <a:p>
            <a:pPr algn="ctr"/>
            <a:r>
              <a:rPr sz="1200" b="1">
                <a:solidFill>
                  <a:srgbClr val="5F596B"/>
                </a:solidFill>
                <a:latin typeface="Prompt"/>
                <a:ea typeface="Prompt"/>
                <a:cs typeface="Prompt"/>
              </a:rPr>
              <a:t>Core Prompt + สไลด์ / แบบประเมิน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17220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 i="0">
                <a:solidFill>
                  <a:srgbClr val="C9B6EE"/>
                </a:solidFill>
                <a:latin typeface="Sarabun"/>
                <a:ea typeface="Sarabun"/>
                <a:cs typeface="Sarabun"/>
              </a:rPr>
              <a:t>ข้อมูลฟีเจอร์/ราคา ณ ต.ค. 2026 อาจเปลี่ยนแปลง โปรดตรวจสอบหน้าเว็บทางการก่อนสมัคร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B4FC9"/>
      </a:hlink>
      <a:folHlink>
        <a:srgbClr val="7B4FC9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