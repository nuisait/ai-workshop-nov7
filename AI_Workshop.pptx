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[13:00 – 1 นาที]</a:t>
            </a:r>
          </a:p>
          <a:p>
            <a:r>
              <a:t>สวัสดีค่ะทุกคน ยินดีต้อนรับสู่ Workshop "AI ผู้ช่วยส่วนตัว" ค่ะ ชื่อนุ้ยนะคะ วันนี้เรามีเวลาด้วยกัน 90 นาที (13:00–14:30 น.)</a:t>
            </a:r>
          </a:p>
          <a:p>
            <a:r>
              <a:t>- 30 นาทีแรก: รู้จัก AI 4 ตัวที่คนใช้กันเยอะ ว่าแต่ละตัวเหมาะกับอะไร</a:t>
            </a:r>
          </a:p>
          <a:p>
            <a:r>
              <a:t>- 60 นาทีหลัง: ลงมือสร้าง "Agent" หรือผู้ช่วย AI ส่วนตัวของแต่ละคนจริงๆ</a:t>
            </a:r>
          </a:p>
          <a:p>
            <a:r>
              <a:t>ระหว่างนี้ขอให้ทุกคนเปิดโน้ตบุ๊กหรือมือถือ ต่อ Wi-Fi ไว้ก่อนนะคะ (บอกชื่อ/รหัส Wi-Fi ของร้าน)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[13:01 – 2 นาที]</a:t>
            </a:r>
          </a:p>
          <a:p>
            <a:r>
              <a:t>แนะนำตัวสั้นๆ:</a:t>
            </a:r>
          </a:p>
          <a:p>
            <a:r>
              <a:t>- Pawinee Amonnuntarat (นุ้ย) ทำงานด้าน IT และ IT Consulting มากว่า 20 ปี — เคย implement แพลตฟอร์มบล็อกเชนให้บริษัทฟินเทค และโครงการ IT ขนาดใหญ่ที่ธนาคารชั้นนำของไทย</a:t>
            </a:r>
          </a:p>
          <a:p>
            <a:r>
              <a:t>- จบวิศวกรรมสารสนเทศ สจล. และ MBA จุฬาฯ</a:t>
            </a:r>
          </a:p>
          <a:p>
            <a:r>
              <a:t>- ใช้ AI จริงทั้งในงาน (Microsoft Copilot, Cursor) และชีวิตส่วนตัว (ChatGPT, Claude, Gemini, Grok Bot)</a:t>
            </a:r>
          </a:p>
          <a:p>
            <a:r>
              <a:t>- เล่าเรื่องจริง 1 เรื่องที่ AI ช่วยชีวิตประจำวันได้ เช่น วางแผนทริป จัดเมนูอาหาร สรุปเอกสาร</a:t>
            </a:r>
          </a:p>
          <a:p>
            <a:r>
              <a:t>- เน้นว่าวันนี้ไม่ต้องมีพื้นฐานเทคนิค ใครเคยใช้แค่ Copilot ที่ออฟฟิศก็ตามทันแน่นอน</a:t>
            </a:r>
          </a:p>
          <a:p>
            <a:r>
              <a:t>- ถามห้องสั้นๆ: "ใครเคยใช้ ChatGPT ยกมือหน่อยค่ะ / Gemini / Claude / Grok?" เพื่อดูพื้นฐานผู้ฟัง</a:t>
            </a:r>
          </a:p>
          <a:p>
            <a:r>
              <a:t>ปิดด้วยเป้าหมาย: กลับบ้านพร้อมผู้ช่วย AI 1 ตัวที่ใช้ได้จริง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[13:03 – 1 นาที]</a:t>
            </a:r>
          </a:p>
          <a:p>
            <a:r>
              <a:t>ภาพรวมวันนี้มี 2 ส่วนหลัก</a:t>
            </a:r>
          </a:p>
          <a:p>
            <a:r>
              <a:t>- Part 1 (30 นาทีรวมช่วงต้อนรับ): รู้จักเครื่องมือ เลือกใช้ให้ถูกงาน เขียน prompt ให้ได้ผล และใช้อย่างปลอดภัย</a:t>
            </a:r>
          </a:p>
          <a:p>
            <a:r>
              <a:t>- Part 2 (60 นาที): ลงมือสร้าง Agent ส่วนตัวบน Grok Bot — ผู้จัดเตรียม Core Prompt ไว้ให้ ทุกคนแค่เติมช่องว่างให้เป็นของตัวเอง (ใครไม่มีแพ็กเกจ Grok Bot ใช้ ChatGPT Projects ฟรี เป็นแผนสำรอง)</a:t>
            </a:r>
          </a:p>
          <a:p>
            <a:r>
              <a:t>- ช่วงเวลาเท่าเดิม แต่ hands-on แบ่งเป็น 4 ช่วง: เติม prompt / สร้าง Bot / เชื่อมแอปหรือตั้ง routine / ทดสอบ</a:t>
            </a:r>
          </a:p>
          <a:p>
            <a:r>
              <a:t>- 14:15–14:30: ทดสอบ แชร์ และ Q&amp;A สั้นๆ (~5 นาที) แล้วจบตรงเวลา 14:30 — ไม่มีช่วง buffer หลังจากนี้ คำถามที่เหลือให้ติดต่อทางช่องทางในสไลด์สุดท้าย</a:t>
            </a:r>
          </a:p>
          <a:p>
            <a:r>
              <a:t>บอกผู้ฟังว่า ถ้าติดตรงไหนระหว่าง hands-on ยกมือได้เลย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[13:04 – 1 นาที · ส่งข้อความนี้ให้ผู้จัดแจ้งผู้เข้าร่วมล่วงหน้า 3–5 วัน]</a:t>
            </a:r>
          </a:p>
          <a:p>
            <a:r>
              <a:t>วันนี้ใช้ 2 แพลตฟอร์มหลัก: Grok Bot (สร้าง Agent ใน Part 2) และ ChatGPT (ตัวอย่างใน Part 1 + แผนสำรองฟรี) — Claude และ Gemini เป็นทางเลือก ใครมีอยู่แล้วลองเทียบได้ ไม่ต้องติดตั้งก็ตามทัน</a:t>
            </a:r>
          </a:p>
          <a:p>
            <a:r>
              <a:t>1) ต่อ Wi-Fi ร้าน</a:t>
            </a:r>
          </a:p>
          <a:p>
            <a:r>
              <a:t>2) Grok Bot: ติดตั้งจาก x.ai/bot (macOS / Windows / Linux) หรือแอปมือถือ iOS (App Store) / Android (Google Play) — docs ระบุ iOS 18+ และ Android 9+ แต่การตั้ง routine แบบแก้ไข/ทดสอบต้องใช้แอปเดสก์ท็อป จึงแนะนำโน้ตบุ๊ก</a:t>
            </a:r>
          </a:p>
          <a:p>
            <a:r>
              <a:t>   - Sign in ด้วยบัญชี Cursor ผ่านเบราว์เซอร์ (ปุ่ม Sign in บนเดสก์ท็อป / Log In or Sign Up บนมือถือ)</a:t>
            </a:r>
          </a:p>
          <a:p>
            <a:r>
              <a:t>   - ต้องมีสิทธิ์ใช้งาน: Cursor Pro, Pro+, Ultra หรือ Teams — หรือเชื่อม SuperGrok / SuperGrok Plus / SuperGrok Heavy / X Premium+ แบบบุคคล (SuperGrok Lite, Team, Enterprise ใช้ไม่ได้) — ระวัง: การเชื่อม SuperGrok กับบัญชี Cursor ยกเลิก/ย้ายไม่ได้</a:t>
            </a:r>
          </a:p>
          <a:p>
            <a:r>
              <a:t>   - ทำขั้นตอนแนะนำครั้งแรกให้จบ (แอปจะตั้งค่าคอมพิวเตอร์บนคลาวด์ในเบื้องหลัง แล้วเปิดหน้า Meet a future teammate)</a:t>
            </a:r>
          </a:p>
          <a:p>
            <a:r>
              <a:t>3) ChatGPT: Sign in ที่ chatgpt.com (บัญชีฟรีพอ) · แอปเดสก์ท็อป/มือถือที่ chatgpt.com/download — ใครไม่มีแพ็กเกจ Grok Bot ให้ทำตามแผนสำรอง ChatGPT Projects</a:t>
            </a:r>
          </a:p>
          <a:p>
            <a:r>
              <a:t>4) ทางเลือก: Claude — claude.ai (แอป: claude.ai/download ซึ่ง redirect ไป claude.com/download) · Gemini — gemini.google.com (มือถือ: แอป Gemini ใน App Store / Google Play)</a:t>
            </a:r>
          </a:p>
          <a:p>
            <a:r>
              <a:t>ย้ำ: ทำให้เสร็จก่อนวันงาน และใช้บัญชีส่วนตัว ไม่ใช่บัญชีบริษัท</a:t>
            </a:r>
          </a:p>
          <a:p>
            <a:r>
              <a:t>หมายเหตุ: หน้า Plans and billing ของ Cursor ระบุว่ามี Free trial แบบเครดิตใช้งาน (มีกรอบ 7 วัน งานใหญ่อาจใช้เครดิตหมดในครั้งเดียว) — ควรเช็กอีกครั้งว่าบัญชีใหม่ในไทยได้สิทธิ์ไหม ถ้าได้ ให้เริ่ม trial ใกล้วันงาน ไม่ใช่ล่วงหน้าเกิน 7 วัน</a:t>
            </a:r>
          </a:p>
          <a:p>
            <a:r>
              <a:t>ราคาแพ็กเกจเป็นบาท — ควรเช็กอีกครั้ง</a:t>
            </a:r>
          </a:p>
          <a:p>
            <a:r>
              <a:t>ลิงก์ตรวจแล้ว 3 ต.ค. 2026: x.ai/bot, chatgpt.com, chatgpt.com/download, claude.ai/download, gemini.google.com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[13:05 – 4 นาที]</a:t>
            </a:r>
          </a:p>
          <a:p>
            <a:r>
              <a:t>อธิบายแบบไม่ใช้ศัพท์เทคนิค</a:t>
            </a:r>
          </a:p>
          <a:p>
            <a:r>
              <a:t>- LLM ย่อมาจาก Large Language Model — เหมือนคนที่อ่านหนังสือทั้งห้องสมุด จนรู้ว่าประโยคแบบนี้ควรต่อด้วยอะไร</a:t>
            </a:r>
          </a:p>
          <a:p>
            <a:r>
              <a:t>- เราสั่งงานด้วยภาษาพูดได้เลย ภาษาไทยก็ได้</a:t>
            </a:r>
          </a:p>
          <a:p>
            <a:r>
              <a:t>- ข้อควรรู้: AI ตอบผิดได้แบบมั่นใจมาก (เรียกว่า hallucination) โดยเฉพาะตัวเลข ชื่อ วันที่ เรื่องสุขภาพ การเงิน กฎหมาย ต้องตรวจซ้ำ</a:t>
            </a:r>
          </a:p>
          <a:p>
            <a:r>
              <a:t>ปิดด้วยอุปมา: AI = เด็กฝึกงานเก่งมากแต่ยังไม่รู้จักเรา → ถ้าเราสอน/บอกบริบทดี ผลงานจะดีขึ้นมาก นี่คือสิ่งที่เราจะทำใน Part 2</a:t>
            </a:r>
          </a:p>
          <a:p>
            <a:r>
              <a:t>ถามผู้ฟัง: เคยเจอ AI ตอบมั่วไหมคะ? (รับ 1 เรื่องสั้นๆ)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[13:09 – 3.5 นาที]</a:t>
            </a:r>
          </a:p>
          <a:p>
            <a:r>
              <a:t>ChatGPT จาก OpenAI — ตัวที่คนรู้จักกว้างที่สุด เหมือน "มีดพับสวิส" ทำได้เกือบทุกอย่าง</a:t>
            </a:r>
          </a:p>
          <a:p>
            <a:r>
              <a:t>- จุดเด่น: ใช้งานทั่วไป เขียน/สรุป/แปล คุยด้วยเสียง ถ่ายรูปถาม สร้างภาพ วิเคราะห์ไฟล์</a:t>
            </a:r>
          </a:p>
          <a:p>
            <a:r>
              <a:t>- เน้นฟีเจอร์ Projects: เก็บคำสั่งประจำ + ไฟล์ + แชต ไว้ในที่เดียว — ใช้ได้ในแพ็กเกจฟรี — เป็นแผนสำรองใน Part 2 สำหรับคนที่ไม่มีแพ็กเกจ Grok Bot</a:t>
            </a:r>
          </a:p>
          <a:p>
            <a:r>
              <a:t>- อ่านตัวอย่าง prompt 1 อัน แล้วชี้ว่ามี "บริบท" ครบ: กี่คน งบเท่าไร ข้อจำกัดอะไร</a:t>
            </a:r>
          </a:p>
          <a:p>
            <a:r>
              <a:t>- แพ็กเกจ: Free / Go / Plus / Pro (ราคาเป็นบาทให้เช็กหน้า chatgpt.com/pricing ก่อนวันงาน — ควรเช็กอีกครั้ง)</a:t>
            </a:r>
          </a:p>
          <a:p>
            <a:r>
              <a:t>- ข้อมูลสำคัญ: ตอนนี้ "สร้าง Custom GPT ใหม่" ไม่ได้แล้วบนบัญชีส่วนตัว (Free/Go/Plus/Pro) ตาม OpenAI Help Center — ใช้ GPT ของคนอื่นได้ แต่สร้างเองต้องเป็น Business/Enterprise/Edu</a:t>
            </a:r>
          </a:p>
          <a:p>
            <a:r>
              <a:t>(ถ้ามีเวลา demo สด: พิมพ์ prompt แรกให้ดู)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[13:12 – 3.5 นาที]</a:t>
            </a:r>
          </a:p>
          <a:p>
            <a:r>
              <a:t>Claude จาก Anthropic — หลายคนชอบใช้เขียนงาน เพราะภาษาออกมาเป็นธรรมชาติ</a:t>
            </a:r>
          </a:p>
          <a:p>
            <a:r>
              <a:t>- จุดเด่น: งานเขียน เกลาภาษา อ่านเอกสารยาวๆ เช่น สัญญา รายงาน แล้วสรุปให้</a:t>
            </a:r>
          </a:p>
          <a:p>
            <a:r>
              <a:t>- มี Projects เหมือนกัน และใช้ได้ในแพ็กเกจฟรี (สูงสุด 5 Projects ตาม Claude Help Center)</a:t>
            </a:r>
          </a:p>
          <a:p>
            <a:r>
              <a:t>- ข้อจำกัดของฟรี: มีลิมิตการใช้งานต่อช่วงเวลา ถ้าใช้หนักอาจต้องรอ</a:t>
            </a:r>
          </a:p>
          <a:p>
            <a:r>
              <a:t>- ราคา (จากหน้า claude.ai): Pro US$17/เดือนถ้าจ่ายรายปี หรือ $20 รายเดือน, Max เริ่ม $100/เดือน — ราคาไทย/ภาษี ควรเช็กอีกครั้ง</a:t>
            </a:r>
          </a:p>
          <a:p>
            <a:r>
              <a:t>ตัวอย่างชีวิตจริง: ก่อนเซ็นสัญญาเช่า ให้ Claude สรุปข้อควรระวัง (แต่เรื่องกฎหมายสำคัญ ยังควรถามผู้เชี่ยวชาญ)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[13:16 – 3.5 นาที]</a:t>
            </a:r>
          </a:p>
          <a:p>
            <a:r>
              <a:t>Gemini จาก Google — เหมาะมากสำหรับคนที่ชีวิตอยู่ในโลก Google อยู่แล้ว ใครใช้ Android หรือ Gmail ก็มีบัญชีพร้อมใช้</a:t>
            </a:r>
          </a:p>
          <a:p>
            <a:r>
              <a:t>- จุดเด่น: เชื่อมกับบริการ Google, ค้นข้อมูลล่าสุด, Gemini Live คุยด้วยเสียง/กล้อง</a:t>
            </a:r>
          </a:p>
          <a:p>
            <a:r>
              <a:t>- อัปเดตสำคัญ (Google ประกาศ 30 ก.ย. 2026): "Skills" มาแทน "Gems" — สร้างได้ฟรีโดยไม่ต้องสมัครแพ็กเกจ แต่ต้องอายุ 18+ และเปิด Keep Activity</a:t>
            </a:r>
          </a:p>
          <a:p>
            <a:r>
              <a:t>- Gems ของบัญชีส่วนตัวจะเริ่มถูกปิดและย้ายเป็น Skills อัตโนมัติในเดือน พ.ย. (TechCrunch รายงานวันที่ 17 พ.ย. 2026 — ควรเช็กอีกครั้งใกล้วันงาน) เพราะช่วงนี้กำลังเปลี่ยนระบบ Gemini จึงเป็นแผนสำรองลำดับถัดไปใน Part 2</a:t>
            </a:r>
          </a:p>
          <a:p>
            <a:r>
              <a:t>- แพ็กเกจจ่ายเงิน: Google AI Plus / Pro / Ultra (ราคาบาท ควรเช็กอีกครั้ง)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[13:19 – 3.5 นาที · สไลด์นี้ปูทางสู่ Part 2]</a:t>
            </a:r>
          </a:p>
          <a:p>
            <a:r>
              <a:t>Grok จาก xAI — แยกให้ผู้ฟังเห็น 2 อย่าง</a:t>
            </a:r>
          </a:p>
          <a:p>
            <a:r>
              <a:t>1) Grok (grok.com และแอป iOS/Android) = แชตบอท ลองใช้ฟรี เด่นเรื่องข้อมูลสดจากเว็บและ X, สร้างภาพ/วิดีโอด้วย Grok Imagine</a:t>
            </a:r>
          </a:p>
          <a:p>
            <a:r>
              <a:t>2) Grok Bot = แอป "เพื่อนร่วมทีม AI" ที่นุ้ยใช้เอง และเป็นแพลตฟอร์มหลักของ Part 2</a:t>
            </a:r>
          </a:p>
          <a:p>
            <a:r>
              <a:t>   - แต่ละ Bot มีชื่อ งาน และ Description ของตัวเอง จำความชอบและสรุปงานได้ข้ามบทสนทนา</a:t>
            </a:r>
          </a:p>
          <a:p>
            <a:r>
              <a:t>   - ทำงานบนคอมพิวเตอร์คลาวด์ (เบราว์เซอร์ ไฟล์ terminal) งานไม่หยุดแม้ปิดแอป/โน้ตบุ๊ก</a:t>
            </a:r>
          </a:p>
          <a:p>
            <a:r>
              <a:t>   - เชื่อมแอปผ่าน connector จาก Marketplace และตั้ง routine ให้ทำงานตามเวลาได้</a:t>
            </a:r>
          </a:p>
          <a:p>
            <a:r>
              <a:t>   - งานสำคัญ เช่น ส่งอีเมล ซื้อของ จะหยุดรอให้เราอนุมัติ</a:t>
            </a:r>
          </a:p>
          <a:p>
            <a:r>
              <a:t>- ใช้ได้บน macOS, Windows, Linux และแอป iOS / Android (ตาม docs.x.ai/grok-bot ต.ค. 2026)</a:t>
            </a:r>
          </a:p>
          <a:p>
            <a:r>
              <a:t>- ไม่ฟรี: รวมอยู่ใน Cursor Pro / Pro+ / Ultra / Teams หรือเชื่อม SuperGrok / SuperGrok Plus / SuperGrok Heavy / X Premium+ แบบบุคคล (หน้า Plans and billing ของ Cursor)</a:t>
            </a:r>
          </a:p>
          <a:p>
            <a:r>
              <a:t>- มี free trial แบบเครดิตใช้งาน + กรอบ 7 วัน — สิทธิ์ในไทยและราคาเป็นบาท ควรเช็กอีกครั้ง</a:t>
            </a:r>
          </a:p>
          <a:p>
            <a:r>
              <a:t>- ลิมิตของ Grok แชตฟรี ควรเช็กอีกครั้ง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[13:23 – 3 นาที]</a:t>
            </a:r>
          </a:p>
          <a:p>
            <a:r>
              <a:t>สรุปง่ายๆ ให้ผู้ฟังจำ:</a:t>
            </a:r>
          </a:p>
          <a:p>
            <a:r>
              <a:t>- อยากได้ตัวเดียวใช้ทุกอย่าง → ChatGPT</a:t>
            </a:r>
          </a:p>
          <a:p>
            <a:r>
              <a:t>- งานเขียน/อ่านเอกสารยาว → Claude</a:t>
            </a:r>
          </a:p>
          <a:p>
            <a:r>
              <a:t>- ชีวิตอยู่ใน Google อยู่แล้ว → Gemini</a:t>
            </a:r>
          </a:p>
          <a:p>
            <a:r>
              <a:t>- อยากได้ข่าวสด หรืออยากให้ AI "ลงมือทำงาน" แทน → Grok / Grok Bot</a:t>
            </a:r>
          </a:p>
          <a:p>
            <a:r>
              <a:t>คอลัมน์ขวาสุดคือสิ่งที่เราจะทำใน Part 2: ทุกตัวมีทางสร้างผู้ช่วยส่วนตัว — วันนี้เราสร้างบน Grok Bot (★) เพราะเป็น Agent ที่ลงมือทำงาน จำได้ เชื่อมแอป และตั้งเวลาได้ ส่วนคนที่ไม่มีแพ็กเกจใช้ ChatGPT Projects (ฟรี) เป็นแผนสำรอง</a:t>
            </a:r>
          </a:p>
          <a:p>
            <a:r>
              <a:t>แพ็กเกจ Grok Bot เต็มรายการ: Cursor Pro / Pro+ / Ultra / Teams หรือเชื่อม SuperGrok / Plus / Heavy / X Premium+ (ในตารางย่อไว้)</a:t>
            </a:r>
          </a:p>
          <a:p>
            <a:r>
              <a:t>เน้น: ตัวอื่นเริ่มฟรีได้ ลองให้คุ้นก่อน แล้วค่อยจ่ายเฉพาะตัวที่ใช้บ่อยที่สุด</a:t>
            </a:r>
          </a:p>
          <a:p>
            <a:r>
              <a:t>(ควรเช็กอีกครั้ง: ราคาและลิมิตแพ็กเกจฟรีของทุกเจ้า ใกล้วันงาน)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[13:26 – 3 นาที]</a:t>
            </a:r>
          </a:p>
          <a:p>
            <a:r>
              <a:t>สูตรง่ายที่สุด R-C-T-F</a:t>
            </a:r>
          </a:p>
          <a:p>
            <a:r>
              <a:t>- Role: ให้ AI สวมบทบาท เช่น นักโภชนาการ ไกด์ทัวร์ โค้ชการเงิน</a:t>
            </a:r>
          </a:p>
          <a:p>
            <a:r>
              <a:t>- Context: บอกว่าเราเป็นใคร มีข้อจำกัดอะไร (ยิ่งชัดยิ่งดี)</a:t>
            </a:r>
          </a:p>
          <a:p>
            <a:r>
              <a:t>- Task: งานที่อยากได้ ชัดเจน วัดผลได้</a:t>
            </a:r>
          </a:p>
          <a:p>
            <a:r>
              <a:t>- Format: รูปแบบคำตอบ ตาราง bullet ความยาว ภาษา</a:t>
            </a:r>
          </a:p>
          <a:p>
            <a:r>
              <a:t>เทคนิคเสริม: บอกว่า "ถ้าข้อมูลไม่พอ ให้ถามฉันก่อน" และบอกสิ่งที่ห้ามทำ</a:t>
            </a:r>
          </a:p>
          <a:p>
            <a:r>
              <a:t>ชี้ตัวอย่างก่อน/หลัง: ประโยคเดียวกัน แต่ใส่บริบทแล้วผลลัพธ์ต่างกันมาก</a:t>
            </a:r>
          </a:p>
          <a:p>
            <a:r>
              <a:t>เชื่อมไป Part 2: Core Prompt ที่ผู้จัดเตรียมไว้ ก็คือสูตรนี้แบบละเอียด ที่ "บันทึกไว้ใช้ซ้ำ" นั่นเอง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[13:29 – 1–2 นาที (ถ้าเกินเวลาเล็กน้อย ให้ตัดตัวอย่างใน Part 1)]</a:t>
            </a:r>
          </a:p>
          <a:p>
            <a:r>
              <a:t>- ห้ามใส่ข้อมูลระบุตัวตนและข้อมูลการเงินทุกชนิด รวมถึงข้อมูลบริษัท — Copilot ที่ออฟฟิศมีการตั้งค่าความปลอดภัยแบบองค์กร แต่บัญชีส่วนตัวไม่ใช่</a:t>
            </a:r>
          </a:p>
          <a:p>
            <a:r>
              <a:t>- เข้า Settings ของแต่ละแอป ดูตัวเลือกเรื่องการใช้ข้อมูลเพื่อพัฒนาโมเดล (ชื่อเมนูแต่ละเจ้าไม่เหมือนกัน — ควรเช็กอีกครั้งก่อนวันงาน)</a:t>
            </a:r>
          </a:p>
          <a:p>
            <a:r>
              <a:t>- AI ผิดได้ เรื่องเงิน สุขภาพ กฎหมาย ต้องตรวจซ้ำเสมอ</a:t>
            </a:r>
          </a:p>
          <a:p>
            <a:r>
              <a:t>- Agent ที่ทำงานแทนได้ ต้องตั้งให้ขออนุมัติก่อนทำสิ่งที่ย้อนกลับไม่ได้</a:t>
            </a:r>
          </a:p>
          <a:p>
            <a:r>
              <a:t>- Gemini Skills กำหนดให้เปิด Keep Activity (ตาม Gemini Apps Help)</a:t>
            </a:r>
          </a:p>
          <a:p>
            <a:r>
              <a:t>กฎจำง่าย: ถ้าไม่กล้าโพสต์ลงกลุ่มไลน์ครอบครัว ก็อย่าพิมพ์ใส่ AI</a:t>
            </a:r>
          </a:p>
          <a:p>
            <a:r>
              <a:t>→ เปลี่ยนเข้าสู่ Part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[13:30 – 30 วินาที]</a:t>
            </a:r>
          </a:p>
          <a:p>
            <a:r>
              <a:t>"ทฤษฎีพอแล้ว ต่อไปคือส่วนที่สนุกที่สุด — สร้างผู้ช่วยของตัวเอง"</a:t>
            </a:r>
          </a:p>
          <a:p>
            <a:r>
              <a:t>แจ้งโครง 60 นาที: 20 นาทีแรกดู demo และทำความเข้าใจ Core Prompt, 25 นาทีลงมือ, 15 นาทีทดสอบและแชร์</a:t>
            </a:r>
          </a:p>
          <a:p>
            <a:r>
              <a:t>ขอให้ทุกคนเปิดแอป Grok Bot ค้างไว้ (ใครไม่มีแพ็กเกจ เปิด chatgpt.com)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[13:30 – 3 นาที]</a:t>
            </a:r>
          </a:p>
          <a:p>
            <a:r>
              <a:t>Agent มี 3 ส่วน และใน Grok Bot แต่ละส่วนอยู่ตรงนี้ (อ้างอิง docs.x.ai/grok-bot):</a:t>
            </a:r>
          </a:p>
          <a:p>
            <a:r>
              <a:t>1) Instructions → "Description" ของ Bot — docs แนะนำให้ใส่กฎที่ต้องจริงเสมอไว้ใน Description ส่วนงานเฉพาะครั้งพิมพ์ในแชต</a:t>
            </a:r>
          </a:p>
          <a:p>
            <a:r>
              <a:t>2) Knowledge → Memory: Bot จำความชอบที่คงที่ ข้อมูลสำคัญ และสรุปงานก่อนหน้าได้ (แต่เรื่องสำคัญ ให้ Bot เช็กแหล่งข้อมูลจริงอีกครั้ง) + แนบไฟล์ได้</a:t>
            </a:r>
          </a:p>
          <a:p>
            <a:r>
              <a:t>3) Tools → Connectors (ติดตั้งเป็น plugin จาก Marketplace), เบราว์เซอร์บนคอมพิวเตอร์คลาวด์ของ Bot, Skills (ขั้นตอนที่บันทึกไว้ใช้ซ้ำ) และ Routines (ตั้งเวลาให้ Bot ทำงานเอง ทำงานต่อได้แม้ปิดโน้ตบุ๊ก)</a:t>
            </a:r>
          </a:p>
          <a:p>
            <a:r>
              <a:t>ไล่ระดับ: แชตธรรมดา → ผู้ช่วยที่ตั้งค่าเอง (ChatGPT Projects = แผนสำรองวันนี้) → Agent ที่ลงมือทำงาน (Grok Bot = สิ่งที่เราสร้างวันนี้)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[13:33 – 2 นาที]</a:t>
            </a:r>
          </a:p>
          <a:p>
            <a:r>
              <a:t>ทำไมวันนี้ใช้ Grok Bot เป็นหลัก (นุ้ยใช้เองทุกวัน — เล่าตัวอย่างจริงสั้นๆ 1 เรื่อง):</a:t>
            </a:r>
          </a:p>
          <a:p>
            <a:r>
              <a:t>1) เป็น Agent ตัวจริง: แต่ละ Bot ทำงานบนคอมพิวเตอร์คลาวด์ที่มีเบราว์เซอร์และไฟล์ ใช้เว็บและแอปได้แบบคน งานยังเดินต่อแม้ปิดแอปหรือปิดโน้ตบุ๊ก (docs.x.ai/grok-bot)</a:t>
            </a:r>
          </a:p>
          <a:p>
            <a:r>
              <a:t>2) จำได้: Bot เก็บความชอบ ข้อมูลสำคัญ และสรุปงานที่ผ่านมาข้ามบทสนทนา</a:t>
            </a:r>
          </a:p>
          <a:p>
            <a:r>
              <a:t>3) เชื่อมแอป: ติดตั้ง connector เป็น plugin จาก Marketplace — connector ที่มีจริง เช่น Gmail / Google Calendar / Notion ควรเช็กอีกครั้งใน Marketplace ก่อนวันงาน</a:t>
            </a:r>
          </a:p>
          <a:p>
            <a:r>
              <a:t>4) Routines: สั่งด้วยภาษาธรรมดาว่า "ทุกวัน 7:00 ทำ..." แล้ว Bot สร้าง routine และบอกรอบถัดไป</a:t>
            </a:r>
          </a:p>
          <a:p>
            <a:r>
              <a:t>เงื่อนไข: ต้องมี Cursor Pro / Pro+ / Ultra / Teams หรือเชื่อม SuperGrok (บุคคล) / X Premium+ — ไม่ฟรี (มี free trial แบบเครดิต — ควรเช็กอีกครั้ง)</a:t>
            </a:r>
          </a:p>
          <a:p>
            <a:r>
              <a:t>แผนสำรอง:</a:t>
            </a:r>
          </a:p>
          <a:p>
            <a:r>
              <a:t>- ไม่มีแพ็กเกจ → ChatGPT Projects (ฟรี) ใช้ Core Prompt เดียวกัน</a:t>
            </a:r>
          </a:p>
          <a:p>
            <a:r>
              <a:t>- ทุกอย่างล่ม → วาง Core Prompt เป็นข้อความแรกในแชตไหนก็ได้</a:t>
            </a:r>
          </a:p>
          <a:p>
            <a:r>
              <a:t>ย้ำ: Core Prompt เดียวกันใช้ได้ทุกแพลตฟอร์ม ใครใช้แผนสำรองก็ไม่ตกหล่น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[13:35 – 7 นาที · DEMO สดบนจอ ด้วยบัญชีของนุ้ย]</a:t>
            </a:r>
          </a:p>
          <a:p>
            <a:r>
              <a:t>ขั้นตอนตาม docs.x.ai/grok-bot (Get started, Create and manage Bots, Skills and routines, Use the computer and apps):</a:t>
            </a:r>
          </a:p>
          <a:p>
            <a:r>
              <a:t>1) ติดตั้งจาก x.ai/bot → Sign in (ยืนยันตัวตนบัญชี Cursor ในเบราว์เซอร์แล้วกลับเข้าแอป) — ถ้าใช้ SuperGrok ให้เชื่อมเมื่อแอปถาม (มือถือ: Link Grok Account แล้ว Finished Linking? Refresh My Status / เดสก์ท็อป: Settings → Usage &amp; Billing)</a:t>
            </a:r>
          </a:p>
          <a:p>
            <a:r>
              <a:t>   ผู้ใช้ใหม่จะเจอหน้า Meet a future teammate — เลือก Create your own ได้เลย</a:t>
            </a:r>
          </a:p>
          <a:p>
            <a:r>
              <a:t>2) สร้าง Bot: New ในแถบซ้าย หรือ Cmd/Ctrl+N → Create new Bot (หรือพิมพ์ชื่อแล้วเลือก Create "ชื่อ" Bot) — แอปจะสร้าง Bot ชื่อ New Bot ให้ก่อน / มือถือ: + → New Bot</a:t>
            </a:r>
          </a:p>
          <a:p>
            <a:r>
              <a:t>3) Edit Profile (หรือ View conversation details → Bot settings) → ตั้ง Name, Label (ไม่บังคับ), Description แล้ววาง Core Prompt ใน Description</a:t>
            </a:r>
          </a:p>
          <a:p>
            <a:r>
              <a:t>   (ปุ่มยืนยันการบันทึกในหน้าโปรไฟล์ไม่ได้ระบุใน docs — ควรเช็กอีกครั้ง)</a:t>
            </a:r>
          </a:p>
          <a:p>
            <a:r>
              <a:t>4) สั่งงานแรก: พิมพ์ หรือกด Start voice input (Cmd/Ctrl+D) — docs แนะนำให้ "ระบุความชอบที่ใช้ระยะยาวให้ชัด" และอัปเดต Description เมื่อเจอกฎถาวรใหม่ (ไม่มีหน้าตั้งค่า Memory แยกใน docs — ควรเช็กอีกครั้ง)</a:t>
            </a:r>
          </a:p>
          <a:p>
            <a:r>
              <a:t>5) เชื่อมแอป: Marketplace → Add → ยืนยันตัวตนในเบราว์เซอร์ → พิมพ์ @ ในแชตเพื่อแนบ connector · connector ติดตั้งระดับบัญชี ทุก Bot ใช้ได้</a:t>
            </a:r>
          </a:p>
          <a:p>
            <a:r>
              <a:t>   รายชื่อ connector ที่มี (Gmail / Google Calendar / Notion) — ควรเช็กอีกครั้งใน Marketplace</a:t>
            </a:r>
          </a:p>
          <a:p>
            <a:r>
              <a:t>6) Routine: สั่งเป็นภาษาธรรมดา ระบุเวลา + timezone + ผลลัพธ์ + ข้อห้าม → Bot สร้าง routine และแสดงรอบถัดไป → ใช้ Test run (ระวัง: test run ทำงานจริง)</a:t>
            </a:r>
          </a:p>
          <a:p>
            <a:r>
              <a:t>   ดู/หยุด routine: View conversation details → Routines · การแก้ไขและทดสอบ routine ต้องใช้แอปเดสก์ท็อป</a:t>
            </a:r>
          </a:p>
          <a:p>
            <a:r>
              <a:t>   ตั้ง Timezone ที่ Settings → Bot → Timezone ให้เป็นเวลาไทยก่อน</a:t>
            </a:r>
          </a:p>
          <a:p>
            <a:r>
              <a:t>ทางลัดสำหรับผู้จัด (ถ้าต้องการ): สร้าง Bot ต้นแบบแล้ว Share menu → Create template → Copy link ให้ผู้เข้าร่วมกด Add to Grok Bot — ลิงก์เปิดเผย Description ทั้งหมด ห้ามใส่ข้อมูลส่วนตัว (ควรเช็กอีกครั้งว่าผู้จัดจะใช้วิธีนี้หรือไม่)</a:t>
            </a:r>
          </a:p>
          <a:p>
            <a:r>
              <a:t>แผนสำรองถ้าเน็ตช้า: เตรียมภาพหน้าจอทุกขั้นไว้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[13:42 – 4 นาที]</a:t>
            </a:r>
          </a:p>
          <a:p>
            <a:r>
              <a:t>โครง Core Prompt — ผู้จัดเตรียมฉบับเต็มไว้ (แจกเป็นลิงก์/QR — เติมก่อนวันงาน) ทุกคนแค่เติมช่องสีม่วง แล้ววางใน "Description" ของ Bot ใหม่</a:t>
            </a:r>
          </a:p>
          <a:p>
            <a:r>
              <a:t>ทำไมต้องวางใน Description: docs ของ Grok Bot แนะนำให้ใส่กฎที่ต้องเป็นจริงเสมอไว้ใน Description และใช้แชตสำหรับงานเฉพาะครั้ง เช่น Description = "ห้ามส่งข้อความภายนอกโดยไม่ขออนุมัติ" / ข้อความ = "ร่างเมนูสัปดาห์นี้"</a:t>
            </a:r>
          </a:p>
          <a:p>
            <a:r>
              <a:t>ไล่ช่อง:</a:t>
            </a:r>
          </a:p>
          <a:p>
            <a:r>
              <a:t>- [บทบาท] [หัวข้อ] — Bot หนึ่งตัว ทำงานหลักหนึ่งเรื่อง (docs: Bot ที่โฟกัสสะสมบริบทได้ดีกว่า Bot ที่ทำทุกอย่าง)</a:t>
            </a:r>
          </a:p>
          <a:p>
            <a:r>
              <a:t>- [เป้าหมาย] — ผลลัพธ์และกรอบเวลา</a:t>
            </a:r>
          </a:p>
          <a:p>
            <a:r>
              <a:t>- [ข้อมูลเกี่ยวกับฉัน] — ส่วนที่ Bot ต้องจำ (ไม่ใส่ข้อมูลระบุตัวตน/การเงิน)</a:t>
            </a:r>
          </a:p>
          <a:p>
            <a:r>
              <a:t>- [รูปแบบคำตอบ]</a:t>
            </a:r>
          </a:p>
          <a:p>
            <a:r>
              <a:t>- [ข้อห้าม] + ขออนุมัติก่อนส่ง/ซื้อ/ลบ — สำคัญมากเพราะ Grok Bot ลงมือทำงานได้จริง (ตั้งกฎ Ask first เพิ่มได้ที่ Settings → General → Auto-review)</a:t>
            </a:r>
          </a:p>
          <a:p>
            <a:r>
              <a:t>ความยาวสูงสุดของช่อง Description — ควรเช็กอีกครั้ง (ถ้าวางไม่หมด ให้ใส่ส่วนที่เหลือเป็นข้อความแรกในแชต)</a:t>
            </a:r>
          </a:p>
          <a:p>
            <a:r>
              <a:t>ใครใช้แผนสำรอง: วาง Core Prompt เดียวกันใน Project instructions ของ ChatGPT หรือเป็นข้อความแรกของแชต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[13:46 – 2 นาที]</a:t>
            </a:r>
          </a:p>
          <a:p>
            <a:r>
              <a:t>ยกตัวอย่าง 4 แบบที่ใช้ได้ทันที ให้ผู้ฟังเลือก 1 อย่างที่ "จะใช้จริงสัปดาห์หน้า"</a:t>
            </a:r>
          </a:p>
          <a:p>
            <a:r>
              <a:t>- Meal &amp; Health Planner — จัดเมนู รายการซื้อของ (ไม่ใช่คำแนะนำทางการแพทย์)</a:t>
            </a:r>
          </a:p>
          <a:p>
            <a:r>
              <a:t>- Travel Planner — วางแผนทริป เทียบตัวเลือก</a:t>
            </a:r>
          </a:p>
          <a:p>
            <a:r>
              <a:t>- Personal Finance Tracker — สรุปรายจ่าย วางแผนออม (ห้ามใส่เลขบัญชี/บัตร)</a:t>
            </a:r>
          </a:p>
          <a:p>
            <a:r>
              <a:t>- Learning Coach — ฝึกภาษา ทักษะใหม่ มีแบบทดสอบ</a:t>
            </a:r>
          </a:p>
          <a:p>
            <a:r>
              <a:t>ใครมีไอเดียอื่น เช่น ผู้ช่วยเลี้ยงลูก ผู้ช่วยหางาน ผู้ช่วยดูแลพ่อแม่ ก็ทำได้เหมือนกัน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[13:48 – 2 นาที]</a:t>
            </a:r>
          </a:p>
          <a:p>
            <a:r>
              <a:t>ซ้าย: หน้าตาโปรไฟล์ Bot — Name, Label (ไม่บังคับ), Description ที่วาง Core Prompt ที่เติมแล้ว</a:t>
            </a:r>
          </a:p>
          <a:p>
            <a:r>
              <a:t>ชี้ว่า "แพ้กุ้ง" อยู่ทั้งในข้อมูลเกี่ยวกับฉันและข้อห้าม — ของสำคัญให้ย้ำ 2 ที่ และ "ห้ามสั่งซื้อของเอง" เพราะ Grok Bot ใช้เว็บได้จริง</a:t>
            </a:r>
          </a:p>
          <a:p>
            <a:r>
              <a:t>ขวา: Routine — docs ของ Grok Bot แนะนำให้สั่งเป็นข้อความ ระบุ เวลา + timezone + แหล่งข้อมูล + ผลลัพธ์ + ข้อห้าม + ทำอย่างไรเมื่อไม่มีข้อมูล แล้ว Bot จะสร้าง routine และแสดงรอบถัดไป จากนั้นกด Test run (test run ทำงานจริง)</a:t>
            </a:r>
          </a:p>
          <a:p>
            <a:r>
              <a:t>ต่อยอด (ถ้ามี connector ปฏิทิน — รายชื่อ connector ควรเช็กอีกครั้ง): "วันที่มีประชุมหลัง 18:00 ให้เสนอเมนู 15 นาที"</a:t>
            </a:r>
          </a:p>
          <a:p>
            <a:r>
              <a:t>หมายเหตุ: ตั้ง Settings → Bot → Timezone เป็นเวลาไทยก่อน · ดู/หยุด routine ได้ที่ View conversation details → Routines</a:t>
            </a:r>
          </a:p>
          <a:p>
            <a:r>
              <a:t>คำเตือนการใช้งาน: routine กินโควตาการใช้งานรายสัปดาห์ — ไม่ควรตั้งถี่เกินจำเป็น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[13:50 – 25 นาที · เปิด timer บนจอ]</a:t>
            </a:r>
          </a:p>
          <a:p>
            <a:r>
              <a:t>4 ช่วง:</a:t>
            </a:r>
          </a:p>
          <a:p>
            <a:r>
              <a:t>0–5 นาที: เลือก use case แล้วเติม Core Prompt (พิมพ์ใน Notes ก่อนก็ได้)</a:t>
            </a:r>
          </a:p>
          <a:p>
            <a:r>
              <a:t>5–12 นาที: สร้าง Bot (New → Create new Bot / มือถือ + → New Bot) → Edit Profile → ตั้งชื่อ → วาง Core Prompt ใน Description</a:t>
            </a:r>
          </a:p>
          <a:p>
            <a:r>
              <a:t>12–20 นาที: เลือกทำ 1 อย่าง</a:t>
            </a:r>
          </a:p>
          <a:p>
            <a:r>
              <a:t>  ก) เชื่อมแอป: Marketplace → Add → ยืนยันในเบราว์เซอร์ → ในแชตพิมพ์ @ เพื่อแนบ connector (connector ที่มีจริง — ควรเช็กอีกครั้ง) — เตือนว่าเชื่อมเฉพาะบัญชีที่สบายใจ และ connector ใช้ได้กับทุก Bot ในบัญชี</a:t>
            </a:r>
          </a:p>
          <a:p>
            <a:r>
              <a:t>  ข) ตั้ง routine: บอก Bot เป็นภาษาธรรมดา ระบุเวลา (เวลาไทย) ผลลัพธ์ และข้อห้าม → Bot แสดงรอบถัดไป (การแก้/ทดสอบ routine ต้องใช้แอปเดสก์ท็อป)</a:t>
            </a:r>
          </a:p>
          <a:p>
            <a:r>
              <a:t>20–25 นาที: ทดสอบ 3 คำถาม + Test run ถ้าตั้ง routine (test run ทำงานจริง ใช้ข้อมูลที่ปลอดภัย)</a:t>
            </a:r>
          </a:p>
          <a:p>
            <a:r>
              <a:t>คนที่ไม่มีแพ็กเกจ: ทำขั้นเดียวกันบน ChatGPT Projects (สไลด์ 21) — ข้ามช่วง 12–20 นาทีไปทดสอบได้เลย</a:t>
            </a:r>
          </a:p>
          <a:p>
            <a:r>
              <a:t>ระหว่างนี้: เดินดูทุกโต๊ะ ช่วยคนที่ Sign in ไม่ได้ก่อน / เตือนเวลาที่ 12 และ 20 นาที / เก็บตัวอย่างดีๆ 2–3 คนไว้แชร์</a:t>
            </a:r>
          </a:p>
          <a:p>
            <a:r>
              <a:t>ปัญหาที่พบบ่อย (ควรเช็กอีกครั้งจากการซ้อมจริง): หา Edit Profile ไม่เจอ (ลอง View conversation details → Bot settings), Bot ขอให้ takeover เพื่อล็อกอินเว็บ (เปิด Agent Computer แล้วกรอกเอง ห้ามวางรหัสผ่านในแชต), เวลา routine ผิดเพราะยังไม่ได้ตั้ง Timezone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[ใช้อ้างอิงระหว่าง hands-on — พูด ~30 วินาที]</a:t>
            </a:r>
          </a:p>
          <a:p>
            <a:r>
              <a:t>1) ChatGPT Projects (แผนสำรองหลัก ฟรี): ตาม OpenAI Help Center — New project ในแถบซ้าย → ••• → Project settings → ใส่ instructions · Free อัปโหลดได้ 5 ไฟล์ต่อโปรเจกต์ · instructions ใช้เฉพาะในโปรเจกต์ · เมนูบนแอปมือถือ ควรเช็กอีกครั้ง</a:t>
            </a:r>
          </a:p>
          <a:p>
            <a:r>
              <a:t>   หมายเหตุ: Custom GPT สร้างใหม่ไม่ได้แล้วบนบัญชีส่วนตัว จึงใช้ Projects แทน</a:t>
            </a:r>
          </a:p>
          <a:p>
            <a:r>
              <a:t>2) Gemini Skills: Settings → Skills → Create manually (ตาม Gemini Apps Help) · อายุ 18+ · บัญชี Google ส่วนตัว · เปิด Keep Activity · ตอนนี้สร้างแบบ manual บนแอปมือถือยังบันทึกไม่ได้ — ทำบนเว็บ หรือสั่งในแชตว่า "Create a skill based on these instructions: ..." · Gems ของบัญชีส่วนตัวจะถูกย้ายเป็น Skills ช่วง พ.ย. 2026 (TechCrunch ระบุ 17 พ.ย. — ควรเช็กอีกครั้ง)</a:t>
            </a:r>
          </a:p>
          <a:p>
            <a:r>
              <a:t>   Claude Projects: ฟรีสูงสุด 5 Projects (Claude Help Center) · ชื่อเมนู ควรเช็กอีกครั้ง</a:t>
            </a:r>
          </a:p>
          <a:p>
            <a:r>
              <a:t>3) แชตธรรมดา: วาง Core Prompt เป็นข้อความแรก ใช้ได้ทุกตัว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[14:15 – 10 นาที (เหลือ 5 นาทีสุดท้ายสำหรับ Q&amp;A สั้นๆ + ปิดงาน)]</a:t>
            </a:r>
          </a:p>
          <a:p>
            <a:r>
              <a:t>- 3 นาที: ทดสอบ 3 แบบ ปกติ / กำกวม / นอกขอบเขต</a:t>
            </a:r>
          </a:p>
          <a:p>
            <a:r>
              <a:t>- 4 นาที: Peer test — สลับเครื่องกับเพื่อนข้างๆ ให้เพื่อนลองถาม เพราะคนอื่นจะถามในมุมที่เราคิดไม่ถึง</a:t>
            </a:r>
          </a:p>
          <a:p>
            <a:r>
              <a:t>- 3 นาที: อาสาสมัคร 1–2 คนแชร์ว่าสร้างผู้ช่วยอะไร และแก้อะไรแล้วดีขึ้น</a:t>
            </a:r>
          </a:p>
          <a:p>
            <a:r>
              <a:t>หลักการ: แก้ทีละจุด แล้วทดสอบซ้ำ (เหมือนปรับสูตรอาหาร)</a:t>
            </a:r>
          </a:p>
          <a:p>
            <a:r>
              <a:t>สำหรับ Grok Bot: กฎถาวรให้แก้ใน Description (Edit Profile หรือ View conversation details → Bot settings), ความชอบใหม่บอก Bot ให้จำ, routine ให้กด Test run หลังแก้ทุกครั้ง (docs.x.ai) · ขั้นตอนที่ใช้ได้ดีแล้ว ขอให้ Bot "บันทึกเป็น skill" ได้</a:t>
            </a:r>
          </a:p>
          <a:p>
            <a:r>
              <a:t>ตารางขวาคือ "สูตรแก้" ที่ใช้ได้บ่อยที่สุด</a:t>
            </a:r>
          </a:p>
          <a:p>
            <a:r>
              <a:t>การบ้าน: ใช้ผู้ช่วยตัวนี้จริง 7 วัน แล้วปรับ instructions ทุกครั้งที่ไม่ตรงใจ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[14:25 – ~4 นาที · ต้องจบ 14:30]</a:t>
            </a:r>
          </a:p>
          <a:p>
            <a:r>
              <a:t>เปิดถาม-ตอบสั้นๆ รับ 2–3 คำถาม ถ้ายังไม่มีคนถาม ให้เลือกตอบจากคำถามที่พบบ่อย:</a:t>
            </a:r>
          </a:p>
          <a:p>
            <a:r>
              <a:t>- "ควรจ่ายเงินตัวไหนดี?" → ใช้ฟรีให้คุ้นก่อน 2–4 สัปดาห์ แล้วจ่ายเฉพาะตัวที่ใช้ทุกวัน</a:t>
            </a:r>
          </a:p>
          <a:p>
            <a:r>
              <a:t>- "ใช้ที่ทำงานได้ไหม?" → ทำตามนโยบายบริษัท ข้อมูลงานให้ใช้ Copilot องค์กรที่บริษัทอนุญาต</a:t>
            </a:r>
          </a:p>
          <a:p>
            <a:r>
              <a:t>- "Grok Bot คุ้มไหม ต้องจ่ายเท่าไร?" → ดูแพ็กเกจที่รองรับ (Cursor Pro ขึ้นไป หรือ SuperGrok) และลอง free trial ก่อน (ราคา/สิทธิ์ในไทย ควรเช็กอีกครั้ง)</a:t>
            </a:r>
          </a:p>
          <a:p>
            <a:r>
              <a:t>- "Custom GPT ยังสร้างได้ไหม?" → บัญชีส่วนตัวสร้างใหม่ไม่ได้แล้ว ใช้ Projects แทน</a:t>
            </a:r>
          </a:p>
          <a:p>
            <a:r>
              <a:t>- "Routine ทำงานตอนปิดคอมไหม?" → ทำ เพราะรันบนคอมพิวเตอร์คลาวด์ (docs.x.ai)</a:t>
            </a:r>
          </a:p>
          <a:p>
            <a:r>
              <a:t>- "Gems หายไปไหน?" → Google ย้าย Gems ไปเป็น Skills ช่วง พ.ย. 2026 ของเดิมย้ายอัตโนมัติ</a:t>
            </a:r>
          </a:p>
          <a:p>
            <a:r>
              <a:t>คำถามที่เหลือ / คนที่ Agent ยังไม่เสร็จ: ชวนติดต่อทางช่องทางในสไลด์ถัดไป (ไม่มีช่วงช่วยรายบุคคลหลัง 14:30 — ถ้าสถานที่สะดวกให้คุยต่อ ต้องยืนยันกับผู้จัดก่อน)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[14:29 – ปิดงาน 1 นาที · จบ 14:30]</a:t>
            </a:r>
          </a:p>
          <a:p>
            <a:r>
              <a:t>ขอบคุณทุกคน และขอบคุณผู้จัด (เอ่ยชื่อผู้จัด) และ Living Room Thonglor</a:t>
            </a:r>
          </a:p>
          <a:p>
            <a:r>
              <a:t>- ฝากการบ้าน: ใช้ผู้ช่วยที่สร้างวันนี้ทุกวัน 1 สัปดาห์ ปรับ instructions ทุกครั้งที่ไม่ตรงใจ</a:t>
            </a:r>
          </a:p>
          <a:p>
            <a:r>
              <a:t>- สแกน QR รับ Core Prompt / สไลด์ / แบบประเมิน (เติม QR และช่องทางติดต่อก่อนวันงาน)</a:t>
            </a:r>
          </a:p>
          <a:p>
            <a:r>
              <a:t>- ชวนถ่ายรูปหมู่ (ภายใน 14:30)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x.ai/bot" TargetMode="External"/><Relationship Id="rId3" Type="http://schemas.openxmlformats.org/officeDocument/2006/relationships/hyperlink" Target="https://chatgpt.com" TargetMode="External"/><Relationship Id="rId4" Type="http://schemas.openxmlformats.org/officeDocument/2006/relationships/hyperlink" Target="https://chatgpt.com/download" TargetMode="External"/><Relationship Id="rId5" Type="http://schemas.openxmlformats.org/officeDocument/2006/relationships/hyperlink" Target="https://claude.ai" TargetMode="External"/><Relationship Id="rId6" Type="http://schemas.openxmlformats.org/officeDocument/2006/relationships/hyperlink" Target="https://claude.ai/download" TargetMode="External"/><Relationship Id="rId7" Type="http://schemas.openxmlformats.org/officeDocument/2006/relationships/hyperlink" Target="https://gemini.google.com" TargetMode="External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A7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052560" y="-1463040"/>
            <a:ext cx="5486400" cy="54864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749039"/>
            <a:ext cx="3840480" cy="3840480"/>
          </a:xfrm>
          <a:prstGeom prst="ellipse">
            <a:avLst/>
          </a:prstGeom>
          <a:solidFill>
            <a:srgbClr val="633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961120" y="4480560"/>
            <a:ext cx="914400" cy="914400"/>
          </a:xfrm>
          <a:prstGeom prst="ellipse">
            <a:avLst/>
          </a:prstGeom>
          <a:solidFill>
            <a:srgbClr val="C9B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731520" y="1005840"/>
            <a:ext cx="3291840" cy="438912"/>
          </a:xfrm>
          <a:prstGeom prst="roundRect">
            <a:avLst>
              <a:gd name="adj" fmla="val 50000"/>
            </a:avLst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IN-PERSON WORKSHOP · 90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8229600" cy="20116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50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AI ผู้ช่วยส่วนตัว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50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สร้าง Agent ของคุณเอง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11880"/>
            <a:ext cx="7680960" cy="9144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รู้จัก ChatGPT · Claude · Gemini · Grok Bot แล้วลงมือสร้างผู้ช่วย AI สำหรับชีวิตประจำวันของคุณ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800600"/>
            <a:ext cx="73152" cy="1005840"/>
          </a:xfrm>
          <a:prstGeom prst="rect">
            <a:avLst/>
          </a:prstGeom>
          <a:solidFill>
            <a:srgbClr val="C9B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0120" y="4754880"/>
            <a:ext cx="7315200" cy="11887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Pawinee Amonnuntarat (นุ้ย)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เสาร์ 7 พ.ย. 2026 · 13:00–14:30 น. · Living Room Thonglor (ห้อง Workshop)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SPEAKER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แนะนำวิทยากร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13:01 · 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737360"/>
            <a:ext cx="3017520" cy="3566160"/>
          </a:xfrm>
          <a:prstGeom prst="roundRect">
            <a:avLst>
              <a:gd name="adj" fmla="val 8000"/>
            </a:avLst>
          </a:prstGeom>
          <a:solidFill>
            <a:srgbClr val="E7DEF8"/>
          </a:solidFill>
          <a:ln w="15875">
            <a:solidFill>
              <a:srgbClr val="C9B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1">
                <a:solidFill>
                  <a:srgbClr val="7B4FC9"/>
                </a:solidFill>
                <a:latin typeface="Prompt"/>
                <a:ea typeface="Prompt"/>
                <a:cs typeface="Prompt"/>
              </a:rPr>
              <a:t>[ใส่รูปโปรไฟล์]</a:t>
            </a:r>
          </a:p>
          <a:p>
            <a:pPr algn="ctr"/>
            <a:r>
              <a:rPr sz="1200" b="1">
                <a:solidFill>
                  <a:srgbClr val="5F596B"/>
                </a:solidFill>
                <a:latin typeface="Prompt"/>
                <a:ea typeface="Prompt"/>
                <a:cs typeface="Prompt"/>
              </a:rPr>
              <a:t>แนะนำขนาด 3:4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554480"/>
            <a:ext cx="7315200" cy="5943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2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Pawinee Amonnuntarat (นุ้ย)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176272"/>
            <a:ext cx="731520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ผู้เชี่ยวชาญด้าน IT และ IT Consulting ประสบการณ์กว่า 20 ปี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43200"/>
            <a:ext cx="141732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ประสบการณ์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2743200"/>
            <a:ext cx="5760720" cy="8686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ทำงานด้าน IT และ IT Consulting มากว่า 20 ปี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Implement แพลตฟอร์มบล็อกเชนให้บริษัทฟินเทค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Implement โครงการ IT ขนาดใหญ่ที่ธนาคารชั้นนำของไทย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666744"/>
            <a:ext cx="141732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การศึกษา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3666744"/>
            <a:ext cx="5760720" cy="9144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วิศวกรรมสารสนเทศ สจล. (สถาบันเทคโนโลยีพระจอมเกล้าเจ้าคุณทหารลาดกระบัง)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MBA จุฬาลงกรณ์มหาวิทยาลัย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4636008"/>
            <a:ext cx="141732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ใช้ AI จริง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4636008"/>
            <a:ext cx="5760720" cy="713232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ในงาน: </a:t>
            </a: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Microsoft Copilot · Cursor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ส่วนตัว: </a:t>
            </a: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ChatGPT · Claude · Gemini · Grok Bot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5559552"/>
            <a:ext cx="6949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1600" b="1">
                <a:solidFill>
                  <a:srgbClr val="4B2A7B"/>
                </a:solidFill>
                <a:latin typeface="Sarabun"/>
                <a:ea typeface="Sarabun"/>
                <a:cs typeface="Sarabun"/>
              </a:rPr>
              <a:t>เป้าหมายวันนี้: </a:t>
            </a:r>
            <a:r>
              <a:rPr sz="1600" b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ทุกคนกลับบ้านพร้อม AI ผู้ช่วย 1 ตัวที่ใช้ได้จริงพรุ่งนี้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Agenda วันนี้ (90 นาที · 13:00–14:30)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13:03 · 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00200"/>
            <a:ext cx="10515600" cy="658368"/>
          </a:xfrm>
          <a:prstGeom prst="roundRect">
            <a:avLst>
              <a:gd name="adj" fmla="val 25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1691640"/>
            <a:ext cx="11887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13:00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691640"/>
            <a:ext cx="722376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ต้อนรับ &amp; เตรียมเครื่อง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1691640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5 นาที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368296"/>
            <a:ext cx="10515600" cy="658368"/>
          </a:xfrm>
          <a:prstGeom prst="roundRect">
            <a:avLst>
              <a:gd name="adj" fmla="val 25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51560" y="2459736"/>
            <a:ext cx="11887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13:05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2459736"/>
            <a:ext cx="722376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Part 1 · รู้จัก AI 4 ตัว + เทคนิค Prompt + ความปลอดภัย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2459736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25 นาที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136391"/>
            <a:ext cx="10515600" cy="658368"/>
          </a:xfrm>
          <a:prstGeom prst="roundRect">
            <a:avLst>
              <a:gd name="adj" fmla="val 25000"/>
            </a:avLst>
          </a:prstGeom>
          <a:solidFill>
            <a:srgbClr val="C9B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51560" y="3227832"/>
            <a:ext cx="11887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13:30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227832"/>
            <a:ext cx="722376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Part 2a · Agent คืออะไร + Demo บน Grok Bot + Core Prompt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3227832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20 นาที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904487"/>
            <a:ext cx="10515600" cy="658368"/>
          </a:xfrm>
          <a:prstGeom prst="roundRect">
            <a:avLst>
              <a:gd name="adj" fmla="val 25000"/>
            </a:avLst>
          </a:prstGeom>
          <a:solidFill>
            <a:srgbClr val="C9B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51560" y="3995927"/>
            <a:ext cx="11887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13:50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995927"/>
            <a:ext cx="722376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Part 2b · Hands-on: สร้าง Agent ของคุณเอง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3995927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25 นาที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672583"/>
            <a:ext cx="10515600" cy="658368"/>
          </a:xfrm>
          <a:prstGeom prst="roundRect">
            <a:avLst>
              <a:gd name="adj" fmla="val 25000"/>
            </a:avLst>
          </a:prstGeom>
          <a:solidFill>
            <a:srgbClr val="C9B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51560" y="4764023"/>
            <a:ext cx="11887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14:15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4764023"/>
            <a:ext cx="722376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ทดสอบ · ปรับปรุง · แชร์กับเพื่อน + Q&amp;A สั้นๆ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4764023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15 นาที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440679"/>
            <a:ext cx="1051560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51560" y="5532119"/>
            <a:ext cx="11887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14:30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7440" y="5532119"/>
            <a:ext cx="722376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จบ Workshop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5532119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รวม 90 นาที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217920"/>
            <a:ext cx="100584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BEFORE WE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เตรียมเครื่องก่อนวันงาน &amp; ก่อนเริ่ม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13:04 · 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72768"/>
            <a:ext cx="1920240" cy="3520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005840" y="1801368"/>
            <a:ext cx="685800" cy="6858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70048"/>
            <a:ext cx="160020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ต่อ Wi-Fi ร้าน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218688"/>
            <a:ext cx="1600200" cy="17373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[ชื่อ Wi-Fi / รหัส — ผู้จัดเติม]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1572768"/>
            <a:ext cx="2743200" cy="3520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B4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3154680" y="1801368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★ ใช้หลักใน Workshop</a:t>
            </a:r>
          </a:p>
        </p:txBody>
      </p:sp>
      <p:sp>
        <p:nvSpPr>
          <p:cNvPr id="14" name="Oval 13"/>
          <p:cNvSpPr/>
          <p:nvPr/>
        </p:nvSpPr>
        <p:spPr>
          <a:xfrm>
            <a:off x="5120640" y="1755648"/>
            <a:ext cx="438912" cy="438912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2286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Grok Bot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743200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สร้าง Agent ใน Part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3127248"/>
            <a:ext cx="2468880" cy="1874519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ติดตั้ง: </a:t>
            </a:r>
            <a:r>
              <a:rPr sz="1400" b="1" i="0" u="sng">
                <a:solidFill>
                  <a:srgbClr val="7B4FC9"/>
                </a:solidFill>
                <a:latin typeface="Sarabun"/>
                <a:ea typeface="Sarabun"/>
                <a:cs typeface="Sarabun"/>
                <a:hlinkClick r:id="rId2"/>
              </a:rPr>
              <a:t>x.ai/bot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Sign in: </a:t>
            </a: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บัญชี Cursor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5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Mac / Windows / Linux / มือถือ · แนะนำโน้ตบุ๊ก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5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ต้องมี Cursor Pro / Pro+ / Ultra / Teams หรือ SuperGrok / X Premium+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1572768"/>
            <a:ext cx="2743200" cy="3520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B4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080760" y="1801368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★ ใช้หลักใน Workshop</a:t>
            </a:r>
          </a:p>
        </p:txBody>
      </p:sp>
      <p:sp>
        <p:nvSpPr>
          <p:cNvPr id="20" name="Oval 19"/>
          <p:cNvSpPr/>
          <p:nvPr/>
        </p:nvSpPr>
        <p:spPr>
          <a:xfrm>
            <a:off x="8046720" y="1755648"/>
            <a:ext cx="438912" cy="438912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286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ChatGPT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2743200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1 + แผนสำรอง (ฟรี)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127248"/>
            <a:ext cx="2468880" cy="1874519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Sign in: </a:t>
            </a:r>
            <a:r>
              <a:rPr sz="1400" b="1" i="0" u="sng">
                <a:solidFill>
                  <a:srgbClr val="7B4FC9"/>
                </a:solidFill>
                <a:latin typeface="Sarabun"/>
                <a:ea typeface="Sarabun"/>
                <a:cs typeface="Sarabun"/>
                <a:hlinkClick r:id="rId3"/>
              </a:rPr>
              <a:t>chatgpt.com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50" b="1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แอป: </a:t>
            </a:r>
            <a:r>
              <a:rPr sz="1350" b="1" i="0" u="sng">
                <a:solidFill>
                  <a:srgbClr val="7B4FC9"/>
                </a:solidFill>
                <a:latin typeface="Sarabun"/>
                <a:ea typeface="Sarabun"/>
                <a:cs typeface="Sarabun"/>
                <a:hlinkClick r:id="rId4"/>
              </a:rPr>
              <a:t>chatgpt.com/download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5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บัญชีฟรีใช้ได้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5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ไม่มีแพ็กเกจ Grok Bot? ใช้ ChatGPT Projects ฟรีแทนได้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78240" y="1572768"/>
            <a:ext cx="2560320" cy="3520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9006840" y="180136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ทางเลือก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228600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ลองเพิ่มได้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2761488"/>
            <a:ext cx="2240280" cy="22402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Claude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50" b="1" i="0" u="sng">
                <a:solidFill>
                  <a:srgbClr val="7B4FC9"/>
                </a:solidFill>
                <a:latin typeface="Sarabun"/>
                <a:ea typeface="Sarabun"/>
                <a:cs typeface="Sarabun"/>
                <a:hlinkClick r:id="rId5"/>
              </a:rPr>
              <a:t>claude.ai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50" b="1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แอป: </a:t>
            </a:r>
            <a:r>
              <a:rPr sz="1350" b="1" i="0" u="sng">
                <a:solidFill>
                  <a:srgbClr val="7B4FC9"/>
                </a:solidFill>
                <a:latin typeface="Sarabun"/>
                <a:ea typeface="Sarabun"/>
                <a:cs typeface="Sarabun"/>
                <a:hlinkClick r:id="rId6"/>
              </a:rPr>
              <a:t>claude.ai/download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Gemini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50" b="1" i="0" u="sng">
                <a:solidFill>
                  <a:srgbClr val="7B4FC9"/>
                </a:solidFill>
                <a:latin typeface="Sarabun"/>
                <a:ea typeface="Sarabun"/>
                <a:cs typeface="Sarabun"/>
                <a:hlinkClick r:id="rId7"/>
              </a:rPr>
              <a:t>gemini.google.com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มือถือ: แอป Gemini (iOS / Android)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285232"/>
            <a:ext cx="10515600" cy="868680"/>
          </a:xfrm>
          <a:prstGeom prst="roundRect">
            <a:avLst>
              <a:gd name="adj" fmla="val 20000"/>
            </a:avLst>
          </a:prstGeom>
          <a:solidFill>
            <a:srgbClr val="FFF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1500" b="1">
                <a:solidFill>
                  <a:srgbClr val="9A5600"/>
                </a:solidFill>
                <a:latin typeface="Sarabun"/>
                <a:ea typeface="Sarabun"/>
                <a:cs typeface="Sarabun"/>
              </a:rPr>
              <a:t>ทำให้เสร็จก่อนวันงาน: </a:t>
            </a:r>
            <a:r>
              <a:rPr sz="1500" b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ติดตั้ง → Sign in → ทำขั้นตอนแนะนำครั้งแรกของ Grok Bot ให้จบ (ใช้เวลาสักพัก)</a:t>
            </a:r>
          </a:p>
          <a:p>
            <a:pPr algn="l"/>
            <a:r>
              <a:rPr sz="1400" b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ใช้บัญชีส่วนตัว ไม่ใช่บัญชีบริษัท (Copilot องค์กร / Workspace ที่ทำงาน)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1 · พื้นฐาน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AI / LLM คืออะไร — แบบภาษาคน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13:05 · 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4592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51560" y="1847088"/>
            <a:ext cx="457200" cy="64008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05840" y="1965960"/>
            <a:ext cx="301752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LLM = นักอ่านตัวยง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23160"/>
            <a:ext cx="3017520" cy="18745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Large Language Model คือโปรแกรมที่ “อ่าน” ข้อความมหาศาล จนเรียนรู้รูปแบบภาษา แล้วเดาคำถัดไปได้อย่างแม่นยำ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64592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617720" y="1847088"/>
            <a:ext cx="457200" cy="64008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72000" y="1965960"/>
            <a:ext cx="301752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คุยได้เหมือนคน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423160"/>
            <a:ext cx="3017520" cy="18745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เราสั่งงานด้วยภาษาธรรมดา (ไทยก็ได้) → มันเขียน สรุป แปล วางแผน ตอบคำถาม หรือช่วยคิดให้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164592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183879" y="1847088"/>
            <a:ext cx="457200" cy="64008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38159" y="1965960"/>
            <a:ext cx="301752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แต่ไม่ใช่ผู้รู้ทุกอย่าง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9" y="2423160"/>
            <a:ext cx="3017520" cy="18745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บางครั้ง “มั่นใจแต่ผิด” (hallucination) · ข้อมูลอาจไม่อัปเดต ถ้าไม่ได้ค้นเว็บ · ต้องตรวจเรื่องสำคัญเสมอ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663440"/>
            <a:ext cx="10515600" cy="1325880"/>
          </a:xfrm>
          <a:prstGeom prst="roundRect">
            <a:avLst>
              <a:gd name="adj" fmla="val 15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 bIns="320040"/>
          <a:lstStyle/>
          <a:p>
            <a:pPr algn="l"/>
            <a:r>
              <a:rPr sz="20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เปรียบง่ายๆ: </a:t>
            </a:r>
            <a:r>
              <a:rPr sz="20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AI คือ “ผู้ช่วยฝึกงานที่เก่งมาก ทำงานเร็ว แต่ยังไม่รู้จักคุณ”</a:t>
            </a:r>
          </a:p>
          <a:p>
            <a:pPr algn="l"/>
            <a:r>
              <a:rPr sz="1600" b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ยิ่งเราบอกบริบทชัด → งานยิ่งตรงใจ  (นี่คือหัวใจของ Part 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1 · รู้จักเครื่องมือ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ChatGPT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13:09 · 3.5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005840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OpenAI · ผู้ช่วยรอบด้าน ใช้ง่าย ฟีเจอร์ครบ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74519"/>
            <a:ext cx="493776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51560" y="201168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เหมาะกับ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514600"/>
            <a:ext cx="4572000" cy="2743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ใช้งานทั่วไปทุกวัน: เขียน สรุป แปล ระดมไอเดีย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คุยด้วยเสียง / ถ่ายรูปถาม (เช่น ฉลาก ป้าย เมนูต่างประเทศ)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สร้างภาพ วิเคราะห์ไฟล์ PDF / Excel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Projects: รวมแชต + ไฟล์ + คำสั่งประจำ (แผนสำรองใน Part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1874519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ลองพิมพ์แบบนี้ (ตัวอย่าง Prompt)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37744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035040" y="237744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63640" y="242316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“วางแผนเมนูอาหารเย็น 5 วัน สำหรับ 2 คน งบ 1,500 บาท ไม่เผ็ด ทำเสร็จใน 30 นาที”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335280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035040" y="335280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63640" y="339852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“สรุปข้อความยาวนี้เป็น 3 bullet แล้วร่างคำตอบแบบสุภาพ”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432816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035040" y="432816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63640" y="437388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“(แนบรูป) แปลเมนูร้านนี้ และแนะนำจานที่ไม่มีหมู”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486400"/>
            <a:ext cx="10515600" cy="731520"/>
          </a:xfrm>
          <a:prstGeom prst="roundRect">
            <a:avLst>
              <a:gd name="adj" fmla="val 20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l"/>
            <a:r>
              <a:rPr sz="14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ฟรี: </a:t>
            </a:r>
            <a:r>
              <a:rPr sz="14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ใช้ได้ทุกวัน มีลิมิตการใช้งานบางฟีเจอร์ · Projects ใช้ได้</a:t>
            </a:r>
            <a:r>
              <a:rPr sz="14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    |    จ่ายเงิน: </a:t>
            </a:r>
            <a:r>
              <a:rPr sz="14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Go / Plus / Pro (ราคาในไทย ควรเช็กอีกครั้ง)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1 · รู้จักเครื่องมือ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Claude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13:12 · 3.5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005840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Anthropic · เด่นเรื่องงานเขียนและเอกสารยาว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74519"/>
            <a:ext cx="493776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51560" y="201168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เหมาะกับ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514600"/>
            <a:ext cx="4572000" cy="2743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งานเขียนที่อยากได้โทนเป็นธรรมชาติ สุภาพ เป็นมืออาชีพ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อ่าน/สรุปเอกสารยาว: สัญญา รายงาน คู่มือ (แนบไฟล์ได้)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คิดวิเคราะห์เป็นขั้นตอน ช่วยตัดสินใจ ชั่งข้อดีข้อเสีย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Projects: เก็บคำสั่ง + ไฟล์อ้างอิงไว้ใช้ซ้ำ (ฟรีได้สูงสุด 5 อัน)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1874519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ลองพิมพ์แบบนี้ (ตัวอย่าง Prompt)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37744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035040" y="237744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63640" y="242316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“อ่านสัญญาเช่าคอนโดนี้ แล้วสรุป 5 ข้อที่ผู้เช่าควรระวัง เป็นภาษาง่ายๆ”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335280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035040" y="335280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63640" y="339852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“ช่วยเกลาโพสต์ LinkedIn นี้ให้กระชับและเป็นมืออาชีพ แต่ยังเป็นสไตล์ฉัน”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432816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035040" y="432816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63640" y="437388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“ทำ checklist เตรียมย้ายบ้านแบบตาราง แบ่งตามสัปดาห์”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486400"/>
            <a:ext cx="10515600" cy="731520"/>
          </a:xfrm>
          <a:prstGeom prst="roundRect">
            <a:avLst>
              <a:gd name="adj" fmla="val 20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l"/>
            <a:r>
              <a:rPr sz="14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ฟรี: </a:t>
            </a:r>
            <a:r>
              <a:rPr sz="14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แชต ค้นเว็บ แนบไฟล์ · Projects สูงสุด 5 อัน</a:t>
            </a:r>
            <a:r>
              <a:rPr sz="14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    |    จ่ายเงิน: </a:t>
            </a:r>
            <a:r>
              <a:rPr sz="14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Pro US$17/เดือน (รายปี) หรือ $20 รายเดือน · Max เริ่ม $100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1 · รู้จักเครื่องมือ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Gemini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13:16 · 3.5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005840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Google · เชื่อมกับโลก Google ที่เราใช้อยู่แล้ว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74519"/>
            <a:ext cx="493776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51560" y="201168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เหมาะกับ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514600"/>
            <a:ext cx="4572000" cy="2743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คนที่ใช้ Gmail / Drive / Maps / YouTube / Android อยู่แล้ว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ข้อมูลล่าสุดผ่าน Google Search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Gemini Live: คุยด้วยเสียง / เปิดกล้องถามสิ่งที่เห็น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Skills (มาแทน Gems): บันทึกคำสั่งประจำไว้ เรียกใช้ด้วย “/”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1874519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ลองพิมพ์แบบนี้ (ตัวอย่าง Prompt)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37744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035040" y="237744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63640" y="242316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“วางแผนเที่ยวเชียงใหม่ 3 วัน 2 คืน เน้นคาเฟ่ เดินทางด้วยรถเช่า งบคนละ 6,000 บาท”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335280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035040" y="335280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63640" y="339852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“สรุปวิดีโอ YouTube นี้เป็นข้อๆ พร้อม timestamp ที่สำคัญ”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432816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035040" y="432816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63640" y="437388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“ช่วยร่างอีเมลขอเลื่อนนัดแบบสุภาพ เสนอเวลาใหม่ 2 ตัวเลือก”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486400"/>
            <a:ext cx="10515600" cy="731520"/>
          </a:xfrm>
          <a:prstGeom prst="roundRect">
            <a:avLst>
              <a:gd name="adj" fmla="val 20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l"/>
            <a:r>
              <a:rPr sz="14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ฟรี: </a:t>
            </a:r>
            <a:r>
              <a:rPr sz="14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ใช้ด้วยบัญชี Google · Skills สร้างได้ฟรี (อายุ 18+)</a:t>
            </a:r>
            <a:r>
              <a:rPr sz="14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    |    จ่ายเงิน: </a:t>
            </a:r>
            <a:r>
              <a:rPr sz="14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Google AI Plus / Pro / Ultra (ราคาไทย ควรเช็กอีกครั้ง)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1325880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FFF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9A5600"/>
                </a:solidFill>
                <a:latin typeface="Prompt"/>
                <a:ea typeface="Prompt"/>
                <a:cs typeface="Prompt"/>
              </a:rPr>
              <a:t>กำลังเปลี่ยน Gems → Skills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1 · รู้จักเครื่องมือ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Grok 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13:19 · 3.5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005840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xAI · จากแชตบอท Grok สู่ “เพื่อนร่วมทีม AI” ที่ลงมือทำงานให้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74519"/>
            <a:ext cx="493776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51560" y="201168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เหมาะกับ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514600"/>
            <a:ext cx="4572000" cy="2743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Grok (grok.com / แอป): ข่าวและเทรนด์ล่าสุด ค้นเว็บ + X แบบเรียลไทม์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Grok Bot: สร้าง “Bot” ที่มีชื่อ งาน และ Description ของตัวเอง ทำงานบนคอมพิวเตอร์คลาวด์ ต่อได้แม้ปิดโน้ตบุ๊ก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จำความชอบได้ · เชื่อมแอปผ่าน Connectors · ตั้ง Routines ตามเวลา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ขออนุมัติก่อนทำสิ่งสำคัญ เช่น ส่ง ซื้อ ลบ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1874519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ลองพิมพ์แบบนี้ (ตัวอย่าง Prompt)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37744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035040" y="237744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63640" y="242316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“(Grok) สรุปว่าคนไทยพูดถึงรถ EV เรื่องอะไรบ้างในสัปดาห์นี้ พร้อมแหล่งที่มา”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335280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035040" y="335280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63640" y="339852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“(Grok Bot) หาตั๋วเครื่องบิน กทม.–โตเกียว กลาง ธ.ค. ทำตารางเทียบราคา แล้วรอฉันอนุมัติก่อนจอง”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432816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035040" y="432816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63640" y="437388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“(Grok Bot) ทุกเช้า 7:00 น. ส่งเมนูวันนี้และของที่ต้องเตรียมให้ฉัน”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486400"/>
            <a:ext cx="10515600" cy="731520"/>
          </a:xfrm>
          <a:prstGeom prst="roundRect">
            <a:avLst>
              <a:gd name="adj" fmla="val 20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l"/>
            <a:r>
              <a:rPr sz="14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ฟรี: </a:t>
            </a:r>
            <a:r>
              <a:rPr sz="14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Grok แชต (มีลิมิต) · Grok Bot มี trial</a:t>
            </a:r>
            <a:r>
              <a:rPr sz="14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    |    จ่ายเงิน: </a:t>
            </a:r>
            <a:r>
              <a:rPr sz="14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Grok Bot: Cursor Pro ขึ้นไป / Teams หรือเชื่อม SuperGrok / X Premium+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1325880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★ แพลตฟอร์มหลักใน Part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1 · สรุป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เปรียบเทียบ: เลือกตัวไหนดี?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13:23 · 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600200"/>
          <a:ext cx="105156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377440"/>
                <a:gridCol w="2743200"/>
                <a:gridCol w="1737360"/>
                <a:gridCol w="21945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4B2A7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เด่นเรื่อง</a:t>
                      </a:r>
                    </a:p>
                  </a:txBody>
                  <a:tcPr marL="91440" marR="91440" marT="45720" marB="45720" anchor="ctr">
                    <a:solidFill>
                      <a:srgbClr val="4B2A7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ฟรีได้อะไร (โดยย่อ)</a:t>
                      </a:r>
                    </a:p>
                  </a:txBody>
                  <a:tcPr marL="91440" marR="91440" marT="45720" marB="45720" anchor="ctr">
                    <a:solidFill>
                      <a:srgbClr val="4B2A7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แพ็กเกจจ่ายเงิน</a:t>
                      </a:r>
                    </a:p>
                  </a:txBody>
                  <a:tcPr marL="91440" marR="91440" marT="45720" marB="45720" anchor="ctr">
                    <a:solidFill>
                      <a:srgbClr val="4B2A7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สร้างผู้ช่วยส่วนตัว</a:t>
                      </a:r>
                    </a:p>
                  </a:txBody>
                  <a:tcPr marL="91440" marR="91440" marT="45720" marB="45720" anchor="ctr">
                    <a:solidFill>
                      <a:srgbClr val="4B2A7B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4B2A7B"/>
                          </a:solidFill>
                          <a:latin typeface="Prompt"/>
                          <a:ea typeface="Prompt"/>
                          <a:cs typeface="Prompt"/>
                        </a:rPr>
                        <a:t>ChatGPT</a:t>
                      </a:r>
                    </a:p>
                  </a:txBody>
                  <a:tcPr marL="91440" marR="91440" marT="45720" marB="45720" anchor="ctr">
                    <a:solidFill>
                      <a:srgbClr val="E7D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รอบด้าน ใช้ง่าย เสียง/ภาพ/ไฟล์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แชตทุกวัน (มีลิมิต) · Projects ได้ 5 ไฟล์/โปรเจกต์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Go · Plus · Pro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✔ Projects (ฟรี) = แผนสำรอง</a:t>
                      </a:r>
                    </a:p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✘ สร้าง GPT ใหม่ (บัญชีส่วนตัว)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4B2A7B"/>
                          </a:solidFill>
                          <a:latin typeface="Prompt"/>
                          <a:ea typeface="Prompt"/>
                          <a:cs typeface="Prompt"/>
                        </a:rPr>
                        <a:t>Claude</a:t>
                      </a:r>
                    </a:p>
                  </a:txBody>
                  <a:tcPr marL="91440" marR="91440" marT="45720" marB="45720" anchor="ctr">
                    <a:solidFill>
                      <a:srgbClr val="E7D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งานเขียน เอกสารยาว คิดเป็นขั้นตอน</a:t>
                      </a:r>
                    </a:p>
                  </a:txBody>
                  <a:tcPr marL="91440" marR="91440" marT="45720" marB="45720" anchor="ctr">
                    <a:solidFill>
                      <a:srgbClr val="FAF8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แชต · ค้นเว็บ · Projects สูงสุด 5 อัน</a:t>
                      </a:r>
                    </a:p>
                  </a:txBody>
                  <a:tcPr marL="91440" marR="91440" marT="45720" marB="45720" anchor="ctr">
                    <a:solidFill>
                      <a:srgbClr val="FAF8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Pro · Max</a:t>
                      </a:r>
                    </a:p>
                  </a:txBody>
                  <a:tcPr marL="91440" marR="91440" marT="45720" marB="45720" anchor="ctr">
                    <a:solidFill>
                      <a:srgbClr val="FAF8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✔ Projects (ฟรี 5 อัน)</a:t>
                      </a:r>
                    </a:p>
                  </a:txBody>
                  <a:tcPr marL="91440" marR="91440" marT="45720" marB="45720" anchor="ctr">
                    <a:solidFill>
                      <a:srgbClr val="FAF8FE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4B2A7B"/>
                          </a:solidFill>
                          <a:latin typeface="Prompt"/>
                          <a:ea typeface="Prompt"/>
                          <a:cs typeface="Prompt"/>
                        </a:rPr>
                        <a:t>Gemini</a:t>
                      </a:r>
                    </a:p>
                  </a:txBody>
                  <a:tcPr marL="91440" marR="91440" marT="45720" marB="45720" anchor="ctr">
                    <a:solidFill>
                      <a:srgbClr val="E7D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เชื่อม Google · ข้อมูลล่าสุด · Live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แชต · Gemini Live · Skills (18+)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AI Plus · Pro · Ultra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✔ Skills (ฟรี)</a:t>
                      </a:r>
                    </a:p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⚠ Gems ทยอยปิด พ.ย. 2026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4B2A7B"/>
                          </a:solidFill>
                          <a:latin typeface="Prompt"/>
                          <a:ea typeface="Prompt"/>
                          <a:cs typeface="Prompt"/>
                        </a:rPr>
                        <a:t>Grok Bot ★</a:t>
                      </a:r>
                    </a:p>
                  </a:txBody>
                  <a:tcPr marL="91440" marR="91440" marT="45720" marB="45720" anchor="ctr">
                    <a:solidFill>
                      <a:srgbClr val="E7D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Bot ลงมือทำงานจนจบ · จำได้ · เชื่อมแอป · ตั้งเวลา</a:t>
                      </a:r>
                    </a:p>
                  </a:txBody>
                  <a:tcPr marL="91440" marR="91440" marT="45720" marB="45720" anchor="ctr">
                    <a:solidFill>
                      <a:srgbClr val="FAF8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Grok แชตฟรี (มีลิมิต) · Grok Bot: free trial แบบเครดิต</a:t>
                      </a:r>
                    </a:p>
                  </a:txBody>
                  <a:tcPr marL="91440" marR="91440" marT="45720" marB="45720" anchor="ctr">
                    <a:solidFill>
                      <a:srgbClr val="FAF8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Cursor Pro ขึ้นไป / Teams หรือ SuperGrok / X Premium+</a:t>
                      </a:r>
                    </a:p>
                  </a:txBody>
                  <a:tcPr marL="91440" marR="91440" marT="45720" marB="45720" anchor="ctr">
                    <a:solidFill>
                      <a:srgbClr val="FAF8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★ Bot เต็มรูปแบบ (ใช้ใน Part 2)</a:t>
                      </a:r>
                    </a:p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ต้องมีแพ็กเกจ</a:t>
                      </a:r>
                    </a:p>
                  </a:txBody>
                  <a:tcPr marL="91440" marR="91440" marT="45720" marB="45720" anchor="ctr">
                    <a:solidFill>
                      <a:srgbClr val="FAF8F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22960" y="5897880"/>
            <a:ext cx="1051560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ข้อมูล ณ ต้น ต.ค. 2026 จากหน้าเว็บ/Help Center ทางการ · ฟีเจอร์และราคาเปลี่ยนบ่อย — เช็กอีกครั้งก่อนสมัคร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1 · เทคนิค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สูตรเขียน Prompt ให้ได้ผล: R · C · T · 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13:26 · 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45920"/>
            <a:ext cx="251460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051560" y="1828800"/>
            <a:ext cx="685800" cy="685800"/>
          </a:xfrm>
          <a:prstGeom prst="ellipse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4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Role · บทบาท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017520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ให้ AI สวมบทใคร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429000"/>
            <a:ext cx="2148840" cy="8686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“คุณคือนักโภชนาการ”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1645920"/>
            <a:ext cx="251460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3749039" y="1828800"/>
            <a:ext cx="685800" cy="685800"/>
          </a:xfrm>
          <a:prstGeom prst="ellipse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4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606040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Context · บริบท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017520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เราคือใคร สถานการณ์อะไร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3429000"/>
            <a:ext cx="2148840" cy="8686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“ฉันทำงานออฟฟิศ อายุ 35 ทำอาหารเองได้นิดหน่อย”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645920"/>
            <a:ext cx="251460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46520" y="1828800"/>
            <a:ext cx="685800" cy="685800"/>
          </a:xfrm>
          <a:prstGeom prst="ellipse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4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606040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Task · งาน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017520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อยากให้ทำอะไร ชัดๆ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429000"/>
            <a:ext cx="2148840" cy="8686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“วางแผนมื้อกลางวัน 5 วัน”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1645920"/>
            <a:ext cx="251460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9144000" y="1828800"/>
            <a:ext cx="685800" cy="685800"/>
          </a:xfrm>
          <a:prstGeom prst="ellipse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4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2606040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Format · รูปแบบ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17520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อยากได้คำตอบหน้าตาแบบไหน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429000"/>
            <a:ext cx="2148840" cy="8686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“ทำเป็นตาราง พร้อมราคาโดยประมาณ”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4572000"/>
            <a:ext cx="5120640" cy="1463040"/>
          </a:xfrm>
          <a:prstGeom prst="roundRect">
            <a:avLst>
              <a:gd name="adj" fmla="val 1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05840" y="4645152"/>
            <a:ext cx="4754880" cy="13716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5F596B"/>
                </a:solidFill>
                <a:latin typeface="Prompt"/>
                <a:ea typeface="Prompt"/>
                <a:cs typeface="Prompt"/>
              </a:rPr>
              <a:t>✘ ก่อน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“ช่วยคิดเมนูอาหารให้หน่อย”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4572000"/>
            <a:ext cx="5120640" cy="1463040"/>
          </a:xfrm>
          <a:prstGeom prst="roundRect">
            <a:avLst>
              <a:gd name="adj" fmla="val 10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00800" y="4645152"/>
            <a:ext cx="4754880" cy="13716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C9B6EE"/>
                </a:solidFill>
                <a:latin typeface="Prompt"/>
                <a:ea typeface="Prompt"/>
                <a:cs typeface="Prompt"/>
              </a:rPr>
              <a:t>✔ หลัง (+ เทคนิคเสริม: ให้ถามกลับ)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“คุณคือนักโภชนาการ ฉันทำงานออฟฟิศ ไม่กินเนื้อวัว วางแผนมื้อกลางวัน 5 วัน เป็นตาราง ถ้าข้อมูลไม่พอ ถามฉันก่อน”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1 · ใช้อย่างปลอดภัย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ความเป็นส่วนตัว &amp; ความปลอดภัย เบื้องต้น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13:29 · 1–2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45920"/>
            <a:ext cx="512064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51560" y="1847088"/>
            <a:ext cx="457200" cy="64008"/>
          </a:xfrm>
          <a:prstGeom prst="rect">
            <a:avLst/>
          </a:prstGeom>
          <a:solidFill>
            <a:srgbClr val="C0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05840" y="1965960"/>
            <a:ext cx="4754879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ห้ามใส่ (แม้เป็นบัญชีส่วนตัว)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23160"/>
            <a:ext cx="4754879" cy="29718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เลขบัตรประชาชน รหัสผ่าน OTP PIN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เลขบัญชี / บัตรเครดิต / สลิปที่เห็นข้อมูลเต็ม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ข้อมูลลูกค้าหรือเอกสารลับของบริษัท (บัญชีส่วนตัว ≠ Copilot องค์กร)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ผลตรวจสุขภาพที่ระบุตัวตน ข้อมูลของคนอื่นโดยไม่ได้รับอนุญาต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45920"/>
            <a:ext cx="512064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446520" y="1847088"/>
            <a:ext cx="457200" cy="64008"/>
          </a:xfrm>
          <a:prstGeom prst="rect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0" y="1965960"/>
            <a:ext cx="4754879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ควรทำ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23160"/>
            <a:ext cx="4754879" cy="29718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เช็ก Settings เรื่องการนำแชตไปพัฒนาโมเดล และปิดถ้าไม่ต้องการ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ใช้ข้อมูลแบบ “ไม่ระบุตัวตน” เช่น อายุช่วง อาชีพกว้างๆ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ตรวจคำตอบเรื่อง เงิน สุขภาพ กฎหมาย กับแหล่งที่เชื่อถือได้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Grok Bot: ใส่ข้อห้ามใน Description + ตั้งกฎ Ask first ก่อนส่ง/ซื้อ/ลบ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Bot ทุกตัวในบัญชีใช้คอมพิวเตอร์คลาวด์ร่วมกัน (ไฟล์/ล็อกอิน) — เชื่อมเฉพาะบัญชีที่จำเป็น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623560"/>
            <a:ext cx="1051560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1">
                <a:solidFill>
                  <a:srgbClr val="4B2A7B"/>
                </a:solidFill>
                <a:latin typeface="Sarabun"/>
                <a:ea typeface="Sarabun"/>
                <a:cs typeface="Sarabun"/>
              </a:rPr>
              <a:t>กฎง่ายๆ: </a:t>
            </a:r>
            <a:r>
              <a:rPr sz="1500" b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ถ้าไม่กล้าโพสต์ลงกลุ่ม LINE ครอบครัว ก็อย่าพิมพ์ใส่ 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A7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377440" y="3566160"/>
            <a:ext cx="5029200" cy="50292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875520" y="-914400"/>
            <a:ext cx="3200400" cy="3200400"/>
          </a:xfrm>
          <a:prstGeom prst="ellipse">
            <a:avLst/>
          </a:prstGeom>
          <a:solidFill>
            <a:srgbClr val="633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0" y="173736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C9B6EE"/>
                </a:solidFill>
                <a:latin typeface="Prompt"/>
                <a:ea typeface="Prompt"/>
                <a:cs typeface="Prompt"/>
              </a:rPr>
              <a:t>PART 2 · 60 นาที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286000"/>
            <a:ext cx="8686800" cy="14630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54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Build Your Own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3337560"/>
            <a:ext cx="8686800" cy="9144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40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สร้างผู้ช่วย AI ส่วนตัว ที่รู้จักคุณ และทำงานแบบที่คุณต้องการ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4389120"/>
            <a:ext cx="8686800" cy="10972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0" i="0">
                <a:solidFill>
                  <a:srgbClr val="C9B6EE"/>
                </a:solidFill>
                <a:latin typeface="Sarabun"/>
                <a:ea typeface="Sarabun"/>
                <a:cs typeface="Sarabun"/>
              </a:rPr>
              <a:t>13:30 Agent คืออะไร → Demo → Core Prompt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0" i="0">
                <a:solidFill>
                  <a:srgbClr val="C9B6EE"/>
                </a:solidFill>
                <a:latin typeface="Sarabun"/>
                <a:ea typeface="Sarabun"/>
                <a:cs typeface="Sarabun"/>
              </a:rPr>
              <a:t>13:50 ลงมือสร้าง (25 นาที) → 14:15 ทดสอบ &amp; ปรับปรุง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C9B6EE"/>
                </a:solidFill>
                <a:latin typeface="Sarabun"/>
                <a:ea typeface="Sarabun"/>
                <a:cs typeface="Sarabun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2 · แนวคิด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“Agent” คืออะไร? — ดูผ่าน Grok 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13:30 · 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Agent = ผู้ช่วย AI ที่ตั้งค่าไว้ล่วงหน้า จำเราได้ และลงมือทำงานให้ได้ — ไม่ใช่แค่ตอบคำถาม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20240"/>
            <a:ext cx="32461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51560" y="2029968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6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06040"/>
            <a:ext cx="283464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Instructions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35808"/>
            <a:ext cx="283464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→ Description ของ Bot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456432"/>
            <a:ext cx="2834640" cy="9601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บทบาท เป้าหมาย สไตล์ ข้อห้าม — กฎถาวรอยู่ใน Description งานเฉพาะครั้งพิมพ์ในแชต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834640"/>
            <a:ext cx="36576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1920240"/>
            <a:ext cx="32461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663440" y="2029968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6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606040"/>
            <a:ext cx="283464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Knowledge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035808"/>
            <a:ext cx="283464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→ Memory + ไฟล์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456432"/>
            <a:ext cx="2834640" cy="9601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Bot จำความชอบ ข้อมูลสำคัญ และสรุปงานที่ผ่านมา · แนบไฟล์ให้อ่านได้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80" y="2834640"/>
            <a:ext cx="36576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+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920240"/>
            <a:ext cx="32461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75320" y="2029968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6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606040"/>
            <a:ext cx="283464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035808"/>
            <a:ext cx="283464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→ Connectors · Routines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3456432"/>
            <a:ext cx="2834640" cy="9601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เชื่อมแอปจาก Marketplace · ใช้เบราว์เซอร์บนคอมพิวเตอร์คลาวด์ · Skills + ตั้งเวลาให้ทำเอง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6634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ระดับ 1</a:t>
            </a:r>
          </a:p>
          <a:p>
            <a:pPr algn="ctr"/>
            <a:r>
              <a:rPr sz="18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แชตธรรมดา</a:t>
            </a:r>
          </a:p>
          <a:p>
            <a:pPr algn="ctr"/>
            <a:r>
              <a:rPr sz="1300" b="0">
                <a:solidFill>
                  <a:srgbClr val="4B2A7B"/>
                </a:solidFill>
                <a:latin typeface="Sarabun"/>
                <a:ea typeface="Sarabun"/>
                <a:cs typeface="Sarabun"/>
              </a:rPr>
              <a:t>อธิบายใหม่ทุกครั้ง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24528" y="5074920"/>
            <a:ext cx="27432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89120" y="46634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C9B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ระดับ 2 · แผนสำรอง</a:t>
            </a:r>
          </a:p>
          <a:p>
            <a:pPr algn="ctr"/>
            <a:r>
              <a:rPr sz="18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ผู้ช่วยที่ตั้งค่าเอง</a:t>
            </a:r>
          </a:p>
          <a:p>
            <a:pPr algn="ctr"/>
            <a:r>
              <a:rPr sz="1300" b="0">
                <a:solidFill>
                  <a:srgbClr val="4B2A7B"/>
                </a:solidFill>
                <a:latin typeface="Sarabun"/>
                <a:ea typeface="Sarabun"/>
                <a:cs typeface="Sarabun"/>
              </a:rPr>
              <a:t>ChatGPT Projects / Gemini Skills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90688" y="5074920"/>
            <a:ext cx="27432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79" y="46634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ระดับ 3 · วันนี้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Agent ที่ลงมือทำงาน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Grok Bot: จำได้ · เชื่อมแอป · ตั้งเวลา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2 · เลือกแพลตฟอร์ม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วันนี้สร้างบนแพลตฟอร์มไหน?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13:33 · 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00200"/>
            <a:ext cx="6583680" cy="4526280"/>
          </a:xfrm>
          <a:prstGeom prst="roundRect">
            <a:avLst>
              <a:gd name="adj" fmla="val 6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097280" y="182880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แพลตฟอร์มหลัก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6126480" cy="6400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Grok Bot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450592"/>
            <a:ext cx="402336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9B6EE"/>
                </a:solidFill>
                <a:latin typeface="Sarabun"/>
                <a:ea typeface="Sarabun"/>
                <a:cs typeface="Sarabun"/>
              </a:rPr>
              <a:t>AI teammate บนเดสก์ท็อป &amp; มือถือ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017520"/>
            <a:ext cx="6126480" cy="30175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550" b="1" i="0">
                <a:solidFill>
                  <a:srgbClr val="C9B6EE"/>
                </a:solidFill>
                <a:latin typeface="Prompt"/>
                <a:ea typeface="Prompt"/>
                <a:cs typeface="Prompt"/>
              </a:rPr>
              <a:t>✔ Agent ตัวจริง </a:t>
            </a:r>
            <a:r>
              <a:rPr sz="1550" b="0" i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มีคอมพิวเตอร์บนคลาวด์ (เบราว์เซอร์ ไฟล์) ทำงานต่อแม้ปิดโน้ตบุ๊ก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550" b="1" i="0">
                <a:solidFill>
                  <a:srgbClr val="C9B6EE"/>
                </a:solidFill>
                <a:latin typeface="Prompt"/>
                <a:ea typeface="Prompt"/>
                <a:cs typeface="Prompt"/>
              </a:rPr>
              <a:t>✔ จำได้ </a:t>
            </a:r>
            <a:r>
              <a:rPr sz="1550" b="0" i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Memory เก็บความชอบ ข้อมูลสำคัญ และสรุปงานข้ามบทสนทนา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550" b="1" i="0">
                <a:solidFill>
                  <a:srgbClr val="C9B6EE"/>
                </a:solidFill>
                <a:latin typeface="Prompt"/>
                <a:ea typeface="Prompt"/>
                <a:cs typeface="Prompt"/>
              </a:rPr>
              <a:t>✔ เชื่อมแอปของเรา </a:t>
            </a:r>
            <a:r>
              <a:rPr sz="1550" b="0" i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Connectors จาก Marketplace + ใช้เว็บไซต์ได้แบบคน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550" b="1" i="0">
                <a:solidFill>
                  <a:srgbClr val="C9B6EE"/>
                </a:solidFill>
                <a:latin typeface="Prompt"/>
                <a:ea typeface="Prompt"/>
                <a:cs typeface="Prompt"/>
              </a:rPr>
              <a:t>✔ ตั้งเวลาให้ทำเอง </a:t>
            </a:r>
            <a:r>
              <a:rPr sz="1550" b="0" i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Routines เช่น ส่งเมนูวันนี้ทุกเช้า 7:00 น.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550" b="1" i="0">
                <a:solidFill>
                  <a:srgbClr val="FFF3DC"/>
                </a:solidFill>
                <a:latin typeface="Prompt"/>
                <a:ea typeface="Prompt"/>
                <a:cs typeface="Prompt"/>
              </a:rPr>
              <a:t>เงื่อนไข: </a:t>
            </a:r>
            <a:r>
              <a:rPr sz="155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ต้องมีแพ็กเกจที่รองรับ และติดตั้ง + Sign in ล่วงหน้า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60020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909560" y="1801368"/>
            <a:ext cx="457200" cy="64008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863840" y="1920240"/>
            <a:ext cx="329184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สำรอง 1 · ChatGPT Projects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377440"/>
            <a:ext cx="3291840" cy="12801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ฟรีบนบัญชี Free · ใส่ Instructions + ไฟล์ได้ (5 ไฟล์/โปรเจกต์) · สำหรับคนที่ไม่มีแพ็กเกจ Grok Bot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393192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909560" y="4133087"/>
            <a:ext cx="457200" cy="64008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863840" y="4251959"/>
            <a:ext cx="329184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สำรอง 2 · แชตไหนก็ได้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709159"/>
            <a:ext cx="3291840" cy="13258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วาง Core Prompt เป็นข้อความแรก แล้วคุยต่อในแชตเดิม (Gemini, Claude, Grok หรือแม้แต่ Copilot)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2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Step-by-step: สร้าง Agent บน Grok 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13:35 ·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00200"/>
            <a:ext cx="512064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024128" y="1901952"/>
            <a:ext cx="685800" cy="6858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1691640"/>
            <a:ext cx="393192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ติดตั้ง &amp; Sign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75688"/>
            <a:ext cx="3977639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x.ai/bot → ดาวน์โหลดตามเครื่อง → Sign in ด้วยบัญชี Cursor ในเบราว์เซอร์ (ใช้ SuperGrok? กด Link Grok Account)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063240"/>
            <a:ext cx="512064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024128" y="3364992"/>
            <a:ext cx="685800" cy="6858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154680"/>
            <a:ext cx="393192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สร้าง Bot ใหม่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38728"/>
            <a:ext cx="3977639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แถบซ้ายกด New (Cmd/Ctrl+N) → Create new Bot
บนมือถือ: ปุ่ม + → New Bot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526280"/>
            <a:ext cx="512064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024128" y="4828032"/>
            <a:ext cx="685800" cy="685800"/>
          </a:xfrm>
          <a:prstGeom prst="ellipse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617720"/>
            <a:ext cx="393192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ตั้งโปรไฟล์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001768"/>
            <a:ext cx="3977639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Edit Profile → Name เช่น “โค้ชอาหาร” → วาง Core Prompt ในช่อง Description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1600200"/>
            <a:ext cx="512064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373368" y="1901952"/>
            <a:ext cx="685800" cy="6858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1691640"/>
            <a:ext cx="393192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สั่งงานแรก &amp; สอนให้จำ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2075688"/>
            <a:ext cx="3977639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พิมพ์หรือพูดในช่องแชต · ความชอบถาวร บอกว่า “จำไว้ว่า…” หรือเพิ่มใน Description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063240"/>
            <a:ext cx="512064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6373368" y="3364992"/>
            <a:ext cx="685800" cy="6858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154680"/>
            <a:ext cx="393192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เชื่อมแอป (เลือกได้)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3538728"/>
            <a:ext cx="3977639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Marketplace ที่แถบซ้าย → Add → ยืนยันในเบราว์เซอร์ → ในแชตพิมพ์ @ เพื่อเรียก connector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526280"/>
            <a:ext cx="512064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6373368" y="4828032"/>
            <a:ext cx="685800" cy="6858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4617720"/>
            <a:ext cx="393192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ตั้ง Routine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5001768"/>
            <a:ext cx="3977639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บอก Bot: “ทุกวัน 7:00 น. ทำ…” → Bot สร้าง routine + แสดงรอบถัดไป → กด Test run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ชื่อปุ่มอ้างอิง docs.x.ai/grok-bot (ต.ค. 2026) · หน้าจอจริงอาจต่างเล็กน้อย · ตั้ง Timezone เป็นเวลาไทยใน Settings → Bot ก่อนตั้ง routine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2 · Template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Core Prompt → วางใน Description ของ Bot ใหม่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13:42 · 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6766560" cy="4663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9B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97280" y="1783080"/>
            <a:ext cx="6309360" cy="43891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บทบาท: 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คุณคือ </a:t>
            </a:r>
            <a:r>
              <a:rPr sz="1550" b="1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[บทบาท]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 ประจำตัวฉัน ดูแลเรื่อง </a:t>
            </a:r>
            <a:r>
              <a:rPr sz="1550" b="1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[หัวข้อ]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เป้าหมาย: 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ช่วยให้ฉัน </a:t>
            </a:r>
            <a:r>
              <a:rPr sz="1550" b="1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[เป้าหมาย]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 ภายใน </a:t>
            </a:r>
            <a:r>
              <a:rPr sz="1550" b="1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[ระยะเวลา/เงื่อนไข]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ข้อมูลเกี่ยวกับฉัน: </a:t>
            </a:r>
            <a:r>
              <a:rPr sz="1550" b="1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[ข้อมูลเกี่ยวกับฉัน]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 — จำไว้ และอัปเดตเมื่อฉันบอกความชอบใหม่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วิธีทำงาน: 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ข้อมูลไม่พอ ให้ถามก่อนไม่เกิน 3 ข้อ · ใช้แอปที่เชื่อมไว้เมื่อจำเป็น · บอกแหล่งที่มา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รูปแบบคำตอบ: </a:t>
            </a:r>
            <a:r>
              <a:rPr sz="1550" b="1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[รูปแบบคำตอบ]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 เช่น ภาษาไทย กระชับ ตาราง/bullet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ข้อห้าม: </a:t>
            </a:r>
            <a:r>
              <a:rPr sz="1550" b="1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[ข้อห้าม]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 · ต้องขออนุมัติก่อน ส่งข้อความ ซื้อ ลบ หรือนัดหมายแทนฉัน · ไม่แน่ใจให้บอกตรงๆ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1554480"/>
            <a:ext cx="347472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092440" y="1755648"/>
            <a:ext cx="457200" cy="64008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046719" y="1874519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วางตรงไหน?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9" y="2331720"/>
            <a:ext cx="3108960" cy="1463039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Grok Bot: Edit Profile → Description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งานเฉพาะครั้ง: พิมพ์ในแชต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ChatGPT: Project instructions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อื่นๆ: ข้อความแรกของแชต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4069080"/>
            <a:ext cx="347472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092440" y="4270248"/>
            <a:ext cx="457200" cy="64008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19" y="438912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เคล็ดลับ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4846320"/>
            <a:ext cx="3108960" cy="12801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Description = กฎที่ต้องจริงเสมอ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เฉพาะเจาะจง &gt; ยาว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Core Prompt ฉบับเต็ม → [ลิงก์/QR — เติม]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2 ·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ไอเดีย Agent ส่วนตัว — เลือก 1 อย่างที่ใช้จริง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13:46 · 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00200"/>
            <a:ext cx="25146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22960" y="1600200"/>
            <a:ext cx="2514600" cy="1143000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05840" y="1737360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6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402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โค้ชอาหารและสุขภาพ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834640"/>
            <a:ext cx="21945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Meal &amp; Health Planner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657600"/>
            <a:ext cx="2194560" cy="24688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ใส่: อาหารที่แพ้/ไม่กิน งบ เวลาทำอาหาร เป้าหมาย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ถาม: “จัดเมนูสัปดาห์นี้ + รายการของที่ต้องซื้อ”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1600200"/>
            <a:ext cx="25146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3520440" y="1600200"/>
            <a:ext cx="2514600" cy="1143000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703320" y="1737360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6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✈️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2402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ผู้วางแผนเที่ยว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2834640"/>
            <a:ext cx="21945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Travel Planner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3657600"/>
            <a:ext cx="2194560" cy="24688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ใส่: สไตล์เที่ยว งบ คนร่วมทริป ข้อจำกัดการเดิน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ถาม: “ทริปญี่ปุ่น 5 วัน เดือน ธ.ค. เน้นของกินและออนเซ็น”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600200"/>
            <a:ext cx="25146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217920" y="1600200"/>
            <a:ext cx="2514600" cy="1143000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0" y="1737360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6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2402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ผู้ช่วยวางแผนการเงิน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834640"/>
            <a:ext cx="21945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Personal Finance Tracker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657600"/>
            <a:ext cx="2194560" cy="24688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ใส่: รายรับ-รายจ่ายคร่าวๆ (ไม่ใส่เลขบัญชี) เป้าหมายออม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ถาม: “สรุปค่าใช้จ่ายเดือนนี้ และแนะนำจุดที่ลดได้”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400" y="1600200"/>
            <a:ext cx="25146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8915400" y="1600200"/>
            <a:ext cx="2514600" cy="1143000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098280" y="1737360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6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22402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โค้ชการเรียนรู้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280" y="2834640"/>
            <a:ext cx="21945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Learning Coach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3657600"/>
            <a:ext cx="2194560" cy="24688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ใส่: เรื่องที่อยากเรียน ระดับปัจจุบัน เวลาว่างต่อวัน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ถาม: “ฝึกภาษาญี่ปุ่นวันละ 15 นาที ทดสอบฉันด้วย”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2 ·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ตัวอย่างใน Grok Bot: “โค้ชอาหารของฉัน”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13:48 · 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6309360" cy="4663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9B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22960" y="1554480"/>
            <a:ext cx="6309360" cy="685800"/>
          </a:xfrm>
          <a:prstGeom prst="roundRect">
            <a:avLst>
              <a:gd name="adj" fmla="val 2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1005840" y="1664208"/>
            <a:ext cx="457200" cy="4572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645920"/>
            <a:ext cx="5394960" cy="50292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Name: </a:t>
            </a: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โค้ชอาหาร</a:t>
            </a:r>
            <a:r>
              <a:rPr sz="13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    Label: </a:t>
            </a:r>
            <a:r>
              <a:rPr sz="1400" b="0" i="0">
                <a:solidFill>
                  <a:srgbClr val="4B2A7B"/>
                </a:solidFill>
                <a:latin typeface="Sarabun"/>
                <a:ea typeface="Sarabun"/>
                <a:cs typeface="Sarabun"/>
              </a:rPr>
              <a:t>อาหาร &amp; สุขภาพ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331720"/>
            <a:ext cx="59436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Description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697480"/>
            <a:ext cx="5943600" cy="34747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บทบาท: 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นักโภชนาการและเชฟประจำบ้าน วางแผนอาหารประจำสัปดาห์ให้ฉัน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เป้าหมาย: 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ลดของทอด ทำอาหารเอง 4 วัน/สัปดาห์ งบไม่เกิน 1,500 บาท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ข้อมูลเกี่ยวกับฉัน: 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อยู่ 2 คน ไม่กินเนื้อวัว แพ้กุ้ง มีเวลาทำอาหาร 30 นาที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รูปแบบคำตอบ: 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ภาษาไทย ตารางเมนู + รายการซื้อของ + ราคาโดยประมาณ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ข้อห้าม: 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ห้ามเมนูกุ้ง · ห้ามสั่งซื้อของเอง ต้องถามก่อน · ไม่ให้คำแนะนำทางการแพทย์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1554480"/>
            <a:ext cx="3931920" cy="4663440"/>
          </a:xfrm>
          <a:prstGeom prst="roundRect">
            <a:avLst>
              <a:gd name="adj" fmla="val 6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635240" y="1755648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⏰ ตัวอย่าง Routine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2240280"/>
            <a:ext cx="3520440" cy="21031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C9B6EE"/>
                </a:solidFill>
                <a:latin typeface="Prompt"/>
                <a:ea typeface="Prompt"/>
                <a:cs typeface="Prompt"/>
              </a:rPr>
              <a:t>พิมพ์บอก Bot: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“ทุกวันเวลา 7:00 น. (เวลาไทย) ส่งเมนูวันนี้ 3 มื้อ + ของที่ต้องเตรียม ในแชตนี้ ถ้าไม่รู้ว่าในตู้เย็นมีอะไร ให้ถามฉันแทนการเดา ห้ามสั่งซื้อของเอง”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4160520"/>
            <a:ext cx="3520440" cy="17373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1" i="0">
                <a:solidFill>
                  <a:srgbClr val="C9B6EE"/>
                </a:solidFill>
                <a:latin typeface="Prompt"/>
                <a:ea typeface="Prompt"/>
                <a:cs typeface="Prompt"/>
              </a:rPr>
              <a:t>แล้ว: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✔ Bot สร้าง routine + บอกรอบถัดไป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✔ กด Test run ลองหนึ่งรอบ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✔ งานยังทำต่อแม้ปิดโน้ตบุ๊ก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2 · ลงมือทำ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Hands-on: สร้าง Agent ของคุณบน Grok 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13:50 · 25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00200"/>
            <a:ext cx="3657600" cy="4526280"/>
          </a:xfrm>
          <a:prstGeom prst="roundRect">
            <a:avLst>
              <a:gd name="adj" fmla="val 8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C9B6EE"/>
                </a:solidFill>
                <a:latin typeface="Prompt"/>
                <a:ea typeface="Prompt"/>
                <a:cs typeface="Prompt"/>
              </a:rPr>
              <a:t>เวลาที่มี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3657600" cy="14630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80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25:00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8620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000" b="0" i="0">
                <a:solidFill>
                  <a:srgbClr val="E7DEF8"/>
                </a:solidFill>
                <a:latin typeface="Prompt"/>
                <a:ea typeface="Prompt"/>
                <a:cs typeface="Prompt"/>
              </a:rPr>
              <a:t>13:50 – 14:15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52628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ติดตรงไหน ยกมือได้เลย 🙋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ไม่มีแพ็กเกจ Grok Bot → ทำขั้นเดียวกันบน ChatGPT Projects (สไลด์ถัดไป)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1600200"/>
            <a:ext cx="66294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892040" y="173736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5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0–5 นาที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69164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เติม Core 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2148840"/>
            <a:ext cx="635508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เลือก use case 1 อย่าง → เติมช่องว่างทั้ง 5 ช่องใน Core Prompt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60" y="2761488"/>
            <a:ext cx="66294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4892040" y="28986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5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5–12 นาที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852928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สร้าง Bot &amp; วาง Description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3310128"/>
            <a:ext cx="635508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New → Create new Bot → Edit Profile → ตั้ง Name → วาง Core Prompt ใน Description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09160" y="3922776"/>
            <a:ext cx="66294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892040" y="4059936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5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12–20 นาที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014215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เชื่อม 1 แอป หรือ ตั้ง 1 Routine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4471416"/>
            <a:ext cx="635508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Marketplace → Add (แล้วใช้ @ ในแชต) หรือบอก Bot “ทุกวัน 7:00 น. …”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09160" y="5084064"/>
            <a:ext cx="66294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4892040" y="5221224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5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20–25 นาที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175504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ทดสอบ 3 คำถาม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5632704"/>
            <a:ext cx="635508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ปกติ · กำกวม · นอกขอบเขต → ถ้าตั้ง routine ให้กด Test run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2 · แผนสำรอง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แผนสำรอง: ไม่มีแพ็กเกจ Grok Bot ทำแบบนี้แทน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ใช้ตอน Hands-on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00200"/>
            <a:ext cx="3749039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51560" y="1801368"/>
            <a:ext cx="457200" cy="64008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05840" y="1920240"/>
            <a:ext cx="3383279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1 · ChatGPT Projects (ฟรี)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77440"/>
            <a:ext cx="3383279" cy="3657599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1. chatgpt.com หรือแอป ChatGPT · ล็อกอิน (Free ได้)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2. Sidebar → New project → ตั้งชื่อ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3. ••• มุมขวาบน → Project settings → วาง Core Prompt ใน Instructions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4. (เลือกได้) Add files — Free ได้ 5 ไฟล์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5. เริ่มแชต “ในโปรเจกต์” แล้วทดสอบ 3 คำถาม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9A5600"/>
                </a:solidFill>
                <a:latin typeface="Sarabun"/>
                <a:ea typeface="Sarabun"/>
                <a:cs typeface="Sarabun"/>
              </a:rPr>
              <a:t>ไม่มี routine/การลงมือทำงานแบบ Grok Bot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1600200"/>
            <a:ext cx="32004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983480" y="1801368"/>
            <a:ext cx="457200" cy="64008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937760" y="1920240"/>
            <a:ext cx="283464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2 · Gemini / Claude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377440"/>
            <a:ext cx="2834640" cy="3657599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 i="0">
                <a:solidFill>
                  <a:srgbClr val="4B2A7B"/>
                </a:solidFill>
                <a:latin typeface="Sarabun"/>
                <a:ea typeface="Sarabun"/>
                <a:cs typeface="Sarabun"/>
              </a:rPr>
              <a:t>Gemini Skills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Settings → Skills → Create manually → วาง Core Prompt ใน Instructions → Create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9A5600"/>
                </a:solidFill>
                <a:latin typeface="Sarabun"/>
                <a:ea typeface="Sarabun"/>
                <a:cs typeface="Sarabun"/>
              </a:rPr>
              <a:t>อายุ 18+ · ต้องเปิด Keep Activity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 i="0">
                <a:solidFill>
                  <a:srgbClr val="4B2A7B"/>
                </a:solidFill>
                <a:latin typeface="Sarabun"/>
                <a:ea typeface="Sarabun"/>
                <a:cs typeface="Sarabun"/>
              </a:rPr>
              <a:t>Claude Projects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Projects → New project → ใส่ instructions → แชตในโปรเจกต์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9A5600"/>
                </a:solidFill>
                <a:latin typeface="Sarabun"/>
                <a:ea typeface="Sarabun"/>
                <a:cs typeface="Sarabun"/>
              </a:rPr>
              <a:t>ฟรีสูงสุด 5 Projects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600200"/>
            <a:ext cx="32004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366760" y="1801368"/>
            <a:ext cx="457200" cy="64008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21040" y="1920240"/>
            <a:ext cx="283464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3 · แชตไหนก็ได้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377440"/>
            <a:ext cx="2834640" cy="3657599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1. เปิดแชตใหม่ใน AI ที่มี (รวม Grok / Copilot)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2. วาง Core Prompt เป็นข้อความแรก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3. ต่อท้าย “รับทราบแล้วให้ตอบว่า พร้อม”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4. คุยต่อในแชตเดิมเสมอ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9A5600"/>
                </a:solidFill>
                <a:latin typeface="Sarabun"/>
                <a:ea typeface="Sarabun"/>
                <a:cs typeface="Sarabun"/>
              </a:rPr>
              <a:t>ต้องวางใหม่ทุกแชต · Copilot บริษัท ห้ามใส่ข้อมูลส่วนตัว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2 · Test &amp; improve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ทดสอบ &amp; ปรับปรุง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14:15 ·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ทดสอบ 3 แบบ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65960"/>
            <a:ext cx="512064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1005840" y="2258568"/>
            <a:ext cx="1234440" cy="411480"/>
          </a:xfrm>
          <a:prstGeom prst="roundRect">
            <a:avLst>
              <a:gd name="adj" fmla="val 50000"/>
            </a:avLst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ปกติ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057400"/>
            <a:ext cx="347472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คำถามที่จะใช้จริงทุกวัน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“จัดเมนูสัปดาห์นี้”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081528"/>
            <a:ext cx="512064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005840" y="3374136"/>
            <a:ext cx="1234440" cy="411480"/>
          </a:xfrm>
          <a:prstGeom prst="roundRect">
            <a:avLst>
              <a:gd name="adj" fmla="val 50000"/>
            </a:avLst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กำกวม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172968"/>
            <a:ext cx="347472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ข้อมูลไม่ครบ — ผู้ช่วยถามกลับไหม?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“ช่วยวางแผนเที่ยวหน่อย”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97096"/>
            <a:ext cx="512064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1005840" y="4489704"/>
            <a:ext cx="1234440" cy="411480"/>
          </a:xfrm>
          <a:prstGeom prst="roundRect">
            <a:avLst>
              <a:gd name="adj" fmla="val 50000"/>
            </a:avLst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นอกขอบเขต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288536"/>
            <a:ext cx="347472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ทดสอบข้อห้าม — ผู้ช่วยปฏิเสธ/เตือนไหม?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“ขอเมนูกุ้งเผา” (ทั้งที่แพ้กุ้ง)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อาการ → วิธีแก้ใน Instructions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965960"/>
            <a:ext cx="5120640" cy="60350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0" y="2039112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ตอบยาวเกินไป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2039112"/>
            <a:ext cx="30175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“ตอบไม่เกิน 150 คำ / 5 bullet”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2633472"/>
            <a:ext cx="5120640" cy="60350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00800" y="2706624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ไม่ถามกลับ เดาเอง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706624"/>
            <a:ext cx="30175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“ถ้าข้อมูลไม่พอ ให้ถามก่อนเสมอ”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3300984"/>
            <a:ext cx="5120640" cy="60350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00800" y="3374136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โทนไม่ใช่ตัวเรา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3374136"/>
            <a:ext cx="30175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ใส่ตัวอย่างคำตอบที่ชอบ 1 ตัวอย่าง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968496"/>
            <a:ext cx="5120640" cy="60350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00800" y="4041648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มั่วตัวเลข/ข้อมูล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041648"/>
            <a:ext cx="30175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“ถ้าไม่แน่ใจ ให้บอกว่าไม่แน่ใจ / ค้นเว็บก่อน”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636008"/>
            <a:ext cx="5120640" cy="60350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00800" y="4709160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ลืมข้อจำกัดสำคัญ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4709160"/>
            <a:ext cx="30175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ใส่ใน Description ของ Bot + ย้ำในข้อห้าม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440680"/>
            <a:ext cx="10515600" cy="731520"/>
          </a:xfrm>
          <a:prstGeom prst="roundRect">
            <a:avLst>
              <a:gd name="adj" fmla="val 25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l"/>
            <a:r>
              <a:rPr sz="15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Peer test (4 นาที): </a:t>
            </a:r>
            <a:r>
              <a:rPr sz="15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สลับให้เพื่อนข้างๆ ลองถาม Agent ของเรา 2 คำถาม → แก้ 1 จุด → อาสาสมัคร 1–2 คนแชร์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1097280" y="1463040"/>
            <a:ext cx="3291840" cy="3291840"/>
          </a:xfrm>
          <a:prstGeom prst="ellipse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60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1554480"/>
            <a:ext cx="6583680" cy="9144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6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ถาม-ตอบ สั้นๆ ก่อนปิด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514600"/>
            <a:ext cx="6400800" cy="22860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สงสัยเรื่องเลือกแพ็กเกจ ฟรี vs จ่ายเงิน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Agent ยังไม่ตรงใจ — แก้จุดไหนก่อนดี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อยากต่อยอดไปใช้ที่ทำงาน (คุยเรื่อง Copilot / นโยบายบริษัท)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อยากต่อยอด Bot: เพิ่ม skill / routine / Bot ตัวที่สอง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493776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4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14:25 – 14:30 · จบตรงเวลา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A7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412480" y="-1371600"/>
            <a:ext cx="5486400" cy="54864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10241280" y="4206240"/>
            <a:ext cx="2926080" cy="2926080"/>
          </a:xfrm>
          <a:prstGeom prst="ellipse">
            <a:avLst/>
          </a:prstGeom>
          <a:solidFill>
            <a:srgbClr val="633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8229600" cy="10972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54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ขอบคุณค่ะ 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7863840" cy="7315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10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เริ่มใช้ผู้ช่วยของคุณพรุ่งนี้ — ปรับนิดเดียวทุกครั้งที่ไม่ตรงใจ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91840"/>
            <a:ext cx="5669280" cy="2651760"/>
          </a:xfrm>
          <a:prstGeom prst="roundRect">
            <a:avLst>
              <a:gd name="adj" fmla="val 6000"/>
            </a:avLst>
          </a:prstGeom>
          <a:solidFill>
            <a:srgbClr val="5A3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3474720"/>
            <a:ext cx="5303520" cy="23774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Pawinee Amonnuntarat (นุ้ย)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60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LINE / IG: [เติม]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60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Email: [เติม]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60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LinkedIn: [เติม]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3291840"/>
            <a:ext cx="265176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7B4FC9"/>
                </a:solidFill>
                <a:latin typeface="Prompt"/>
                <a:ea typeface="Prompt"/>
                <a:cs typeface="Prompt"/>
              </a:rPr>
              <a:t>[QR]</a:t>
            </a:r>
          </a:p>
          <a:p>
            <a:pPr algn="ctr"/>
            <a:r>
              <a:rPr sz="1200" b="1">
                <a:solidFill>
                  <a:srgbClr val="5F596B"/>
                </a:solidFill>
                <a:latin typeface="Prompt"/>
                <a:ea typeface="Prompt"/>
                <a:cs typeface="Prompt"/>
              </a:rPr>
              <a:t>Core Prompt + สไลด์ / แบบประเมิน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7220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 i="0">
                <a:solidFill>
                  <a:srgbClr val="C9B6EE"/>
                </a:solidFill>
                <a:latin typeface="Sarabun"/>
                <a:ea typeface="Sarabun"/>
                <a:cs typeface="Sarabun"/>
              </a:rPr>
              <a:t>ข้อมูลฟีเจอร์/ราคา ณ ต.ค. 2026 อาจเปลี่ยนแปลง โปรดตรวจสอบหน้าเว็บทางการก่อนสมัคร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7B4FC9"/>
      </a:hlink>
      <a:folHlink>
        <a:srgbClr val="7B4FC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